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notesSlide+xml" PartName="/ppt/notesSlides/notesSlide6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6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x="18288000" cy="10287000"/>
  <p:notesSz cx="6858000" cy="9144000"/>
  <p:embeddedFontLst>
    <p:embeddedFont>
      <p:font typeface="Noto Sans" charset="1" panose="020B0502040504020204"/>
      <p:regular r:id="rId69"/>
    </p:embeddedFont>
    <p:embeddedFont>
      <p:font typeface="Noto Sans Bold" charset="1" panose="020B0802040504020204"/>
      <p:regular r:id="rId70"/>
    </p:embeddedFont>
    <p:embeddedFont>
      <p:font typeface="Noto Sans Italics" charset="1" panose="020B0502040504090204"/>
      <p:regular r:id="rId79"/>
    </p:embeddedFont>
    <p:embeddedFont>
      <p:font typeface="Calibri (MS)" charset="1" panose="020F0502020204030204"/>
      <p:regular r:id="rId9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29.xml" Type="http://schemas.openxmlformats.org/officeDocument/2006/relationships/notesSlide"/><Relationship Id="rId101" Target="notesSlides/notesSlide30.xml" Type="http://schemas.openxmlformats.org/officeDocument/2006/relationships/notesSlide"/><Relationship Id="rId102" Target="notesSlides/notesSlide31.xml" Type="http://schemas.openxmlformats.org/officeDocument/2006/relationships/notesSlide"/><Relationship Id="rId103" Target="notesSlides/notesSlide32.xml" Type="http://schemas.openxmlformats.org/officeDocument/2006/relationships/notesSlide"/><Relationship Id="rId104" Target="notesSlides/notesSlide33.xml" Type="http://schemas.openxmlformats.org/officeDocument/2006/relationships/notesSlide"/><Relationship Id="rId105" Target="notesSlides/notesSlide34.xml" Type="http://schemas.openxmlformats.org/officeDocument/2006/relationships/notesSlide"/><Relationship Id="rId106" Target="notesSlides/notesSlide35.xml" Type="http://schemas.openxmlformats.org/officeDocument/2006/relationships/notesSlide"/><Relationship Id="rId107" Target="notesSlides/notesSlide36.xml" Type="http://schemas.openxmlformats.org/officeDocument/2006/relationships/notesSlide"/><Relationship Id="rId108" Target="notesSlides/notesSlide37.xml" Type="http://schemas.openxmlformats.org/officeDocument/2006/relationships/notesSlide"/><Relationship Id="rId109" Target="notesSlides/notesSlide38.xml" Type="http://schemas.openxmlformats.org/officeDocument/2006/relationships/notesSlide"/><Relationship Id="rId11" Target="slides/slide6.xml" Type="http://schemas.openxmlformats.org/officeDocument/2006/relationships/slide"/><Relationship Id="rId110" Target="notesSlides/notesSlide39.xml" Type="http://schemas.openxmlformats.org/officeDocument/2006/relationships/notesSlide"/><Relationship Id="rId111" Target="notesSlides/notesSlide40.xml" Type="http://schemas.openxmlformats.org/officeDocument/2006/relationships/notesSlide"/><Relationship Id="rId112" Target="notesSlides/notesSlide41.xml" Type="http://schemas.openxmlformats.org/officeDocument/2006/relationships/notesSlide"/><Relationship Id="rId113" Target="notesSlides/notesSlide42.xml" Type="http://schemas.openxmlformats.org/officeDocument/2006/relationships/notesSlide"/><Relationship Id="rId114" Target="notesSlides/notesSlide43.xml" Type="http://schemas.openxmlformats.org/officeDocument/2006/relationships/notesSlide"/><Relationship Id="rId115" Target="notesSlides/notesSlide44.xml" Type="http://schemas.openxmlformats.org/officeDocument/2006/relationships/notesSlide"/><Relationship Id="rId116" Target="notesSlides/notesSlide45.xml" Type="http://schemas.openxmlformats.org/officeDocument/2006/relationships/notesSlide"/><Relationship Id="rId117" Target="notesSlides/notesSlide46.xml" Type="http://schemas.openxmlformats.org/officeDocument/2006/relationships/notesSlide"/><Relationship Id="rId118" Target="notesSlides/notesSlide47.xml" Type="http://schemas.openxmlformats.org/officeDocument/2006/relationships/notesSlide"/><Relationship Id="rId119" Target="notesSlides/notesSlide48.xml" Type="http://schemas.openxmlformats.org/officeDocument/2006/relationships/notesSlide"/><Relationship Id="rId12" Target="slides/slide7.xml" Type="http://schemas.openxmlformats.org/officeDocument/2006/relationships/slide"/><Relationship Id="rId120" Target="notesSlides/notesSlide49.xml" Type="http://schemas.openxmlformats.org/officeDocument/2006/relationships/notesSlide"/><Relationship Id="rId121" Target="notesSlides/notesSlide50.xml" Type="http://schemas.openxmlformats.org/officeDocument/2006/relationships/notesSlide"/><Relationship Id="rId122" Target="notesSlides/notesSlide51.xml" Type="http://schemas.openxmlformats.org/officeDocument/2006/relationships/notesSlide"/><Relationship Id="rId123" Target="notesSlides/notesSlide52.xml" Type="http://schemas.openxmlformats.org/officeDocument/2006/relationships/notesSlide"/><Relationship Id="rId124" Target="notesSlides/notesSlide53.xml" Type="http://schemas.openxmlformats.org/officeDocument/2006/relationships/notesSlide"/><Relationship Id="rId125" Target="notesSlides/notesSlide54.xml" Type="http://schemas.openxmlformats.org/officeDocument/2006/relationships/notesSlide"/><Relationship Id="rId126" Target="notesSlides/notesSlide55.xml" Type="http://schemas.openxmlformats.org/officeDocument/2006/relationships/notesSlide"/><Relationship Id="rId127" Target="notesSlides/notesSlide56.xml" Type="http://schemas.openxmlformats.org/officeDocument/2006/relationships/notesSlide"/><Relationship Id="rId128" Target="notesSlides/notesSlide57.xml" Type="http://schemas.openxmlformats.org/officeDocument/2006/relationships/notesSlide"/><Relationship Id="rId129" Target="notesSlides/notesSlide58.xml" Type="http://schemas.openxmlformats.org/officeDocument/2006/relationships/notesSlide"/><Relationship Id="rId13" Target="slides/slide8.xml" Type="http://schemas.openxmlformats.org/officeDocument/2006/relationships/slide"/><Relationship Id="rId130" Target="notesSlides/notesSlide59.xml" Type="http://schemas.openxmlformats.org/officeDocument/2006/relationships/notesSlide"/><Relationship Id="rId131" Target="notesSlides/notesSlide60.xml" Type="http://schemas.openxmlformats.org/officeDocument/2006/relationships/note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notesMasters/notesMaster1.xml" Type="http://schemas.openxmlformats.org/officeDocument/2006/relationships/notesMaster"/><Relationship Id="rId67" Target="theme/theme2.xml" Type="http://schemas.openxmlformats.org/officeDocument/2006/relationships/theme"/><Relationship Id="rId68" Target="notesSlides/notesSlide1.xml" Type="http://schemas.openxmlformats.org/officeDocument/2006/relationships/notesSlide"/><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notesSlides/notesSlide2.xml" Type="http://schemas.openxmlformats.org/officeDocument/2006/relationships/notesSlide"/><Relationship Id="rId72" Target="notesSlides/notesSlide3.xml" Type="http://schemas.openxmlformats.org/officeDocument/2006/relationships/notesSlide"/><Relationship Id="rId73" Target="notesSlides/notesSlide4.xml" Type="http://schemas.openxmlformats.org/officeDocument/2006/relationships/notesSlide"/><Relationship Id="rId74" Target="notesSlides/notesSlide5.xml" Type="http://schemas.openxmlformats.org/officeDocument/2006/relationships/notesSlide"/><Relationship Id="rId75" Target="notesSlides/notesSlide6.xml" Type="http://schemas.openxmlformats.org/officeDocument/2006/relationships/notesSlide"/><Relationship Id="rId76" Target="notesSlides/notesSlide7.xml" Type="http://schemas.openxmlformats.org/officeDocument/2006/relationships/notesSlide"/><Relationship Id="rId77" Target="notesSlides/notesSlide8.xml" Type="http://schemas.openxmlformats.org/officeDocument/2006/relationships/notesSlide"/><Relationship Id="rId78" Target="notesSlides/notesSlide9.xml" Type="http://schemas.openxmlformats.org/officeDocument/2006/relationships/notesSlide"/><Relationship Id="rId79" Target="fonts/font79.fntdata" Type="http://schemas.openxmlformats.org/officeDocument/2006/relationships/font"/><Relationship Id="rId8" Target="slides/slide3.xml" Type="http://schemas.openxmlformats.org/officeDocument/2006/relationships/slide"/><Relationship Id="rId80" Target="notesSlides/notesSlide10.xml" Type="http://schemas.openxmlformats.org/officeDocument/2006/relationships/notesSlide"/><Relationship Id="rId81" Target="notesSlides/notesSlide11.xml" Type="http://schemas.openxmlformats.org/officeDocument/2006/relationships/notesSlide"/><Relationship Id="rId82" Target="notesSlides/notesSlide12.xml" Type="http://schemas.openxmlformats.org/officeDocument/2006/relationships/notesSlide"/><Relationship Id="rId83" Target="notesSlides/notesSlide13.xml" Type="http://schemas.openxmlformats.org/officeDocument/2006/relationships/notesSlide"/><Relationship Id="rId84" Target="notesSlides/notesSlide14.xml" Type="http://schemas.openxmlformats.org/officeDocument/2006/relationships/notesSlide"/><Relationship Id="rId85" Target="notesSlides/notesSlide15.xml" Type="http://schemas.openxmlformats.org/officeDocument/2006/relationships/notesSlide"/><Relationship Id="rId86" Target="notesSlides/notesSlide16.xml" Type="http://schemas.openxmlformats.org/officeDocument/2006/relationships/notesSlide"/><Relationship Id="rId87" Target="notesSlides/notesSlide17.xml" Type="http://schemas.openxmlformats.org/officeDocument/2006/relationships/notesSlide"/><Relationship Id="rId88" Target="notesSlides/notesSlide18.xml" Type="http://schemas.openxmlformats.org/officeDocument/2006/relationships/notesSlide"/><Relationship Id="rId89" Target="notesSlides/notesSlide19.xml" Type="http://schemas.openxmlformats.org/officeDocument/2006/relationships/notesSlide"/><Relationship Id="rId9" Target="slides/slide4.xml" Type="http://schemas.openxmlformats.org/officeDocument/2006/relationships/slide"/><Relationship Id="rId90" Target="notesSlides/notesSlide20.xml" Type="http://schemas.openxmlformats.org/officeDocument/2006/relationships/notesSlide"/><Relationship Id="rId91" Target="notesSlides/notesSlide21.xml" Type="http://schemas.openxmlformats.org/officeDocument/2006/relationships/notesSlide"/><Relationship Id="rId92" Target="notesSlides/notesSlide22.xml" Type="http://schemas.openxmlformats.org/officeDocument/2006/relationships/notesSlide"/><Relationship Id="rId93" Target="notesSlides/notesSlide23.xml" Type="http://schemas.openxmlformats.org/officeDocument/2006/relationships/notesSlide"/><Relationship Id="rId94" Target="notesSlides/notesSlide24.xml" Type="http://schemas.openxmlformats.org/officeDocument/2006/relationships/notesSlide"/><Relationship Id="rId95" Target="notesSlides/notesSlide25.xml" Type="http://schemas.openxmlformats.org/officeDocument/2006/relationships/notesSlide"/><Relationship Id="rId96" Target="notesSlides/notesSlide26.xml" Type="http://schemas.openxmlformats.org/officeDocument/2006/relationships/notesSlide"/><Relationship Id="rId97" Target="notesSlides/notesSlide27.xml" Type="http://schemas.openxmlformats.org/officeDocument/2006/relationships/notesSlide"/><Relationship Id="rId98" Target="fonts/font98.fntdata" Type="http://schemas.openxmlformats.org/officeDocument/2006/relationships/font"/><Relationship Id="rId99" Target="notesSlides/notesSlide28.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6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[빌드업 쇼 · 1분]</a:t>
            </a:r>
          </a:p>
          <a:p>
            <a:r>
              <a:rPr lang="en-US"/>
              <a:t>가짜 발표자가 인사. 필러(어…, 음…, 그…)를 남발하고 말속도를 빠르게, 공백을 길게.</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[빌드업 쇼 클라이맥스]</a:t>
            </a:r>
          </a:p>
          <a:p>
            <a:r>
              <a:rPr lang="en-US"/>
              <a:t>목차를 읽다 무너진다. "어… 음…" → 진짜 발표자가 마이크를 뺏는다. "잠시만요."</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연기를 끊고 정적 2초.</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1초 정도 관객을 바라본다.</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[시연 · 발표] 약 3분</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[시연 · 면접] 약 3분</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실제 서비스의 '내 성장 추이' 화면 캡처입니다 (aivotest1 계정, AIVO 최종 발표 준비 폴더 3회: 44 → 54 → 51점).</a:t>
            </a:r>
          </a:p>
          <a:p>
            <a:r>
              <a:rPr lang="en-US"/>
              <a:t>35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실측값이 없어 비워 두었습니다. 시도별 정확도를 측정해 채워 주세요.</a:t>
            </a:r>
          </a:p>
          <a:p>
            <a:r>
              <a:rPr lang="en-US"/>
              <a:t>41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실측값이 없어 비워 두었습니다. 시도별 정확도를 측정해 채워 주세요.</a:t>
            </a:r>
          </a:p>
          <a:p>
            <a:r>
              <a:rPr lang="en-US"/>
              <a:t>41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역할 표기가 필요하면 각 이름 아래에 한 줄씩 추가하세요.</a:t>
            </a:r>
          </a:p>
          <a:p>
            <a:r>
              <a:rPr lang="en-US"/>
              <a:t>43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"AIVO의 목적은 발표를 점수화하는 것이 아닙니다. 놓친 문제를 근거와 함께 보여주고, 다음 연습에서 실제로 개선하도록 돕는 것이 핵심입니다."</a:t>
            </a:r>
          </a:p>
          <a:p>
            <a:r>
              <a:rPr lang="en-US"/>
              <a:t>44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1.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1.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1.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1.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1.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 Id="rId3" Target="../media/image1.jpe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1.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 Id="rId3" Target="../media/image1.jpe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embeddings/oleObject1.bin" Type="http://schemas.openxmlformats.org/officeDocument/2006/relationships/oleObjec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embeddings/oleObject2.bin" Type="http://schemas.openxmlformats.org/officeDocument/2006/relationships/oleObjec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 Id="rId3" Target="../media/image1.jpe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 Id="rId8" Target="../media/image13.jpeg" Type="http://schemas.openxmlformats.org/officeDocument/2006/relationships/image"/><Relationship Id="rId9" Target="../media/image14.jpe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9.xml" Type="http://schemas.openxmlformats.org/officeDocument/2006/relationships/notesSlide"/><Relationship Id="rId3" Target="../media/image1.jpe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0.xml" Type="http://schemas.openxmlformats.org/officeDocument/2006/relationships/notesSlide"/><Relationship Id="rId3" Target="../media/image1.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1.xml" Type="http://schemas.openxmlformats.org/officeDocument/2006/relationships/notesSlide"/><Relationship Id="rId3" Target="../media/image1.jpe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2.xml" Type="http://schemas.openxmlformats.org/officeDocument/2006/relationships/notesSlide"/><Relationship Id="rId3" Target="../media/image1.jpe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3.xml" Type="http://schemas.openxmlformats.org/officeDocument/2006/relationships/notesSlide"/><Relationship Id="rId3" Target="../media/image1.jpe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5.xml" Type="http://schemas.openxmlformats.org/officeDocument/2006/relationships/notesSlide"/><Relationship Id="rId3" Target="../media/image1.jpe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6.xml" Type="http://schemas.openxmlformats.org/officeDocument/2006/relationships/notesSlide"/><Relationship Id="rId3" Target="../media/image1.jpe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7.xml" Type="http://schemas.openxmlformats.org/officeDocument/2006/relationships/notesSlide"/><Relationship Id="rId3" Target="../media/image1.jpe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8.xml" Type="http://schemas.openxmlformats.org/officeDocument/2006/relationships/notesSlide"/><Relationship Id="rId3" Target="../media/image1.jpe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9.xml" Type="http://schemas.openxmlformats.org/officeDocument/2006/relationships/notesSlide"/><Relationship Id="rId3" Target="../media/image1.jpe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0.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78783" y="9491472"/>
            <a:ext cx="685800" cy="301752"/>
            <a:chOff x="0" y="0"/>
            <a:chExt cx="914400" cy="402336"/>
          </a:xfrm>
        </p:grpSpPr>
        <p:sp>
          <p:nvSpPr>
            <p:cNvPr name="Freeform 3" id="3"/>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4" id="4"/>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01</a:t>
              </a:r>
            </a:p>
          </p:txBody>
        </p:sp>
      </p:grpSp>
      <p:grpSp>
        <p:nvGrpSpPr>
          <p:cNvPr name="Group 5" id="5"/>
          <p:cNvGrpSpPr/>
          <p:nvPr/>
        </p:nvGrpSpPr>
        <p:grpSpPr>
          <a:xfrm rot="0">
            <a:off x="1362075" y="2469400"/>
            <a:ext cx="5143500" cy="2548370"/>
            <a:chOff x="0" y="0"/>
            <a:chExt cx="6035040" cy="2990088"/>
          </a:xfrm>
        </p:grpSpPr>
        <p:sp>
          <p:nvSpPr>
            <p:cNvPr name="Freeform 6" id="6" descr="C:\Users\SSAFY\Desktop\aivo\outputs\v2pitch\assets\logo_light.png"/>
            <p:cNvSpPr/>
            <p:nvPr/>
          </p:nvSpPr>
          <p:spPr>
            <a:xfrm flipH="false" flipV="false" rot="0">
              <a:off x="0" y="0"/>
              <a:ext cx="6035040" cy="2990088"/>
            </a:xfrm>
            <a:custGeom>
              <a:avLst/>
              <a:gdLst/>
              <a:ahLst/>
              <a:cxnLst/>
              <a:rect r="r" b="b" t="t" l="l"/>
              <a:pathLst>
                <a:path h="2990088" w="6035040">
                  <a:moveTo>
                    <a:pt x="0" y="0"/>
                  </a:moveTo>
                  <a:lnTo>
                    <a:pt x="6035040" y="0"/>
                  </a:lnTo>
                  <a:lnTo>
                    <a:pt x="6035040" y="2990088"/>
                  </a:lnTo>
                  <a:lnTo>
                    <a:pt x="0" y="2990088"/>
                  </a:lnTo>
                  <a:lnTo>
                    <a:pt x="0" y="0"/>
                  </a:lnTo>
                  <a:close/>
                </a:path>
              </a:pathLst>
            </a:custGeom>
            <a:blipFill>
              <a:blip r:embed="rId4"/>
              <a:stretch>
                <a:fillRect l="-2" t="0" r="-2" b="0"/>
              </a:stretch>
            </a:blipFill>
          </p:spPr>
        </p:sp>
      </p:grpSp>
      <p:sp>
        <p:nvSpPr>
          <p:cNvPr name="TextBox 7" id="7"/>
          <p:cNvSpPr txBox="true"/>
          <p:nvPr/>
        </p:nvSpPr>
        <p:spPr>
          <a:xfrm rot="0">
            <a:off x="1371600" y="5274945"/>
            <a:ext cx="12618720" cy="1557909"/>
          </a:xfrm>
          <a:prstGeom prst="rect">
            <a:avLst/>
          </a:prstGeom>
        </p:spPr>
        <p:txBody>
          <a:bodyPr anchor="t" rtlCol="false" tIns="0" lIns="0" bIns="0" rIns="0">
            <a:spAutoFit/>
          </a:bodyPr>
          <a:lstStyle/>
          <a:p>
            <a:pPr algn="l">
              <a:lnSpc>
                <a:spcPts val="6318"/>
              </a:lnSpc>
            </a:pPr>
            <a:r>
              <a:rPr lang="en-US" sz="4050" b="true">
                <a:solidFill>
                  <a:srgbClr val="11131B"/>
                </a:solidFill>
                <a:latin typeface="Noto Sans Bold"/>
                <a:ea typeface="Noto Sans Bold"/>
                <a:cs typeface="Noto Sans Bold"/>
                <a:sym typeface="Noto Sans Bold"/>
              </a:rPr>
              <a:t>발표와 면접 연습 영상을 분석해</a:t>
            </a:r>
          </a:p>
          <a:p>
            <a:pPr algn="l">
              <a:lnSpc>
                <a:spcPts val="6318"/>
              </a:lnSpc>
            </a:pPr>
            <a:r>
              <a:rPr lang="en-US" sz="4050" b="true">
                <a:solidFill>
                  <a:srgbClr val="11131B"/>
                </a:solidFill>
                <a:latin typeface="Noto Sans Bold"/>
                <a:ea typeface="Noto Sans Bold"/>
                <a:cs typeface="Noto Sans Bold"/>
                <a:sym typeface="Noto Sans Bold"/>
              </a:rPr>
              <a:t>맞춤형 피드백을 제공하는 AI 코칭 서비스</a:t>
            </a:r>
          </a:p>
        </p:txBody>
      </p:sp>
      <p:sp>
        <p:nvSpPr>
          <p:cNvPr name="TextBox 8" id="8"/>
          <p:cNvSpPr txBox="true"/>
          <p:nvPr/>
        </p:nvSpPr>
        <p:spPr>
          <a:xfrm rot="0">
            <a:off x="1371600" y="7347585"/>
            <a:ext cx="15544343" cy="607695"/>
          </a:xfrm>
          <a:prstGeom prst="rect">
            <a:avLst/>
          </a:prstGeom>
        </p:spPr>
        <p:txBody>
          <a:bodyPr anchor="t" rtlCol="false" tIns="0" lIns="0" bIns="0" rIns="0">
            <a:spAutoFit/>
          </a:bodyPr>
          <a:lstStyle/>
          <a:p>
            <a:pPr algn="l">
              <a:lnSpc>
                <a:spcPts val="2879"/>
              </a:lnSpc>
            </a:pPr>
            <a:r>
              <a:rPr lang="en-US" sz="2400" b="true">
                <a:solidFill>
                  <a:srgbClr val="3B73EE"/>
                </a:solidFill>
                <a:latin typeface="Noto Sans Bold"/>
                <a:ea typeface="Noto Sans Bold"/>
                <a:cs typeface="Noto Sans Bold"/>
                <a:sym typeface="Noto Sans Bold"/>
              </a:rPr>
              <a:t>혼자 하는 연습에, 확신을 더하다.</a:t>
            </a:r>
          </a:p>
        </p:txBody>
      </p:sp>
      <p:grpSp>
        <p:nvGrpSpPr>
          <p:cNvPr name="Group 9" id="9"/>
          <p:cNvGrpSpPr/>
          <p:nvPr/>
        </p:nvGrpSpPr>
        <p:grpSpPr>
          <a:xfrm rot="0">
            <a:off x="1362075" y="8357235"/>
            <a:ext cx="15563393" cy="46482"/>
            <a:chOff x="0" y="0"/>
            <a:chExt cx="20751190" cy="61976"/>
          </a:xfrm>
        </p:grpSpPr>
        <p:sp>
          <p:nvSpPr>
            <p:cNvPr name="Freeform 10" id="10"/>
            <p:cNvSpPr/>
            <p:nvPr/>
          </p:nvSpPr>
          <p:spPr>
            <a:xfrm flipH="false" flipV="false" rot="0">
              <a:off x="0" y="0"/>
              <a:ext cx="20751164" cy="61976"/>
            </a:xfrm>
            <a:custGeom>
              <a:avLst/>
              <a:gdLst/>
              <a:ahLst/>
              <a:cxnLst/>
              <a:rect r="r" b="b" t="t" l="l"/>
              <a:pathLst>
                <a:path h="61976" w="20751164">
                  <a:moveTo>
                    <a:pt x="0" y="0"/>
                  </a:moveTo>
                  <a:lnTo>
                    <a:pt x="20751164" y="0"/>
                  </a:lnTo>
                  <a:lnTo>
                    <a:pt x="20751164" y="61976"/>
                  </a:lnTo>
                  <a:lnTo>
                    <a:pt x="0" y="61976"/>
                  </a:lnTo>
                  <a:close/>
                </a:path>
              </a:pathLst>
            </a:custGeom>
            <a:solidFill>
              <a:srgbClr val="11131B"/>
            </a:solidFill>
            <a:ln w="19050" cap="sq">
              <a:solidFill>
                <a:srgbClr val="11131B"/>
              </a:solidFill>
              <a:prstDash val="solid"/>
              <a:miter/>
            </a:ln>
          </p:spPr>
        </p:sp>
      </p:grpSp>
      <p:sp>
        <p:nvSpPr>
          <p:cNvPr name="TextBox 11" id="11"/>
          <p:cNvSpPr txBox="true"/>
          <p:nvPr/>
        </p:nvSpPr>
        <p:spPr>
          <a:xfrm rot="0">
            <a:off x="1371600" y="8678037"/>
            <a:ext cx="10287000" cy="401955"/>
          </a:xfrm>
          <a:prstGeom prst="rect">
            <a:avLst/>
          </a:prstGeom>
        </p:spPr>
        <p:txBody>
          <a:bodyPr anchor="t" rtlCol="false" tIns="0" lIns="0" bIns="0" rIns="0">
            <a:spAutoFit/>
          </a:bodyPr>
          <a:lstStyle/>
          <a:p>
            <a:pPr algn="l">
              <a:lnSpc>
                <a:spcPts val="2070"/>
              </a:lnSpc>
            </a:pPr>
            <a:r>
              <a:rPr lang="en-US" sz="1725">
                <a:solidFill>
                  <a:srgbClr val="747987"/>
                </a:solidFill>
                <a:latin typeface="Noto Sans"/>
                <a:ea typeface="Noto Sans"/>
                <a:cs typeface="Noto Sans"/>
                <a:sym typeface="Noto Sans"/>
              </a:rPr>
              <a:t>SSAFY 공통 프로젝트   ·   대전 1반   ·   B109  Team 백구</a:t>
            </a:r>
          </a:p>
        </p:txBody>
      </p:sp>
      <p:sp>
        <p:nvSpPr>
          <p:cNvPr name="TextBox 12" id="12"/>
          <p:cNvSpPr txBox="true"/>
          <p:nvPr/>
        </p:nvSpPr>
        <p:spPr>
          <a:xfrm rot="0">
            <a:off x="8915400" y="8678037"/>
            <a:ext cx="7996428" cy="401955"/>
          </a:xfrm>
          <a:prstGeom prst="rect">
            <a:avLst/>
          </a:prstGeom>
        </p:spPr>
        <p:txBody>
          <a:bodyPr anchor="t" rtlCol="false" tIns="0" lIns="0" bIns="0" rIns="0">
            <a:spAutoFit/>
          </a:bodyPr>
          <a:lstStyle/>
          <a:p>
            <a:pPr algn="r">
              <a:lnSpc>
                <a:spcPts val="2070"/>
              </a:lnSpc>
            </a:pPr>
            <a:r>
              <a:rPr lang="en-US" sz="1725">
                <a:solidFill>
                  <a:srgbClr val="747987"/>
                </a:solidFill>
                <a:latin typeface="Noto Sans"/>
                <a:ea typeface="Noto Sans"/>
                <a:cs typeface="Noto Sans"/>
                <a:sym typeface="Noto Sans"/>
              </a:rPr>
              <a:t>박민규 · 서가은 · 윤성빈 · 윤재용 · 채승규 · 최현철</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78783" y="9491472"/>
            <a:ext cx="685800" cy="301752"/>
            <a:chOff x="0" y="0"/>
            <a:chExt cx="914400" cy="402336"/>
          </a:xfrm>
        </p:grpSpPr>
        <p:sp>
          <p:nvSpPr>
            <p:cNvPr name="Freeform 3" id="3"/>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4" id="4"/>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02</a:t>
              </a:r>
            </a:p>
          </p:txBody>
        </p:sp>
      </p:grpSp>
      <p:sp>
        <p:nvSpPr>
          <p:cNvPr name="TextBox 5" id="5"/>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CONTENT</a:t>
            </a:r>
          </a:p>
        </p:txBody>
      </p:sp>
      <p:sp>
        <p:nvSpPr>
          <p:cNvPr name="TextBox 6" id="6"/>
          <p:cNvSpPr txBox="true"/>
          <p:nvPr/>
        </p:nvSpPr>
        <p:spPr>
          <a:xfrm rot="0">
            <a:off x="1371600" y="1522095"/>
            <a:ext cx="15544343" cy="1289685"/>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발표 순서</a:t>
            </a:r>
          </a:p>
        </p:txBody>
      </p:sp>
      <p:grpSp>
        <p:nvGrpSpPr>
          <p:cNvPr name="Group 7" id="7"/>
          <p:cNvGrpSpPr/>
          <p:nvPr/>
        </p:nvGrpSpPr>
        <p:grpSpPr>
          <a:xfrm rot="0">
            <a:off x="1362075" y="4095750"/>
            <a:ext cx="4560418" cy="54712"/>
            <a:chOff x="0" y="0"/>
            <a:chExt cx="6080557" cy="72949"/>
          </a:xfrm>
        </p:grpSpPr>
        <p:sp>
          <p:nvSpPr>
            <p:cNvPr name="Freeform 8" id="8"/>
            <p:cNvSpPr/>
            <p:nvPr/>
          </p:nvSpPr>
          <p:spPr>
            <a:xfrm flipH="false" flipV="false" rot="0">
              <a:off x="0" y="0"/>
              <a:ext cx="6080506" cy="72898"/>
            </a:xfrm>
            <a:custGeom>
              <a:avLst/>
              <a:gdLst/>
              <a:ahLst/>
              <a:cxnLst/>
              <a:rect r="r" b="b" t="t" l="l"/>
              <a:pathLst>
                <a:path h="72898" w="6080506">
                  <a:moveTo>
                    <a:pt x="0" y="0"/>
                  </a:moveTo>
                  <a:lnTo>
                    <a:pt x="6080506" y="0"/>
                  </a:lnTo>
                  <a:lnTo>
                    <a:pt x="6080506" y="72898"/>
                  </a:lnTo>
                  <a:lnTo>
                    <a:pt x="0" y="72898"/>
                  </a:lnTo>
                  <a:close/>
                </a:path>
              </a:pathLst>
            </a:custGeom>
            <a:solidFill>
              <a:srgbClr val="3B73EE"/>
            </a:solidFill>
            <a:ln w="19050" cap="sq">
              <a:solidFill>
                <a:srgbClr val="3B73EE"/>
              </a:solidFill>
              <a:prstDash val="solid"/>
              <a:miter/>
            </a:ln>
          </p:spPr>
        </p:sp>
      </p:grpSp>
      <p:sp>
        <p:nvSpPr>
          <p:cNvPr name="TextBox 9" id="9"/>
          <p:cNvSpPr txBox="true"/>
          <p:nvPr/>
        </p:nvSpPr>
        <p:spPr>
          <a:xfrm rot="0">
            <a:off x="1371600" y="4443984"/>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01</a:t>
            </a:r>
          </a:p>
        </p:txBody>
      </p:sp>
      <p:sp>
        <p:nvSpPr>
          <p:cNvPr name="TextBox 10" id="10"/>
          <p:cNvSpPr txBox="true"/>
          <p:nvPr/>
        </p:nvSpPr>
        <p:spPr>
          <a:xfrm rot="0">
            <a:off x="1371600" y="5010531"/>
            <a:ext cx="4541368" cy="685800"/>
          </a:xfrm>
          <a:prstGeom prst="rect">
            <a:avLst/>
          </a:prstGeom>
        </p:spPr>
        <p:txBody>
          <a:bodyPr anchor="t" rtlCol="false" tIns="0" lIns="0" bIns="0" rIns="0">
            <a:spAutoFit/>
          </a:bodyPr>
          <a:lstStyle/>
          <a:p>
            <a:pPr algn="l">
              <a:lnSpc>
                <a:spcPts val="3960"/>
              </a:lnSpc>
            </a:pPr>
            <a:r>
              <a:rPr lang="en-US" sz="3300" b="true">
                <a:solidFill>
                  <a:srgbClr val="11131B"/>
                </a:solidFill>
                <a:latin typeface="Noto Sans Bold"/>
                <a:ea typeface="Noto Sans Bold"/>
                <a:cs typeface="Noto Sans Bold"/>
                <a:sym typeface="Noto Sans Bold"/>
              </a:rPr>
              <a:t>문제 정의</a:t>
            </a:r>
          </a:p>
        </p:txBody>
      </p:sp>
      <p:grpSp>
        <p:nvGrpSpPr>
          <p:cNvPr name="Group 11" id="11"/>
          <p:cNvGrpSpPr/>
          <p:nvPr/>
        </p:nvGrpSpPr>
        <p:grpSpPr>
          <a:xfrm rot="0">
            <a:off x="6863563" y="4095750"/>
            <a:ext cx="4560418" cy="54712"/>
            <a:chOff x="0" y="0"/>
            <a:chExt cx="6080557" cy="72949"/>
          </a:xfrm>
        </p:grpSpPr>
        <p:sp>
          <p:nvSpPr>
            <p:cNvPr name="Freeform 12" id="12"/>
            <p:cNvSpPr/>
            <p:nvPr/>
          </p:nvSpPr>
          <p:spPr>
            <a:xfrm flipH="false" flipV="false" rot="0">
              <a:off x="0" y="0"/>
              <a:ext cx="6080506" cy="72898"/>
            </a:xfrm>
            <a:custGeom>
              <a:avLst/>
              <a:gdLst/>
              <a:ahLst/>
              <a:cxnLst/>
              <a:rect r="r" b="b" t="t" l="l"/>
              <a:pathLst>
                <a:path h="72898" w="6080506">
                  <a:moveTo>
                    <a:pt x="0" y="0"/>
                  </a:moveTo>
                  <a:lnTo>
                    <a:pt x="6080506" y="0"/>
                  </a:lnTo>
                  <a:lnTo>
                    <a:pt x="6080506" y="72898"/>
                  </a:lnTo>
                  <a:lnTo>
                    <a:pt x="0" y="72898"/>
                  </a:lnTo>
                  <a:close/>
                </a:path>
              </a:pathLst>
            </a:custGeom>
            <a:solidFill>
              <a:srgbClr val="E4E6EE"/>
            </a:solidFill>
            <a:ln w="19050" cap="sq">
              <a:solidFill>
                <a:srgbClr val="E4E6EE"/>
              </a:solidFill>
              <a:prstDash val="solid"/>
              <a:miter/>
            </a:ln>
          </p:spPr>
        </p:sp>
      </p:grpSp>
      <p:sp>
        <p:nvSpPr>
          <p:cNvPr name="TextBox 13" id="13"/>
          <p:cNvSpPr txBox="true"/>
          <p:nvPr/>
        </p:nvSpPr>
        <p:spPr>
          <a:xfrm rot="0">
            <a:off x="6873088" y="4443984"/>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02</a:t>
            </a:r>
          </a:p>
        </p:txBody>
      </p:sp>
      <p:sp>
        <p:nvSpPr>
          <p:cNvPr name="TextBox 14" id="14"/>
          <p:cNvSpPr txBox="true"/>
          <p:nvPr/>
        </p:nvSpPr>
        <p:spPr>
          <a:xfrm rot="0">
            <a:off x="6873088" y="5010531"/>
            <a:ext cx="4541368" cy="685800"/>
          </a:xfrm>
          <a:prstGeom prst="rect">
            <a:avLst/>
          </a:prstGeom>
        </p:spPr>
        <p:txBody>
          <a:bodyPr anchor="t" rtlCol="false" tIns="0" lIns="0" bIns="0" rIns="0">
            <a:spAutoFit/>
          </a:bodyPr>
          <a:lstStyle/>
          <a:p>
            <a:pPr algn="l">
              <a:lnSpc>
                <a:spcPts val="3960"/>
              </a:lnSpc>
            </a:pPr>
            <a:r>
              <a:rPr lang="en-US" sz="3300" b="true">
                <a:solidFill>
                  <a:srgbClr val="11131B"/>
                </a:solidFill>
                <a:latin typeface="Noto Sans Bold"/>
                <a:ea typeface="Noto Sans Bold"/>
                <a:cs typeface="Noto Sans Bold"/>
                <a:sym typeface="Noto Sans Bold"/>
              </a:rPr>
              <a:t>AIVO</a:t>
            </a:r>
          </a:p>
        </p:txBody>
      </p:sp>
      <p:grpSp>
        <p:nvGrpSpPr>
          <p:cNvPr name="Group 15" id="15"/>
          <p:cNvGrpSpPr/>
          <p:nvPr/>
        </p:nvGrpSpPr>
        <p:grpSpPr>
          <a:xfrm rot="0">
            <a:off x="12365050" y="4095750"/>
            <a:ext cx="4560418" cy="54712"/>
            <a:chOff x="0" y="0"/>
            <a:chExt cx="6080557" cy="72949"/>
          </a:xfrm>
        </p:grpSpPr>
        <p:sp>
          <p:nvSpPr>
            <p:cNvPr name="Freeform 16" id="16"/>
            <p:cNvSpPr/>
            <p:nvPr/>
          </p:nvSpPr>
          <p:spPr>
            <a:xfrm flipH="false" flipV="false" rot="0">
              <a:off x="0" y="0"/>
              <a:ext cx="6080506" cy="72898"/>
            </a:xfrm>
            <a:custGeom>
              <a:avLst/>
              <a:gdLst/>
              <a:ahLst/>
              <a:cxnLst/>
              <a:rect r="r" b="b" t="t" l="l"/>
              <a:pathLst>
                <a:path h="72898" w="6080506">
                  <a:moveTo>
                    <a:pt x="0" y="0"/>
                  </a:moveTo>
                  <a:lnTo>
                    <a:pt x="6080506" y="0"/>
                  </a:lnTo>
                  <a:lnTo>
                    <a:pt x="6080506" y="72898"/>
                  </a:lnTo>
                  <a:lnTo>
                    <a:pt x="0" y="72898"/>
                  </a:lnTo>
                  <a:close/>
                </a:path>
              </a:pathLst>
            </a:custGeom>
            <a:solidFill>
              <a:srgbClr val="E4E6EE"/>
            </a:solidFill>
            <a:ln w="19050" cap="sq">
              <a:solidFill>
                <a:srgbClr val="E4E6EE"/>
              </a:solidFill>
              <a:prstDash val="solid"/>
              <a:miter/>
            </a:ln>
          </p:spPr>
        </p:sp>
      </p:grpSp>
      <p:sp>
        <p:nvSpPr>
          <p:cNvPr name="TextBox 17" id="17"/>
          <p:cNvSpPr txBox="true"/>
          <p:nvPr/>
        </p:nvSpPr>
        <p:spPr>
          <a:xfrm rot="0">
            <a:off x="12374575" y="4443984"/>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03</a:t>
            </a:r>
          </a:p>
        </p:txBody>
      </p:sp>
      <p:sp>
        <p:nvSpPr>
          <p:cNvPr name="TextBox 18" id="18"/>
          <p:cNvSpPr txBox="true"/>
          <p:nvPr/>
        </p:nvSpPr>
        <p:spPr>
          <a:xfrm rot="0">
            <a:off x="12374575" y="5010531"/>
            <a:ext cx="4541368" cy="495300"/>
          </a:xfrm>
          <a:prstGeom prst="rect">
            <a:avLst/>
          </a:prstGeom>
        </p:spPr>
        <p:txBody>
          <a:bodyPr anchor="t" rtlCol="false" tIns="0" lIns="0" bIns="0" rIns="0">
            <a:spAutoFit/>
          </a:bodyPr>
          <a:lstStyle/>
          <a:p>
            <a:pPr algn="l">
              <a:lnSpc>
                <a:spcPts val="3960"/>
              </a:lnSpc>
            </a:pPr>
            <a:r>
              <a:rPr lang="en-US" sz="3300" b="true">
                <a:solidFill>
                  <a:srgbClr val="11131B"/>
                </a:solidFill>
                <a:latin typeface="Noto Sans Bold"/>
                <a:ea typeface="Noto Sans Bold"/>
                <a:cs typeface="Noto Sans Bold"/>
                <a:sym typeface="Noto Sans Bold"/>
              </a:rPr>
              <a:t>서비스 시연</a:t>
            </a:r>
          </a:p>
        </p:txBody>
      </p:sp>
      <p:grpSp>
        <p:nvGrpSpPr>
          <p:cNvPr name="Group 19" id="19"/>
          <p:cNvGrpSpPr/>
          <p:nvPr/>
        </p:nvGrpSpPr>
        <p:grpSpPr>
          <a:xfrm rot="0">
            <a:off x="1362075" y="6299835"/>
            <a:ext cx="4560418" cy="54712"/>
            <a:chOff x="0" y="0"/>
            <a:chExt cx="6080557" cy="72949"/>
          </a:xfrm>
        </p:grpSpPr>
        <p:sp>
          <p:nvSpPr>
            <p:cNvPr name="Freeform 20" id="20"/>
            <p:cNvSpPr/>
            <p:nvPr/>
          </p:nvSpPr>
          <p:spPr>
            <a:xfrm flipH="false" flipV="false" rot="0">
              <a:off x="0" y="0"/>
              <a:ext cx="6080506" cy="72898"/>
            </a:xfrm>
            <a:custGeom>
              <a:avLst/>
              <a:gdLst/>
              <a:ahLst/>
              <a:cxnLst/>
              <a:rect r="r" b="b" t="t" l="l"/>
              <a:pathLst>
                <a:path h="72898" w="6080506">
                  <a:moveTo>
                    <a:pt x="0" y="0"/>
                  </a:moveTo>
                  <a:lnTo>
                    <a:pt x="6080506" y="0"/>
                  </a:lnTo>
                  <a:lnTo>
                    <a:pt x="6080506" y="72898"/>
                  </a:lnTo>
                  <a:lnTo>
                    <a:pt x="0" y="72898"/>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664806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04</a:t>
            </a:r>
          </a:p>
        </p:txBody>
      </p:sp>
      <p:sp>
        <p:nvSpPr>
          <p:cNvPr name="TextBox 22" id="22"/>
          <p:cNvSpPr txBox="true"/>
          <p:nvPr/>
        </p:nvSpPr>
        <p:spPr>
          <a:xfrm rot="0">
            <a:off x="1371600" y="7214616"/>
            <a:ext cx="4541368" cy="495300"/>
          </a:xfrm>
          <a:prstGeom prst="rect">
            <a:avLst/>
          </a:prstGeom>
        </p:spPr>
        <p:txBody>
          <a:bodyPr anchor="t" rtlCol="false" tIns="0" lIns="0" bIns="0" rIns="0">
            <a:spAutoFit/>
          </a:bodyPr>
          <a:lstStyle/>
          <a:p>
            <a:pPr algn="l">
              <a:lnSpc>
                <a:spcPts val="3960"/>
              </a:lnSpc>
            </a:pPr>
            <a:r>
              <a:rPr lang="en-US" sz="3300" b="true">
                <a:solidFill>
                  <a:srgbClr val="11131B"/>
                </a:solidFill>
                <a:latin typeface="Noto Sans Bold"/>
                <a:ea typeface="Noto Sans Bold"/>
                <a:cs typeface="Noto Sans Bold"/>
                <a:sym typeface="Noto Sans Bold"/>
              </a:rPr>
              <a:t>기능</a:t>
            </a:r>
            <a:r>
              <a:rPr lang="en-US" sz="3300" b="true">
                <a:solidFill>
                  <a:srgbClr val="11131B"/>
                </a:solidFill>
                <a:latin typeface="Noto Sans Bold"/>
                <a:ea typeface="Noto Sans Bold"/>
                <a:cs typeface="Noto Sans Bold"/>
                <a:sym typeface="Noto Sans Bold"/>
              </a:rPr>
              <a:t> 소개</a:t>
            </a:r>
          </a:p>
        </p:txBody>
      </p:sp>
      <p:grpSp>
        <p:nvGrpSpPr>
          <p:cNvPr name="Group 23" id="23"/>
          <p:cNvGrpSpPr/>
          <p:nvPr/>
        </p:nvGrpSpPr>
        <p:grpSpPr>
          <a:xfrm rot="0">
            <a:off x="6863563" y="6299835"/>
            <a:ext cx="4560418" cy="54712"/>
            <a:chOff x="0" y="0"/>
            <a:chExt cx="6080557" cy="72949"/>
          </a:xfrm>
        </p:grpSpPr>
        <p:sp>
          <p:nvSpPr>
            <p:cNvPr name="Freeform 24" id="24"/>
            <p:cNvSpPr/>
            <p:nvPr/>
          </p:nvSpPr>
          <p:spPr>
            <a:xfrm flipH="false" flipV="false" rot="0">
              <a:off x="0" y="0"/>
              <a:ext cx="6080506" cy="72898"/>
            </a:xfrm>
            <a:custGeom>
              <a:avLst/>
              <a:gdLst/>
              <a:ahLst/>
              <a:cxnLst/>
              <a:rect r="r" b="b" t="t" l="l"/>
              <a:pathLst>
                <a:path h="72898" w="6080506">
                  <a:moveTo>
                    <a:pt x="0" y="0"/>
                  </a:moveTo>
                  <a:lnTo>
                    <a:pt x="6080506" y="0"/>
                  </a:lnTo>
                  <a:lnTo>
                    <a:pt x="6080506" y="72898"/>
                  </a:lnTo>
                  <a:lnTo>
                    <a:pt x="0" y="72898"/>
                  </a:lnTo>
                  <a:close/>
                </a:path>
              </a:pathLst>
            </a:custGeom>
            <a:solidFill>
              <a:srgbClr val="E4E6EE"/>
            </a:solidFill>
            <a:ln w="19050" cap="sq">
              <a:solidFill>
                <a:srgbClr val="E4E6EE"/>
              </a:solidFill>
              <a:prstDash val="solid"/>
              <a:miter/>
            </a:ln>
          </p:spPr>
        </p:sp>
      </p:grpSp>
      <p:sp>
        <p:nvSpPr>
          <p:cNvPr name="TextBox 25" id="25"/>
          <p:cNvSpPr txBox="true"/>
          <p:nvPr/>
        </p:nvSpPr>
        <p:spPr>
          <a:xfrm rot="0">
            <a:off x="6873088" y="664806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05</a:t>
            </a:r>
          </a:p>
        </p:txBody>
      </p:sp>
      <p:sp>
        <p:nvSpPr>
          <p:cNvPr name="TextBox 26" id="26"/>
          <p:cNvSpPr txBox="true"/>
          <p:nvPr/>
        </p:nvSpPr>
        <p:spPr>
          <a:xfrm rot="0">
            <a:off x="6873088" y="7214616"/>
            <a:ext cx="4541368" cy="685800"/>
          </a:xfrm>
          <a:prstGeom prst="rect">
            <a:avLst/>
          </a:prstGeom>
        </p:spPr>
        <p:txBody>
          <a:bodyPr anchor="t" rtlCol="false" tIns="0" lIns="0" bIns="0" rIns="0">
            <a:spAutoFit/>
          </a:bodyPr>
          <a:lstStyle/>
          <a:p>
            <a:pPr algn="l">
              <a:lnSpc>
                <a:spcPts val="3960"/>
              </a:lnSpc>
            </a:pPr>
            <a:r>
              <a:rPr lang="en-US" sz="3300" b="true">
                <a:solidFill>
                  <a:srgbClr val="11131B"/>
                </a:solidFill>
                <a:latin typeface="Noto Sans Bold"/>
                <a:ea typeface="Noto Sans Bold"/>
                <a:cs typeface="Noto Sans Bold"/>
                <a:sym typeface="Noto Sans Bold"/>
              </a:rPr>
              <a:t>사용 기술</a:t>
            </a:r>
          </a:p>
        </p:txBody>
      </p:sp>
      <p:grpSp>
        <p:nvGrpSpPr>
          <p:cNvPr name="Group 27" id="27"/>
          <p:cNvGrpSpPr/>
          <p:nvPr/>
        </p:nvGrpSpPr>
        <p:grpSpPr>
          <a:xfrm rot="0">
            <a:off x="12365050" y="6299835"/>
            <a:ext cx="4560418" cy="54712"/>
            <a:chOff x="0" y="0"/>
            <a:chExt cx="6080557" cy="72949"/>
          </a:xfrm>
        </p:grpSpPr>
        <p:sp>
          <p:nvSpPr>
            <p:cNvPr name="Freeform 28" id="28"/>
            <p:cNvSpPr/>
            <p:nvPr/>
          </p:nvSpPr>
          <p:spPr>
            <a:xfrm flipH="false" flipV="false" rot="0">
              <a:off x="0" y="0"/>
              <a:ext cx="6080506" cy="72898"/>
            </a:xfrm>
            <a:custGeom>
              <a:avLst/>
              <a:gdLst/>
              <a:ahLst/>
              <a:cxnLst/>
              <a:rect r="r" b="b" t="t" l="l"/>
              <a:pathLst>
                <a:path h="72898" w="6080506">
                  <a:moveTo>
                    <a:pt x="0" y="0"/>
                  </a:moveTo>
                  <a:lnTo>
                    <a:pt x="6080506" y="0"/>
                  </a:lnTo>
                  <a:lnTo>
                    <a:pt x="6080506" y="72898"/>
                  </a:lnTo>
                  <a:lnTo>
                    <a:pt x="0" y="72898"/>
                  </a:lnTo>
                  <a:close/>
                </a:path>
              </a:pathLst>
            </a:custGeom>
            <a:solidFill>
              <a:srgbClr val="E4E6EE"/>
            </a:solidFill>
            <a:ln w="19050" cap="sq">
              <a:solidFill>
                <a:srgbClr val="E4E6EE"/>
              </a:solidFill>
              <a:prstDash val="solid"/>
              <a:miter/>
            </a:ln>
          </p:spPr>
        </p:sp>
      </p:grpSp>
      <p:sp>
        <p:nvSpPr>
          <p:cNvPr name="TextBox 29" id="29"/>
          <p:cNvSpPr txBox="true"/>
          <p:nvPr/>
        </p:nvSpPr>
        <p:spPr>
          <a:xfrm rot="0">
            <a:off x="12374575" y="664806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06</a:t>
            </a:r>
          </a:p>
        </p:txBody>
      </p:sp>
      <p:sp>
        <p:nvSpPr>
          <p:cNvPr name="TextBox 30" id="30"/>
          <p:cNvSpPr txBox="true"/>
          <p:nvPr/>
        </p:nvSpPr>
        <p:spPr>
          <a:xfrm rot="0">
            <a:off x="12374575" y="7214616"/>
            <a:ext cx="4541368" cy="495300"/>
          </a:xfrm>
          <a:prstGeom prst="rect">
            <a:avLst/>
          </a:prstGeom>
        </p:spPr>
        <p:txBody>
          <a:bodyPr anchor="t" rtlCol="false" tIns="0" lIns="0" bIns="0" rIns="0">
            <a:spAutoFit/>
          </a:bodyPr>
          <a:lstStyle/>
          <a:p>
            <a:pPr algn="l">
              <a:lnSpc>
                <a:spcPts val="3960"/>
              </a:lnSpc>
            </a:pPr>
            <a:r>
              <a:rPr lang="en-US" sz="3300" b="true">
                <a:solidFill>
                  <a:srgbClr val="11131B"/>
                </a:solidFill>
                <a:latin typeface="Noto Sans Bold"/>
                <a:ea typeface="Noto Sans Bold"/>
                <a:cs typeface="Noto Sans Bold"/>
                <a:sym typeface="Noto Sans Bold"/>
              </a:rPr>
              <a:t>의의 · 향후 계획</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0E12"/>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03</a:t>
              </a:r>
            </a:p>
          </p:txBody>
        </p:sp>
      </p:grpSp>
      <p:grpSp>
        <p:nvGrpSpPr>
          <p:cNvPr name="Group 17" id="17"/>
          <p:cNvGrpSpPr/>
          <p:nvPr/>
        </p:nvGrpSpPr>
        <p:grpSpPr>
          <a:xfrm rot="0">
            <a:off x="1371600" y="3223260"/>
            <a:ext cx="4114800" cy="2057400"/>
            <a:chOff x="0" y="0"/>
            <a:chExt cx="5486400" cy="2743200"/>
          </a:xfrm>
        </p:grpSpPr>
        <p:sp>
          <p:nvSpPr>
            <p:cNvPr name="Freeform 18" id="18"/>
            <p:cNvSpPr/>
            <p:nvPr/>
          </p:nvSpPr>
          <p:spPr>
            <a:xfrm flipH="false" flipV="false" rot="0">
              <a:off x="0" y="0"/>
              <a:ext cx="5486400" cy="2743200"/>
            </a:xfrm>
            <a:custGeom>
              <a:avLst/>
              <a:gdLst/>
              <a:ahLst/>
              <a:cxnLst/>
              <a:rect r="r" b="b" t="t" l="l"/>
              <a:pathLst>
                <a:path h="2743200" w="5486400">
                  <a:moveTo>
                    <a:pt x="0" y="0"/>
                  </a:moveTo>
                  <a:lnTo>
                    <a:pt x="5486400" y="0"/>
                  </a:lnTo>
                  <a:lnTo>
                    <a:pt x="5486400" y="2743200"/>
                  </a:lnTo>
                  <a:lnTo>
                    <a:pt x="0" y="2743200"/>
                  </a:lnTo>
                  <a:close/>
                </a:path>
              </a:pathLst>
            </a:custGeom>
            <a:blipFill>
              <a:blip r:embed="rId3">
                <a:alphaModFix amt="0"/>
              </a:blip>
              <a:stretch>
                <a:fillRect l="-14151" t="0" r="-14151" b="0"/>
              </a:stretch>
            </a:blipFill>
          </p:spPr>
        </p:sp>
        <p:sp>
          <p:nvSpPr>
            <p:cNvPr name="TextBox 19" id="19"/>
            <p:cNvSpPr txBox="true"/>
            <p:nvPr/>
          </p:nvSpPr>
          <p:spPr>
            <a:xfrm>
              <a:off x="0" y="0"/>
              <a:ext cx="5486400" cy="2743200"/>
            </a:xfrm>
            <a:prstGeom prst="rect">
              <a:avLst/>
            </a:prstGeom>
          </p:spPr>
          <p:txBody>
            <a:bodyPr anchor="ctr" rtlCol="false" tIns="0" lIns="0" bIns="0" rIns="0"/>
            <a:lstStyle/>
            <a:p>
              <a:pPr algn="l">
                <a:lnSpc>
                  <a:spcPts val="17280"/>
                </a:lnSpc>
              </a:pPr>
              <a:r>
                <a:rPr lang="en-US" sz="14400" b="true">
                  <a:solidFill>
                    <a:srgbClr val="3B73EE"/>
                  </a:solidFill>
                  <a:latin typeface="Noto Sans Bold"/>
                  <a:ea typeface="Noto Sans Bold"/>
                  <a:cs typeface="Noto Sans Bold"/>
                  <a:sym typeface="Noto Sans Bold"/>
                </a:rPr>
                <a:t>01</a:t>
              </a:r>
            </a:p>
          </p:txBody>
        </p:sp>
      </p:grpSp>
      <p:sp>
        <p:nvSpPr>
          <p:cNvPr name="TextBox 20" id="20"/>
          <p:cNvSpPr txBox="true"/>
          <p:nvPr/>
        </p:nvSpPr>
        <p:spPr>
          <a:xfrm rot="0">
            <a:off x="1371600" y="5417820"/>
            <a:ext cx="15544343" cy="1234440"/>
          </a:xfrm>
          <a:prstGeom prst="rect">
            <a:avLst/>
          </a:prstGeom>
        </p:spPr>
        <p:txBody>
          <a:bodyPr anchor="t" rtlCol="false" tIns="0" lIns="0" bIns="0" rIns="0">
            <a:spAutoFit/>
          </a:bodyPr>
          <a:lstStyle/>
          <a:p>
            <a:pPr algn="l">
              <a:lnSpc>
                <a:spcPts val="7920"/>
              </a:lnSpc>
            </a:pPr>
            <a:r>
              <a:rPr lang="en-US" sz="6600" b="true">
                <a:solidFill>
                  <a:srgbClr val="FFFFFF"/>
                </a:solidFill>
                <a:latin typeface="Noto Sans Bold"/>
                <a:ea typeface="Noto Sans Bold"/>
                <a:cs typeface="Noto Sans Bold"/>
                <a:sym typeface="Noto Sans Bold"/>
              </a:rPr>
              <a:t>문제 정의</a:t>
            </a:r>
          </a:p>
        </p:txBody>
      </p:sp>
      <p:sp>
        <p:nvSpPr>
          <p:cNvPr name="TextBox 21" id="21"/>
          <p:cNvSpPr txBox="true"/>
          <p:nvPr/>
        </p:nvSpPr>
        <p:spPr>
          <a:xfrm rot="0">
            <a:off x="1371600" y="6830568"/>
            <a:ext cx="15544343" cy="548640"/>
          </a:xfrm>
          <a:prstGeom prst="rect">
            <a:avLst/>
          </a:prstGeom>
        </p:spPr>
        <p:txBody>
          <a:bodyPr anchor="t" rtlCol="false" tIns="0" lIns="0" bIns="0" rIns="0">
            <a:spAutoFit/>
          </a:bodyPr>
          <a:lstStyle/>
          <a:p>
            <a:pPr algn="l">
              <a:lnSpc>
                <a:spcPts val="2520"/>
              </a:lnSpc>
            </a:pPr>
            <a:r>
              <a:rPr lang="en-US" sz="2100">
                <a:solidFill>
                  <a:srgbClr val="A6ADBD"/>
                </a:solidFill>
                <a:latin typeface="Noto Sans"/>
                <a:ea typeface="Noto Sans"/>
                <a:cs typeface="Noto Sans"/>
                <a:sym typeface="Noto Sans"/>
              </a:rPr>
              <a:t>혼자 하는 연습이 왜 어려운가</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0E12"/>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04</a:t>
              </a:r>
            </a:p>
          </p:txBody>
        </p:sp>
      </p:grpSp>
      <p:grpSp>
        <p:nvGrpSpPr>
          <p:cNvPr name="Group 17" id="17"/>
          <p:cNvGrpSpPr/>
          <p:nvPr/>
        </p:nvGrpSpPr>
        <p:grpSpPr>
          <a:xfrm rot="0">
            <a:off x="1371600" y="3017520"/>
            <a:ext cx="15544343" cy="3566160"/>
            <a:chOff x="0" y="0"/>
            <a:chExt cx="20725790" cy="4754880"/>
          </a:xfrm>
        </p:grpSpPr>
        <p:sp>
          <p:nvSpPr>
            <p:cNvPr name="Freeform 18" id="18"/>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19" id="19"/>
            <p:cNvSpPr txBox="true"/>
            <p:nvPr/>
          </p:nvSpPr>
          <p:spPr>
            <a:xfrm>
              <a:off x="0" y="-266700"/>
              <a:ext cx="20725790" cy="5021580"/>
            </a:xfrm>
            <a:prstGeom prst="rect">
              <a:avLst/>
            </a:prstGeom>
          </p:spPr>
          <p:txBody>
            <a:bodyPr anchor="ctr" rtlCol="false" tIns="0" lIns="0" bIns="0" rIns="0"/>
            <a:lstStyle/>
            <a:p>
              <a:pPr algn="l">
                <a:lnSpc>
                  <a:spcPts val="16416"/>
                </a:lnSpc>
              </a:pPr>
              <a:r>
                <a:rPr lang="en-US" sz="11400" b="true">
                  <a:solidFill>
                    <a:srgbClr val="FFFFFF"/>
                  </a:solidFill>
                  <a:latin typeface="Noto Sans Bold"/>
                  <a:ea typeface="Noto Sans Bold"/>
                  <a:cs typeface="Noto Sans Bold"/>
                  <a:sym typeface="Noto Sans Bold"/>
                </a:rPr>
                <a:t>잠시만요.</a:t>
              </a: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05</a:t>
              </a:r>
            </a:p>
          </p:txBody>
        </p:sp>
      </p:grpSp>
      <p:grpSp>
        <p:nvGrpSpPr>
          <p:cNvPr name="Group 17" id="17"/>
          <p:cNvGrpSpPr/>
          <p:nvPr/>
        </p:nvGrpSpPr>
        <p:grpSpPr>
          <a:xfrm rot="0">
            <a:off x="1371600" y="3017520"/>
            <a:ext cx="15544343" cy="3566160"/>
            <a:chOff x="0" y="0"/>
            <a:chExt cx="20725790" cy="4754880"/>
          </a:xfrm>
        </p:grpSpPr>
        <p:sp>
          <p:nvSpPr>
            <p:cNvPr name="Freeform 18" id="18"/>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19" id="19"/>
            <p:cNvSpPr txBox="true"/>
            <p:nvPr/>
          </p:nvSpPr>
          <p:spPr>
            <a:xfrm>
              <a:off x="0" y="-152400"/>
              <a:ext cx="20725790" cy="4907280"/>
            </a:xfrm>
            <a:prstGeom prst="rect">
              <a:avLst/>
            </a:prstGeom>
          </p:spPr>
          <p:txBody>
            <a:bodyPr anchor="ctr" rtlCol="false" tIns="0" lIns="0" bIns="0" rIns="0"/>
            <a:lstStyle/>
            <a:p>
              <a:pPr algn="l">
                <a:lnSpc>
                  <a:spcPts val="9504"/>
                </a:lnSpc>
              </a:pPr>
              <a:r>
                <a:rPr lang="en-US" sz="6600" b="true">
                  <a:solidFill>
                    <a:srgbClr val="11131B"/>
                  </a:solidFill>
                  <a:latin typeface="Noto Sans Bold"/>
                  <a:ea typeface="Noto Sans Bold"/>
                  <a:cs typeface="Noto Sans Bold"/>
                  <a:sym typeface="Noto Sans Bold"/>
                </a:rPr>
                <a:t>여러분은 방금 발표에서</a:t>
              </a:r>
            </a:p>
            <a:p>
              <a:pPr algn="l">
                <a:lnSpc>
                  <a:spcPts val="9504"/>
                </a:lnSpc>
              </a:pPr>
              <a:r>
                <a:rPr lang="en-US" sz="6600" b="true">
                  <a:solidFill>
                    <a:srgbClr val="11131B"/>
                  </a:solidFill>
                  <a:latin typeface="Noto Sans Bold"/>
                  <a:ea typeface="Noto Sans Bold"/>
                  <a:cs typeface="Noto Sans Bold"/>
                  <a:sym typeface="Noto Sans Bold"/>
                </a:rPr>
                <a:t>어떤 문제를 발견하셨나요?</a:t>
              </a: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9FE"/>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06</a:t>
              </a:r>
            </a:p>
          </p:txBody>
        </p:sp>
      </p:grpSp>
      <p:grpSp>
        <p:nvGrpSpPr>
          <p:cNvPr name="Group 17" id="17"/>
          <p:cNvGrpSpPr/>
          <p:nvPr/>
        </p:nvGrpSpPr>
        <p:grpSpPr>
          <a:xfrm rot="0">
            <a:off x="1371600" y="3017520"/>
            <a:ext cx="15544343" cy="3566160"/>
            <a:chOff x="0" y="0"/>
            <a:chExt cx="20725790" cy="4754880"/>
          </a:xfrm>
        </p:grpSpPr>
        <p:sp>
          <p:nvSpPr>
            <p:cNvPr name="Freeform 18" id="18"/>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19" id="19"/>
            <p:cNvSpPr txBox="true"/>
            <p:nvPr/>
          </p:nvSpPr>
          <p:spPr>
            <a:xfrm>
              <a:off x="0" y="-161925"/>
              <a:ext cx="20725790" cy="4916805"/>
            </a:xfrm>
            <a:prstGeom prst="rect">
              <a:avLst/>
            </a:prstGeom>
          </p:spPr>
          <p:txBody>
            <a:bodyPr anchor="ctr" rtlCol="false" tIns="0" lIns="0" bIns="0" rIns="0"/>
            <a:lstStyle/>
            <a:p>
              <a:pPr algn="l">
                <a:lnSpc>
                  <a:spcPts val="9936"/>
                </a:lnSpc>
              </a:pPr>
              <a:r>
                <a:rPr lang="en-US" sz="6900" b="true">
                  <a:solidFill>
                    <a:srgbClr val="11131B"/>
                  </a:solidFill>
                  <a:latin typeface="Noto Sans Bold"/>
                  <a:ea typeface="Noto Sans Bold"/>
                  <a:cs typeface="Noto Sans Bold"/>
                  <a:sym typeface="Noto Sans Bold"/>
                </a:rPr>
                <a:t>발표가 매끄럽지 않았다는 건</a:t>
              </a:r>
            </a:p>
            <a:p>
              <a:pPr algn="l">
                <a:lnSpc>
                  <a:spcPts val="9936"/>
                </a:lnSpc>
              </a:pPr>
              <a:r>
                <a:rPr lang="en-US" sz="6900" b="true">
                  <a:solidFill>
                    <a:srgbClr val="11131B"/>
                  </a:solidFill>
                  <a:latin typeface="Noto Sans Bold"/>
                  <a:ea typeface="Noto Sans Bold"/>
                  <a:cs typeface="Noto Sans Bold"/>
                  <a:sym typeface="Noto Sans Bold"/>
                </a:rPr>
                <a:t>누구나 느낄 수 있습니다.</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07</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방금 발표 분석 결과</a:t>
            </a:r>
          </a:p>
        </p:txBody>
      </p:sp>
      <p:sp>
        <p:nvSpPr>
          <p:cNvPr name="TextBox 18" id="18"/>
          <p:cNvSpPr txBox="true"/>
          <p:nvPr/>
        </p:nvSpPr>
        <p:spPr>
          <a:xfrm rot="0">
            <a:off x="1371600" y="1541145"/>
            <a:ext cx="15544343" cy="1887855"/>
          </a:xfrm>
          <a:prstGeom prst="rect">
            <a:avLst/>
          </a:prstGeom>
        </p:spPr>
        <p:txBody>
          <a:bodyPr anchor="t" rtlCol="false" tIns="0" lIns="0" bIns="0" rIns="0">
            <a:spAutoFit/>
          </a:bodyPr>
          <a:lstStyle/>
          <a:p>
            <a:pPr algn="l">
              <a:lnSpc>
                <a:spcPts val="6912"/>
              </a:lnSpc>
            </a:pPr>
            <a:r>
              <a:rPr lang="en-US" sz="4800" b="true">
                <a:solidFill>
                  <a:srgbClr val="11131B"/>
                </a:solidFill>
                <a:latin typeface="Noto Sans Bold"/>
                <a:ea typeface="Noto Sans Bold"/>
                <a:cs typeface="Noto Sans Bold"/>
                <a:sym typeface="Noto Sans Bold"/>
              </a:rPr>
              <a:t>하지만 혼자서는 무엇이, 얼마나,</a:t>
            </a:r>
          </a:p>
          <a:p>
            <a:pPr algn="l">
              <a:lnSpc>
                <a:spcPts val="6912"/>
              </a:lnSpc>
            </a:pPr>
            <a:r>
              <a:rPr lang="en-US" sz="4800" b="true">
                <a:solidFill>
                  <a:srgbClr val="11131B"/>
                </a:solidFill>
                <a:latin typeface="Noto Sans Bold"/>
                <a:ea typeface="Noto Sans Bold"/>
                <a:cs typeface="Noto Sans Bold"/>
                <a:sym typeface="Noto Sans Bold"/>
              </a:rPr>
              <a:t>언제 반복됐는지 알기 어렵습니다.</a:t>
            </a:r>
          </a:p>
        </p:txBody>
      </p:sp>
      <p:grpSp>
        <p:nvGrpSpPr>
          <p:cNvPr name="Group 19" id="19"/>
          <p:cNvGrpSpPr/>
          <p:nvPr/>
        </p:nvGrpSpPr>
        <p:grpSpPr>
          <a:xfrm rot="0">
            <a:off x="1362075" y="3638931"/>
            <a:ext cx="15563393" cy="38252"/>
            <a:chOff x="0" y="0"/>
            <a:chExt cx="20751190" cy="51003"/>
          </a:xfrm>
        </p:grpSpPr>
        <p:sp>
          <p:nvSpPr>
            <p:cNvPr name="Freeform 20" id="2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grpSp>
        <p:nvGrpSpPr>
          <p:cNvPr name="Group 21" id="21"/>
          <p:cNvGrpSpPr/>
          <p:nvPr/>
        </p:nvGrpSpPr>
        <p:grpSpPr>
          <a:xfrm rot="0">
            <a:off x="1371600" y="4457700"/>
            <a:ext cx="4449928" cy="2125980"/>
            <a:chOff x="0" y="0"/>
            <a:chExt cx="5933237" cy="2834640"/>
          </a:xfrm>
        </p:grpSpPr>
        <p:sp>
          <p:nvSpPr>
            <p:cNvPr name="Freeform 22" id="22"/>
            <p:cNvSpPr/>
            <p:nvPr/>
          </p:nvSpPr>
          <p:spPr>
            <a:xfrm flipH="false" flipV="false" rot="0">
              <a:off x="0" y="0"/>
              <a:ext cx="5933236" cy="2834640"/>
            </a:xfrm>
            <a:custGeom>
              <a:avLst/>
              <a:gdLst/>
              <a:ahLst/>
              <a:cxnLst/>
              <a:rect r="r" b="b" t="t" l="l"/>
              <a:pathLst>
                <a:path h="2834640" w="5933236">
                  <a:moveTo>
                    <a:pt x="0" y="0"/>
                  </a:moveTo>
                  <a:lnTo>
                    <a:pt x="5933236" y="0"/>
                  </a:lnTo>
                  <a:lnTo>
                    <a:pt x="5933236" y="2834640"/>
                  </a:lnTo>
                  <a:lnTo>
                    <a:pt x="0" y="2834640"/>
                  </a:lnTo>
                  <a:close/>
                </a:path>
              </a:pathLst>
            </a:custGeom>
            <a:blipFill>
              <a:blip r:embed="rId3">
                <a:alphaModFix amt="0"/>
              </a:blip>
              <a:stretch>
                <a:fillRect l="-11297" t="0" r="-11297" b="0"/>
              </a:stretch>
            </a:blipFill>
          </p:spPr>
        </p:sp>
        <p:sp>
          <p:nvSpPr>
            <p:cNvPr name="TextBox 23" id="23"/>
            <p:cNvSpPr txBox="true"/>
            <p:nvPr/>
          </p:nvSpPr>
          <p:spPr>
            <a:xfrm>
              <a:off x="0" y="0"/>
              <a:ext cx="5933237" cy="2834640"/>
            </a:xfrm>
            <a:prstGeom prst="rect">
              <a:avLst/>
            </a:prstGeom>
          </p:spPr>
          <p:txBody>
            <a:bodyPr anchor="ctr" rtlCol="false" tIns="0" lIns="0" bIns="0" rIns="0"/>
            <a:lstStyle/>
            <a:p>
              <a:pPr algn="l">
                <a:lnSpc>
                  <a:spcPts val="17280"/>
                </a:lnSpc>
              </a:pPr>
              <a:r>
                <a:rPr lang="en-US" sz="14400" b="true">
                  <a:solidFill>
                    <a:srgbClr val="11131B"/>
                  </a:solidFill>
                  <a:latin typeface="Noto Sans Bold"/>
                  <a:ea typeface="Noto Sans Bold"/>
                  <a:cs typeface="Noto Sans Bold"/>
                  <a:sym typeface="Noto Sans Bold"/>
                </a:rPr>
                <a:t>9</a:t>
              </a:r>
              <a:r>
                <a:rPr lang="en-US" sz="14400" b="true">
                  <a:solidFill>
                    <a:srgbClr val="747987"/>
                  </a:solidFill>
                  <a:latin typeface="Noto Sans Bold"/>
                  <a:ea typeface="Noto Sans Bold"/>
                  <a:cs typeface="Noto Sans Bold"/>
                  <a:sym typeface="Noto Sans Bold"/>
                </a:rPr>
                <a:t>회</a:t>
              </a:r>
            </a:p>
          </p:txBody>
        </p:sp>
      </p:grpSp>
      <p:grpSp>
        <p:nvGrpSpPr>
          <p:cNvPr name="Group 24" id="24"/>
          <p:cNvGrpSpPr/>
          <p:nvPr/>
        </p:nvGrpSpPr>
        <p:grpSpPr>
          <a:xfrm rot="0">
            <a:off x="1362075" y="6848475"/>
            <a:ext cx="1664970" cy="60198"/>
            <a:chOff x="0" y="0"/>
            <a:chExt cx="2219960" cy="80264"/>
          </a:xfrm>
        </p:grpSpPr>
        <p:sp>
          <p:nvSpPr>
            <p:cNvPr name="Freeform 25" id="25"/>
            <p:cNvSpPr/>
            <p:nvPr/>
          </p:nvSpPr>
          <p:spPr>
            <a:xfrm flipH="false" flipV="false" rot="0">
              <a:off x="0" y="0"/>
              <a:ext cx="2219960" cy="80264"/>
            </a:xfrm>
            <a:custGeom>
              <a:avLst/>
              <a:gdLst/>
              <a:ahLst/>
              <a:cxnLst/>
              <a:rect r="r" b="b" t="t" l="l"/>
              <a:pathLst>
                <a:path h="80264" w="2219960">
                  <a:moveTo>
                    <a:pt x="0" y="0"/>
                  </a:moveTo>
                  <a:lnTo>
                    <a:pt x="2219960" y="0"/>
                  </a:lnTo>
                  <a:lnTo>
                    <a:pt x="2219960" y="80264"/>
                  </a:lnTo>
                  <a:lnTo>
                    <a:pt x="0" y="80264"/>
                  </a:lnTo>
                  <a:close/>
                </a:path>
              </a:pathLst>
            </a:custGeom>
            <a:solidFill>
              <a:srgbClr val="3B73EE"/>
            </a:solidFill>
            <a:ln w="19050" cap="sq">
              <a:solidFill>
                <a:srgbClr val="3B73EE"/>
              </a:solidFill>
              <a:prstDash val="solid"/>
              <a:miter/>
            </a:ln>
          </p:spPr>
        </p:sp>
      </p:grpSp>
      <p:sp>
        <p:nvSpPr>
          <p:cNvPr name="TextBox 26" id="26"/>
          <p:cNvSpPr txBox="true"/>
          <p:nvPr/>
        </p:nvSpPr>
        <p:spPr>
          <a:xfrm rot="0">
            <a:off x="1371600" y="7177659"/>
            <a:ext cx="4449928" cy="419100"/>
          </a:xfrm>
          <a:prstGeom prst="rect">
            <a:avLst/>
          </a:prstGeom>
        </p:spPr>
        <p:txBody>
          <a:bodyPr anchor="t" rtlCol="false" tIns="0" lIns="0" bIns="0" rIns="0">
            <a:spAutoFit/>
          </a:bodyPr>
          <a:lstStyle/>
          <a:p>
            <a:pPr algn="l">
              <a:lnSpc>
                <a:spcPts val="3240"/>
              </a:lnSpc>
            </a:pPr>
            <a:r>
              <a:rPr lang="en-US" sz="2700" b="true">
                <a:solidFill>
                  <a:srgbClr val="11131B"/>
                </a:solidFill>
                <a:latin typeface="Noto Sans Bold"/>
                <a:ea typeface="Noto Sans Bold"/>
                <a:cs typeface="Noto Sans Bold"/>
                <a:sym typeface="Noto Sans Bold"/>
              </a:rPr>
              <a:t>추임새</a:t>
            </a:r>
          </a:p>
        </p:txBody>
      </p:sp>
      <p:sp>
        <p:nvSpPr>
          <p:cNvPr name="TextBox 27" id="27"/>
          <p:cNvSpPr txBox="true"/>
          <p:nvPr/>
        </p:nvSpPr>
        <p:spPr>
          <a:xfrm rot="0">
            <a:off x="1371600" y="7800213"/>
            <a:ext cx="4449928" cy="523875"/>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문장의 흐름을 끊는 단어 </a:t>
            </a:r>
          </a:p>
          <a:p>
            <a:pPr algn="l">
              <a:lnSpc>
                <a:spcPts val="2160"/>
              </a:lnSpc>
            </a:pPr>
            <a:r>
              <a:rPr lang="en-US" sz="1800">
                <a:solidFill>
                  <a:srgbClr val="747987"/>
                </a:solidFill>
                <a:latin typeface="Noto Sans"/>
                <a:ea typeface="Noto Sans"/>
                <a:cs typeface="Noto Sans"/>
                <a:sym typeface="Noto Sans"/>
              </a:rPr>
              <a:t>ex) 어 · 음 · 그</a:t>
            </a:r>
          </a:p>
        </p:txBody>
      </p:sp>
      <p:grpSp>
        <p:nvGrpSpPr>
          <p:cNvPr name="Group 28" id="28"/>
          <p:cNvGrpSpPr/>
          <p:nvPr/>
        </p:nvGrpSpPr>
        <p:grpSpPr>
          <a:xfrm rot="0">
            <a:off x="6918808" y="4457700"/>
            <a:ext cx="4449928" cy="2125980"/>
            <a:chOff x="0" y="0"/>
            <a:chExt cx="5933237" cy="2834640"/>
          </a:xfrm>
        </p:grpSpPr>
        <p:sp>
          <p:nvSpPr>
            <p:cNvPr name="Freeform 29" id="29"/>
            <p:cNvSpPr/>
            <p:nvPr/>
          </p:nvSpPr>
          <p:spPr>
            <a:xfrm flipH="false" flipV="false" rot="0">
              <a:off x="0" y="0"/>
              <a:ext cx="5933236" cy="2834640"/>
            </a:xfrm>
            <a:custGeom>
              <a:avLst/>
              <a:gdLst/>
              <a:ahLst/>
              <a:cxnLst/>
              <a:rect r="r" b="b" t="t" l="l"/>
              <a:pathLst>
                <a:path h="2834640" w="5933236">
                  <a:moveTo>
                    <a:pt x="0" y="0"/>
                  </a:moveTo>
                  <a:lnTo>
                    <a:pt x="5933236" y="0"/>
                  </a:lnTo>
                  <a:lnTo>
                    <a:pt x="5933236" y="2834640"/>
                  </a:lnTo>
                  <a:lnTo>
                    <a:pt x="0" y="2834640"/>
                  </a:lnTo>
                  <a:close/>
                </a:path>
              </a:pathLst>
            </a:custGeom>
            <a:blipFill>
              <a:blip r:embed="rId3">
                <a:alphaModFix amt="0"/>
              </a:blip>
              <a:stretch>
                <a:fillRect l="-11297" t="0" r="-11297" b="0"/>
              </a:stretch>
            </a:blipFill>
          </p:spPr>
        </p:sp>
        <p:sp>
          <p:nvSpPr>
            <p:cNvPr name="TextBox 30" id="30"/>
            <p:cNvSpPr txBox="true"/>
            <p:nvPr/>
          </p:nvSpPr>
          <p:spPr>
            <a:xfrm>
              <a:off x="0" y="0"/>
              <a:ext cx="5933237" cy="2834640"/>
            </a:xfrm>
            <a:prstGeom prst="rect">
              <a:avLst/>
            </a:prstGeom>
          </p:spPr>
          <p:txBody>
            <a:bodyPr anchor="ctr" rtlCol="false" tIns="0" lIns="0" bIns="0" rIns="0"/>
            <a:lstStyle/>
            <a:p>
              <a:pPr algn="l">
                <a:lnSpc>
                  <a:spcPts val="17280"/>
                </a:lnSpc>
              </a:pPr>
              <a:r>
                <a:rPr lang="en-US" sz="14400" b="true">
                  <a:solidFill>
                    <a:srgbClr val="11131B"/>
                  </a:solidFill>
                  <a:latin typeface="Noto Sans Bold"/>
                  <a:ea typeface="Noto Sans Bold"/>
                  <a:cs typeface="Noto Sans Bold"/>
                  <a:sym typeface="Noto Sans Bold"/>
                </a:rPr>
                <a:t>4</a:t>
              </a:r>
              <a:r>
                <a:rPr lang="en-US" sz="14400" b="true">
                  <a:solidFill>
                    <a:srgbClr val="747987"/>
                  </a:solidFill>
                  <a:latin typeface="Noto Sans Bold"/>
                  <a:ea typeface="Noto Sans Bold"/>
                  <a:cs typeface="Noto Sans Bold"/>
                  <a:sym typeface="Noto Sans Bold"/>
                </a:rPr>
                <a:t>회</a:t>
              </a:r>
            </a:p>
          </p:txBody>
        </p:sp>
      </p:grpSp>
      <p:grpSp>
        <p:nvGrpSpPr>
          <p:cNvPr name="Group 31" id="31"/>
          <p:cNvGrpSpPr/>
          <p:nvPr/>
        </p:nvGrpSpPr>
        <p:grpSpPr>
          <a:xfrm rot="0">
            <a:off x="6909283" y="6848475"/>
            <a:ext cx="1664970" cy="60198"/>
            <a:chOff x="0" y="0"/>
            <a:chExt cx="2219960" cy="80264"/>
          </a:xfrm>
        </p:grpSpPr>
        <p:sp>
          <p:nvSpPr>
            <p:cNvPr name="Freeform 32" id="32"/>
            <p:cNvSpPr/>
            <p:nvPr/>
          </p:nvSpPr>
          <p:spPr>
            <a:xfrm flipH="false" flipV="false" rot="0">
              <a:off x="0" y="0"/>
              <a:ext cx="2219960" cy="80264"/>
            </a:xfrm>
            <a:custGeom>
              <a:avLst/>
              <a:gdLst/>
              <a:ahLst/>
              <a:cxnLst/>
              <a:rect r="r" b="b" t="t" l="l"/>
              <a:pathLst>
                <a:path h="80264" w="2219960">
                  <a:moveTo>
                    <a:pt x="0" y="0"/>
                  </a:moveTo>
                  <a:lnTo>
                    <a:pt x="2219960" y="0"/>
                  </a:lnTo>
                  <a:lnTo>
                    <a:pt x="2219960" y="80264"/>
                  </a:lnTo>
                  <a:lnTo>
                    <a:pt x="0" y="80264"/>
                  </a:lnTo>
                  <a:close/>
                </a:path>
              </a:pathLst>
            </a:custGeom>
            <a:solidFill>
              <a:srgbClr val="3B73EE"/>
            </a:solidFill>
            <a:ln w="19050" cap="sq">
              <a:solidFill>
                <a:srgbClr val="3B73EE"/>
              </a:solidFill>
              <a:prstDash val="solid"/>
              <a:miter/>
            </a:ln>
          </p:spPr>
        </p:sp>
      </p:grpSp>
      <p:sp>
        <p:nvSpPr>
          <p:cNvPr name="TextBox 33" id="33"/>
          <p:cNvSpPr txBox="true"/>
          <p:nvPr/>
        </p:nvSpPr>
        <p:spPr>
          <a:xfrm rot="0">
            <a:off x="6918808" y="7177659"/>
            <a:ext cx="4449928" cy="419100"/>
          </a:xfrm>
          <a:prstGeom prst="rect">
            <a:avLst/>
          </a:prstGeom>
        </p:spPr>
        <p:txBody>
          <a:bodyPr anchor="t" rtlCol="false" tIns="0" lIns="0" bIns="0" rIns="0">
            <a:spAutoFit/>
          </a:bodyPr>
          <a:lstStyle/>
          <a:p>
            <a:pPr algn="l">
              <a:lnSpc>
                <a:spcPts val="3240"/>
              </a:lnSpc>
            </a:pPr>
            <a:r>
              <a:rPr lang="en-US" sz="2700" b="true">
                <a:solidFill>
                  <a:srgbClr val="11131B"/>
                </a:solidFill>
                <a:latin typeface="Noto Sans Bold"/>
                <a:ea typeface="Noto Sans Bold"/>
                <a:cs typeface="Noto Sans Bold"/>
                <a:sym typeface="Noto Sans Bold"/>
              </a:rPr>
              <a:t>침묵</a:t>
            </a:r>
          </a:p>
        </p:txBody>
      </p:sp>
      <p:sp>
        <p:nvSpPr>
          <p:cNvPr name="TextBox 34" id="34"/>
          <p:cNvSpPr txBox="true"/>
          <p:nvPr/>
        </p:nvSpPr>
        <p:spPr>
          <a:xfrm rot="0">
            <a:off x="6918808" y="7800213"/>
            <a:ext cx="4449928" cy="257175"/>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말이 끊긴 구간</a:t>
            </a:r>
          </a:p>
        </p:txBody>
      </p:sp>
      <p:grpSp>
        <p:nvGrpSpPr>
          <p:cNvPr name="Group 35" id="35"/>
          <p:cNvGrpSpPr/>
          <p:nvPr/>
        </p:nvGrpSpPr>
        <p:grpSpPr>
          <a:xfrm rot="0">
            <a:off x="12466015" y="4457700"/>
            <a:ext cx="4449928" cy="2125980"/>
            <a:chOff x="0" y="0"/>
            <a:chExt cx="5933237" cy="2834640"/>
          </a:xfrm>
        </p:grpSpPr>
        <p:sp>
          <p:nvSpPr>
            <p:cNvPr name="Freeform 36" id="36"/>
            <p:cNvSpPr/>
            <p:nvPr/>
          </p:nvSpPr>
          <p:spPr>
            <a:xfrm flipH="false" flipV="false" rot="0">
              <a:off x="0" y="0"/>
              <a:ext cx="5933236" cy="2834640"/>
            </a:xfrm>
            <a:custGeom>
              <a:avLst/>
              <a:gdLst/>
              <a:ahLst/>
              <a:cxnLst/>
              <a:rect r="r" b="b" t="t" l="l"/>
              <a:pathLst>
                <a:path h="2834640" w="5933236">
                  <a:moveTo>
                    <a:pt x="0" y="0"/>
                  </a:moveTo>
                  <a:lnTo>
                    <a:pt x="5933236" y="0"/>
                  </a:lnTo>
                  <a:lnTo>
                    <a:pt x="5933236" y="2834640"/>
                  </a:lnTo>
                  <a:lnTo>
                    <a:pt x="0" y="2834640"/>
                  </a:lnTo>
                  <a:close/>
                </a:path>
              </a:pathLst>
            </a:custGeom>
            <a:blipFill>
              <a:blip r:embed="rId3">
                <a:alphaModFix amt="0"/>
              </a:blip>
              <a:stretch>
                <a:fillRect l="-11297" t="0" r="-11297" b="0"/>
              </a:stretch>
            </a:blipFill>
          </p:spPr>
        </p:sp>
        <p:sp>
          <p:nvSpPr>
            <p:cNvPr name="TextBox 37" id="37"/>
            <p:cNvSpPr txBox="true"/>
            <p:nvPr/>
          </p:nvSpPr>
          <p:spPr>
            <a:xfrm>
              <a:off x="0" y="0"/>
              <a:ext cx="5933237" cy="2834640"/>
            </a:xfrm>
            <a:prstGeom prst="rect">
              <a:avLst/>
            </a:prstGeom>
          </p:spPr>
          <p:txBody>
            <a:bodyPr anchor="ctr" rtlCol="false" tIns="0" lIns="0" bIns="0" rIns="0"/>
            <a:lstStyle/>
            <a:p>
              <a:pPr algn="l">
                <a:lnSpc>
                  <a:spcPts val="17280"/>
                </a:lnSpc>
              </a:pPr>
              <a:r>
                <a:rPr lang="en-US" sz="14400" b="true">
                  <a:solidFill>
                    <a:srgbClr val="11131B"/>
                  </a:solidFill>
                  <a:latin typeface="Noto Sans Bold"/>
                  <a:ea typeface="Noto Sans Bold"/>
                  <a:cs typeface="Noto Sans Bold"/>
                  <a:sym typeface="Noto Sans Bold"/>
                </a:rPr>
                <a:t>3</a:t>
              </a:r>
              <a:r>
                <a:rPr lang="en-US" sz="14400" b="true">
                  <a:solidFill>
                    <a:srgbClr val="747987"/>
                  </a:solidFill>
                  <a:latin typeface="Noto Sans Bold"/>
                  <a:ea typeface="Noto Sans Bold"/>
                  <a:cs typeface="Noto Sans Bold"/>
                  <a:sym typeface="Noto Sans Bold"/>
                </a:rPr>
                <a:t>회</a:t>
              </a:r>
            </a:p>
          </p:txBody>
        </p:sp>
      </p:grpSp>
      <p:grpSp>
        <p:nvGrpSpPr>
          <p:cNvPr name="Group 38" id="38"/>
          <p:cNvGrpSpPr/>
          <p:nvPr/>
        </p:nvGrpSpPr>
        <p:grpSpPr>
          <a:xfrm rot="0">
            <a:off x="12456490" y="6848475"/>
            <a:ext cx="1664970" cy="60198"/>
            <a:chOff x="0" y="0"/>
            <a:chExt cx="2219960" cy="80264"/>
          </a:xfrm>
        </p:grpSpPr>
        <p:sp>
          <p:nvSpPr>
            <p:cNvPr name="Freeform 39" id="39"/>
            <p:cNvSpPr/>
            <p:nvPr/>
          </p:nvSpPr>
          <p:spPr>
            <a:xfrm flipH="false" flipV="false" rot="0">
              <a:off x="0" y="0"/>
              <a:ext cx="2219960" cy="80264"/>
            </a:xfrm>
            <a:custGeom>
              <a:avLst/>
              <a:gdLst/>
              <a:ahLst/>
              <a:cxnLst/>
              <a:rect r="r" b="b" t="t" l="l"/>
              <a:pathLst>
                <a:path h="80264" w="2219960">
                  <a:moveTo>
                    <a:pt x="0" y="0"/>
                  </a:moveTo>
                  <a:lnTo>
                    <a:pt x="2219960" y="0"/>
                  </a:lnTo>
                  <a:lnTo>
                    <a:pt x="2219960" y="80264"/>
                  </a:lnTo>
                  <a:lnTo>
                    <a:pt x="0" y="80264"/>
                  </a:lnTo>
                  <a:close/>
                </a:path>
              </a:pathLst>
            </a:custGeom>
            <a:solidFill>
              <a:srgbClr val="3B73EE"/>
            </a:solidFill>
            <a:ln w="19050" cap="sq">
              <a:solidFill>
                <a:srgbClr val="3B73EE"/>
              </a:solidFill>
              <a:prstDash val="solid"/>
              <a:miter/>
            </a:ln>
          </p:spPr>
        </p:sp>
      </p:grpSp>
      <p:sp>
        <p:nvSpPr>
          <p:cNvPr name="TextBox 40" id="40"/>
          <p:cNvSpPr txBox="true"/>
          <p:nvPr/>
        </p:nvSpPr>
        <p:spPr>
          <a:xfrm rot="0">
            <a:off x="12466015" y="7177659"/>
            <a:ext cx="4449928" cy="558165"/>
          </a:xfrm>
          <a:prstGeom prst="rect">
            <a:avLst/>
          </a:prstGeom>
        </p:spPr>
        <p:txBody>
          <a:bodyPr anchor="t" rtlCol="false" tIns="0" lIns="0" bIns="0" rIns="0">
            <a:spAutoFit/>
          </a:bodyPr>
          <a:lstStyle/>
          <a:p>
            <a:pPr algn="l">
              <a:lnSpc>
                <a:spcPts val="3240"/>
              </a:lnSpc>
            </a:pPr>
            <a:r>
              <a:rPr lang="en-US" sz="2700" b="true">
                <a:solidFill>
                  <a:srgbClr val="11131B"/>
                </a:solidFill>
                <a:latin typeface="Noto Sans Bold"/>
                <a:ea typeface="Noto Sans Bold"/>
                <a:cs typeface="Noto Sans Bold"/>
                <a:sym typeface="Noto Sans Bold"/>
              </a:rPr>
              <a:t>시선 이탈</a:t>
            </a:r>
          </a:p>
        </p:txBody>
      </p:sp>
      <p:sp>
        <p:nvSpPr>
          <p:cNvPr name="TextBox 41" id="41"/>
          <p:cNvSpPr txBox="true"/>
          <p:nvPr/>
        </p:nvSpPr>
        <p:spPr>
          <a:xfrm rot="0">
            <a:off x="12466015" y="7800213"/>
            <a:ext cx="4449928" cy="470535"/>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청중을 벗어난 시선</a:t>
            </a:r>
          </a:p>
        </p:txBody>
      </p:sp>
      <p:sp>
        <p:nvSpPr>
          <p:cNvPr name="TextBox 42" id="42"/>
          <p:cNvSpPr txBox="true"/>
          <p:nvPr/>
        </p:nvSpPr>
        <p:spPr>
          <a:xfrm rot="0">
            <a:off x="1371600" y="8924925"/>
            <a:ext cx="15544343" cy="429387"/>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실제 연습 1회 분석 결과 예시 — 지표는 발화 구간 기준으로 집계합니다.</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9FE"/>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08</a:t>
              </a:r>
            </a:p>
          </p:txBody>
        </p:sp>
      </p:grpSp>
      <p:grpSp>
        <p:nvGrpSpPr>
          <p:cNvPr name="Group 17" id="17"/>
          <p:cNvGrpSpPr/>
          <p:nvPr/>
        </p:nvGrpSpPr>
        <p:grpSpPr>
          <a:xfrm rot="0">
            <a:off x="1371600" y="3017520"/>
            <a:ext cx="15544343" cy="3566160"/>
            <a:chOff x="0" y="0"/>
            <a:chExt cx="20725790" cy="4754880"/>
          </a:xfrm>
        </p:grpSpPr>
        <p:sp>
          <p:nvSpPr>
            <p:cNvPr name="Freeform 18" id="18"/>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19" id="19"/>
            <p:cNvSpPr txBox="true"/>
            <p:nvPr/>
          </p:nvSpPr>
          <p:spPr>
            <a:xfrm>
              <a:off x="0" y="-209550"/>
              <a:ext cx="20725790" cy="4964430"/>
            </a:xfrm>
            <a:prstGeom prst="rect">
              <a:avLst/>
            </a:prstGeom>
          </p:spPr>
          <p:txBody>
            <a:bodyPr anchor="ctr" rtlCol="false" tIns="0" lIns="0" bIns="0" rIns="0"/>
            <a:lstStyle/>
            <a:p>
              <a:pPr algn="l">
                <a:lnSpc>
                  <a:spcPts val="12528"/>
                </a:lnSpc>
              </a:pPr>
              <a:r>
                <a:rPr lang="en-US" sz="8700" b="true">
                  <a:solidFill>
                    <a:srgbClr val="11131B"/>
                  </a:solidFill>
                  <a:latin typeface="Noto Sans Bold"/>
                  <a:ea typeface="Noto Sans Bold"/>
                  <a:cs typeface="Noto Sans Bold"/>
                  <a:sym typeface="Noto Sans Bold"/>
                </a:rPr>
                <a:t>나는 관대하다.</a:t>
              </a:r>
            </a:p>
            <a:p>
              <a:pPr algn="l">
                <a:lnSpc>
                  <a:spcPts val="12528"/>
                </a:lnSpc>
              </a:pPr>
              <a:r>
                <a:rPr lang="en-US" sz="8700" b="true">
                  <a:solidFill>
                    <a:srgbClr val="11131B"/>
                  </a:solidFill>
                  <a:latin typeface="Noto Sans Bold"/>
                  <a:ea typeface="Noto Sans Bold"/>
                  <a:cs typeface="Noto Sans Bold"/>
                  <a:sym typeface="Noto Sans Bold"/>
                </a:rPr>
                <a:t>스스로에게.</a:t>
              </a:r>
            </a:p>
          </p:txBody>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09</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문제 정의</a:t>
            </a:r>
          </a:p>
        </p:txBody>
      </p:sp>
      <p:grpSp>
        <p:nvGrpSpPr>
          <p:cNvPr name="Group 18" id="18"/>
          <p:cNvGrpSpPr/>
          <p:nvPr/>
        </p:nvGrpSpPr>
        <p:grpSpPr>
          <a:xfrm rot="0">
            <a:off x="1371600" y="2948940"/>
            <a:ext cx="15544343" cy="2743200"/>
            <a:chOff x="0" y="0"/>
            <a:chExt cx="20725790" cy="3657600"/>
          </a:xfrm>
        </p:grpSpPr>
        <p:sp>
          <p:nvSpPr>
            <p:cNvPr name="Freeform 19" id="19"/>
            <p:cNvSpPr/>
            <p:nvPr/>
          </p:nvSpPr>
          <p:spPr>
            <a:xfrm flipH="false" flipV="false" rot="0">
              <a:off x="0" y="0"/>
              <a:ext cx="20725791" cy="3657600"/>
            </a:xfrm>
            <a:custGeom>
              <a:avLst/>
              <a:gdLst/>
              <a:ahLst/>
              <a:cxnLst/>
              <a:rect r="r" b="b" t="t" l="l"/>
              <a:pathLst>
                <a:path h="3657600" w="20725791">
                  <a:moveTo>
                    <a:pt x="0" y="0"/>
                  </a:moveTo>
                  <a:lnTo>
                    <a:pt x="20725791" y="0"/>
                  </a:lnTo>
                  <a:lnTo>
                    <a:pt x="20725791" y="3657600"/>
                  </a:lnTo>
                  <a:lnTo>
                    <a:pt x="0" y="3657600"/>
                  </a:lnTo>
                  <a:close/>
                </a:path>
              </a:pathLst>
            </a:custGeom>
            <a:blipFill>
              <a:blip r:embed="rId3">
                <a:alphaModFix amt="0"/>
              </a:blip>
              <a:stretch>
                <a:fillRect l="0" t="-60411" r="0" b="-60411"/>
              </a:stretch>
            </a:blipFill>
          </p:spPr>
        </p:sp>
        <p:sp>
          <p:nvSpPr>
            <p:cNvPr name="TextBox 20" id="20"/>
            <p:cNvSpPr txBox="true"/>
            <p:nvPr/>
          </p:nvSpPr>
          <p:spPr>
            <a:xfrm>
              <a:off x="0" y="-161925"/>
              <a:ext cx="20725790" cy="3819525"/>
            </a:xfrm>
            <a:prstGeom prst="rect">
              <a:avLst/>
            </a:prstGeom>
          </p:spPr>
          <p:txBody>
            <a:bodyPr anchor="ctr" rtlCol="false" tIns="0" lIns="0" bIns="0" rIns="0"/>
            <a:lstStyle/>
            <a:p>
              <a:pPr algn="l">
                <a:lnSpc>
                  <a:spcPts val="8928"/>
                </a:lnSpc>
              </a:pPr>
              <a:r>
                <a:rPr lang="en-US" sz="6000" b="true">
                  <a:solidFill>
                    <a:srgbClr val="11131B"/>
                  </a:solidFill>
                  <a:latin typeface="Noto Sans Bold"/>
                  <a:ea typeface="Noto Sans Bold"/>
                  <a:cs typeface="Noto Sans Bold"/>
                  <a:sym typeface="Noto Sans Bold"/>
                </a:rPr>
                <a:t>대학생의 발표 자기평가 점수는</a:t>
              </a:r>
            </a:p>
            <a:p>
              <a:pPr algn="l">
                <a:lnSpc>
                  <a:spcPts val="8928"/>
                </a:lnSpc>
              </a:pPr>
              <a:r>
                <a:rPr lang="en-US" sz="6000" b="true">
                  <a:solidFill>
                    <a:srgbClr val="11131B"/>
                  </a:solidFill>
                  <a:latin typeface="Noto Sans Bold"/>
                  <a:ea typeface="Noto Sans Bold"/>
                  <a:cs typeface="Noto Sans Bold"/>
                  <a:sym typeface="Noto Sans Bold"/>
                </a:rPr>
                <a:t>대부분 교사의 평가보다 높았다.</a:t>
              </a:r>
            </a:p>
          </p:txBody>
        </p:sp>
      </p:grpSp>
      <p:grpSp>
        <p:nvGrpSpPr>
          <p:cNvPr name="Group 21" id="21"/>
          <p:cNvGrpSpPr/>
          <p:nvPr/>
        </p:nvGrpSpPr>
        <p:grpSpPr>
          <a:xfrm rot="0">
            <a:off x="1362075" y="6162675"/>
            <a:ext cx="2213610" cy="60198"/>
            <a:chOff x="0" y="0"/>
            <a:chExt cx="2951480" cy="80264"/>
          </a:xfrm>
        </p:grpSpPr>
        <p:sp>
          <p:nvSpPr>
            <p:cNvPr name="Freeform 22" id="22"/>
            <p:cNvSpPr/>
            <p:nvPr/>
          </p:nvSpPr>
          <p:spPr>
            <a:xfrm flipH="false" flipV="false" rot="0">
              <a:off x="0" y="0"/>
              <a:ext cx="2951480" cy="80264"/>
            </a:xfrm>
            <a:custGeom>
              <a:avLst/>
              <a:gdLst/>
              <a:ahLst/>
              <a:cxnLst/>
              <a:rect r="r" b="b" t="t" l="l"/>
              <a:pathLst>
                <a:path h="80264" w="2951480">
                  <a:moveTo>
                    <a:pt x="0" y="0"/>
                  </a:moveTo>
                  <a:lnTo>
                    <a:pt x="2951480" y="0"/>
                  </a:lnTo>
                  <a:lnTo>
                    <a:pt x="2951480" y="80264"/>
                  </a:lnTo>
                  <a:lnTo>
                    <a:pt x="0" y="80264"/>
                  </a:lnTo>
                  <a:close/>
                </a:path>
              </a:pathLst>
            </a:custGeom>
            <a:solidFill>
              <a:srgbClr val="3B73EE"/>
            </a:solidFill>
            <a:ln w="19050" cap="sq">
              <a:solidFill>
                <a:srgbClr val="3B73EE"/>
              </a:solidFill>
              <a:prstDash val="solid"/>
              <a:miter/>
            </a:ln>
          </p:spPr>
        </p:sp>
      </p:grpSp>
      <p:sp>
        <p:nvSpPr>
          <p:cNvPr name="TextBox 23" id="23"/>
          <p:cNvSpPr txBox="true"/>
          <p:nvPr/>
        </p:nvSpPr>
        <p:spPr>
          <a:xfrm rot="0">
            <a:off x="1371600" y="6556248"/>
            <a:ext cx="15544343" cy="480060"/>
          </a:xfrm>
          <a:prstGeom prst="rect">
            <a:avLst/>
          </a:prstGeom>
        </p:spPr>
        <p:txBody>
          <a:bodyPr anchor="t" rtlCol="false" tIns="0" lIns="0" bIns="0" rIns="0">
            <a:spAutoFit/>
          </a:bodyPr>
          <a:lstStyle/>
          <a:p>
            <a:pPr algn="l">
              <a:lnSpc>
                <a:spcPts val="2520"/>
              </a:lnSpc>
            </a:pPr>
            <a:r>
              <a:rPr lang="en-US" sz="2100" b="true">
                <a:solidFill>
                  <a:srgbClr val="1F4FC4"/>
                </a:solidFill>
                <a:latin typeface="Noto Sans Bold"/>
                <a:ea typeface="Noto Sans Bold"/>
                <a:cs typeface="Noto Sans Bold"/>
                <a:sym typeface="Noto Sans Bold"/>
              </a:rPr>
              <a:t>De Grez, Valcke, &amp; Roozen (2012)</a:t>
            </a:r>
          </a:p>
        </p:txBody>
      </p:sp>
      <p:sp>
        <p:nvSpPr>
          <p:cNvPr name="TextBox 24" id="24"/>
          <p:cNvSpPr txBox="true"/>
          <p:nvPr/>
        </p:nvSpPr>
        <p:spPr>
          <a:xfrm rot="0">
            <a:off x="1371600" y="7050024"/>
            <a:ext cx="15544343" cy="480060"/>
          </a:xfrm>
          <a:prstGeom prst="rect">
            <a:avLst/>
          </a:prstGeom>
        </p:spPr>
        <p:txBody>
          <a:bodyPr anchor="t" rtlCol="false" tIns="0" lIns="0" bIns="0" rIns="0">
            <a:spAutoFit/>
          </a:bodyPr>
          <a:lstStyle/>
          <a:p>
            <a:pPr algn="l">
              <a:lnSpc>
                <a:spcPts val="2250"/>
              </a:lnSpc>
            </a:pPr>
            <a:r>
              <a:rPr lang="en-US" sz="1875" i="true">
                <a:solidFill>
                  <a:srgbClr val="747987"/>
                </a:solidFill>
                <a:latin typeface="Noto Sans Italics"/>
                <a:ea typeface="Noto Sans Italics"/>
                <a:cs typeface="Noto Sans Italics"/>
                <a:sym typeface="Noto Sans Italics"/>
              </a:rPr>
              <a:t>Active Learning in Higher Education</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D0E12"/>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10</a:t>
              </a:r>
            </a:p>
          </p:txBody>
        </p:sp>
      </p:grpSp>
      <p:grpSp>
        <p:nvGrpSpPr>
          <p:cNvPr name="Group 17" id="17"/>
          <p:cNvGrpSpPr/>
          <p:nvPr/>
        </p:nvGrpSpPr>
        <p:grpSpPr>
          <a:xfrm rot="0">
            <a:off x="1371600" y="3017520"/>
            <a:ext cx="15544343" cy="3566160"/>
            <a:chOff x="0" y="0"/>
            <a:chExt cx="20725790" cy="4754880"/>
          </a:xfrm>
        </p:grpSpPr>
        <p:sp>
          <p:nvSpPr>
            <p:cNvPr name="Freeform 18" id="18"/>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19" id="19"/>
            <p:cNvSpPr txBox="true"/>
            <p:nvPr/>
          </p:nvSpPr>
          <p:spPr>
            <a:xfrm>
              <a:off x="0" y="-161925"/>
              <a:ext cx="20725790" cy="4916805"/>
            </a:xfrm>
            <a:prstGeom prst="rect">
              <a:avLst/>
            </a:prstGeom>
          </p:spPr>
          <p:txBody>
            <a:bodyPr anchor="ctr" rtlCol="false" tIns="0" lIns="0" bIns="0" rIns="0"/>
            <a:lstStyle/>
            <a:p>
              <a:pPr algn="l">
                <a:lnSpc>
                  <a:spcPts val="9936"/>
                </a:lnSpc>
              </a:pPr>
              <a:r>
                <a:rPr lang="en-US" sz="6900" b="true">
                  <a:solidFill>
                    <a:srgbClr val="FFFFFF"/>
                  </a:solidFill>
                  <a:latin typeface="Noto Sans Bold"/>
                  <a:ea typeface="Noto Sans Bold"/>
                  <a:cs typeface="Noto Sans Bold"/>
                  <a:sym typeface="Noto Sans Bold"/>
                </a:rPr>
                <a:t>혼자서는 스스로의 발표를</a:t>
              </a:r>
            </a:p>
            <a:p>
              <a:pPr algn="l">
                <a:lnSpc>
                  <a:spcPts val="9936"/>
                </a:lnSpc>
              </a:pPr>
              <a:r>
                <a:rPr lang="en-US" sz="6900" b="true">
                  <a:solidFill>
                    <a:srgbClr val="FFFFFF"/>
                  </a:solidFill>
                  <a:latin typeface="Noto Sans Bold"/>
                  <a:ea typeface="Noto Sans Bold"/>
                  <a:cs typeface="Noto Sans Bold"/>
                  <a:sym typeface="Noto Sans Bold"/>
                </a:rPr>
                <a:t>객관적으로 보기 어렵습니다.</a:t>
              </a:r>
            </a:p>
          </p:txBody>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11</a:t>
              </a:r>
            </a:p>
          </p:txBody>
        </p:sp>
      </p:grpSp>
      <p:grpSp>
        <p:nvGrpSpPr>
          <p:cNvPr name="Group 17" id="17"/>
          <p:cNvGrpSpPr/>
          <p:nvPr/>
        </p:nvGrpSpPr>
        <p:grpSpPr>
          <a:xfrm rot="0">
            <a:off x="1362075" y="3899535"/>
            <a:ext cx="1596390" cy="60198"/>
            <a:chOff x="0" y="0"/>
            <a:chExt cx="2128520" cy="80264"/>
          </a:xfrm>
        </p:grpSpPr>
        <p:sp>
          <p:nvSpPr>
            <p:cNvPr name="Freeform 18" id="18"/>
            <p:cNvSpPr/>
            <p:nvPr/>
          </p:nvSpPr>
          <p:spPr>
            <a:xfrm flipH="false" flipV="false" rot="0">
              <a:off x="0" y="0"/>
              <a:ext cx="2128520" cy="80264"/>
            </a:xfrm>
            <a:custGeom>
              <a:avLst/>
              <a:gdLst/>
              <a:ahLst/>
              <a:cxnLst/>
              <a:rect r="r" b="b" t="t" l="l"/>
              <a:pathLst>
                <a:path h="80264" w="2128520">
                  <a:moveTo>
                    <a:pt x="0" y="0"/>
                  </a:moveTo>
                  <a:lnTo>
                    <a:pt x="2128520" y="0"/>
                  </a:lnTo>
                  <a:lnTo>
                    <a:pt x="2128520" y="80264"/>
                  </a:lnTo>
                  <a:lnTo>
                    <a:pt x="0" y="80264"/>
                  </a:lnTo>
                  <a:close/>
                </a:path>
              </a:pathLst>
            </a:custGeom>
            <a:solidFill>
              <a:srgbClr val="3B73EE"/>
            </a:solidFill>
            <a:ln w="19050" cap="sq">
              <a:solidFill>
                <a:srgbClr val="3B73EE"/>
              </a:solidFill>
              <a:prstDash val="solid"/>
              <a:miter/>
            </a:ln>
          </p:spPr>
        </p:sp>
      </p:grpSp>
      <p:grpSp>
        <p:nvGrpSpPr>
          <p:cNvPr name="Group 19" id="19"/>
          <p:cNvGrpSpPr/>
          <p:nvPr/>
        </p:nvGrpSpPr>
        <p:grpSpPr>
          <a:xfrm rot="0">
            <a:off x="1362075" y="5202555"/>
            <a:ext cx="15563393" cy="38252"/>
            <a:chOff x="0" y="0"/>
            <a:chExt cx="20751190" cy="51003"/>
          </a:xfrm>
        </p:grpSpPr>
        <p:sp>
          <p:nvSpPr>
            <p:cNvPr name="Freeform 20" id="2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CEEF4"/>
            </a:solidFill>
            <a:ln w="19050" cap="sq">
              <a:solidFill>
                <a:srgbClr val="ECEEF4"/>
              </a:solidFill>
              <a:prstDash val="solid"/>
              <a:miter/>
            </a:ln>
          </p:spPr>
        </p:sp>
      </p:grpSp>
      <p:grpSp>
        <p:nvGrpSpPr>
          <p:cNvPr name="Group 21" id="21"/>
          <p:cNvGrpSpPr/>
          <p:nvPr/>
        </p:nvGrpSpPr>
        <p:grpSpPr>
          <a:xfrm rot="0">
            <a:off x="1362075" y="5476875"/>
            <a:ext cx="1596390" cy="60198"/>
            <a:chOff x="0" y="0"/>
            <a:chExt cx="2128520" cy="80264"/>
          </a:xfrm>
        </p:grpSpPr>
        <p:sp>
          <p:nvSpPr>
            <p:cNvPr name="Freeform 22" id="22"/>
            <p:cNvSpPr/>
            <p:nvPr/>
          </p:nvSpPr>
          <p:spPr>
            <a:xfrm flipH="false" flipV="false" rot="0">
              <a:off x="0" y="0"/>
              <a:ext cx="2128520" cy="80264"/>
            </a:xfrm>
            <a:custGeom>
              <a:avLst/>
              <a:gdLst/>
              <a:ahLst/>
              <a:cxnLst/>
              <a:rect r="r" b="b" t="t" l="l"/>
              <a:pathLst>
                <a:path h="80264" w="2128520">
                  <a:moveTo>
                    <a:pt x="0" y="0"/>
                  </a:moveTo>
                  <a:lnTo>
                    <a:pt x="2128520" y="0"/>
                  </a:lnTo>
                  <a:lnTo>
                    <a:pt x="2128520" y="80264"/>
                  </a:lnTo>
                  <a:lnTo>
                    <a:pt x="0" y="80264"/>
                  </a:lnTo>
                  <a:close/>
                </a:path>
              </a:pathLst>
            </a:custGeom>
            <a:solidFill>
              <a:srgbClr val="928AF7"/>
            </a:solidFill>
            <a:ln w="19050" cap="sq">
              <a:solidFill>
                <a:srgbClr val="928AF7"/>
              </a:solidFill>
              <a:prstDash val="solid"/>
              <a:miter/>
            </a:ln>
          </p:spPr>
        </p:sp>
      </p:grpSp>
      <p:grpSp>
        <p:nvGrpSpPr>
          <p:cNvPr name="Group 23" id="23"/>
          <p:cNvGrpSpPr/>
          <p:nvPr/>
        </p:nvGrpSpPr>
        <p:grpSpPr>
          <a:xfrm rot="0">
            <a:off x="1362075" y="6779895"/>
            <a:ext cx="15563393" cy="38252"/>
            <a:chOff x="0" y="0"/>
            <a:chExt cx="20751190" cy="51003"/>
          </a:xfrm>
        </p:grpSpPr>
        <p:sp>
          <p:nvSpPr>
            <p:cNvPr name="Freeform 24" id="24"/>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CEEF4"/>
            </a:solidFill>
            <a:ln w="19050" cap="sq">
              <a:solidFill>
                <a:srgbClr val="ECEEF4"/>
              </a:solidFill>
              <a:prstDash val="solid"/>
              <a:miter/>
            </a:ln>
          </p:spPr>
        </p:sp>
      </p:grpSp>
      <p:grpSp>
        <p:nvGrpSpPr>
          <p:cNvPr name="Group 25" id="25"/>
          <p:cNvGrpSpPr/>
          <p:nvPr/>
        </p:nvGrpSpPr>
        <p:grpSpPr>
          <a:xfrm rot="0">
            <a:off x="1362075" y="7054215"/>
            <a:ext cx="1596390" cy="60198"/>
            <a:chOff x="0" y="0"/>
            <a:chExt cx="2128520" cy="80264"/>
          </a:xfrm>
        </p:grpSpPr>
        <p:sp>
          <p:nvSpPr>
            <p:cNvPr name="Freeform 26" id="26"/>
            <p:cNvSpPr/>
            <p:nvPr/>
          </p:nvSpPr>
          <p:spPr>
            <a:xfrm flipH="false" flipV="false" rot="0">
              <a:off x="0" y="0"/>
              <a:ext cx="2128520" cy="80264"/>
            </a:xfrm>
            <a:custGeom>
              <a:avLst/>
              <a:gdLst/>
              <a:ahLst/>
              <a:cxnLst/>
              <a:rect r="r" b="b" t="t" l="l"/>
              <a:pathLst>
                <a:path h="80264" w="2128520">
                  <a:moveTo>
                    <a:pt x="0" y="0"/>
                  </a:moveTo>
                  <a:lnTo>
                    <a:pt x="2128520" y="0"/>
                  </a:lnTo>
                  <a:lnTo>
                    <a:pt x="2128520" y="80264"/>
                  </a:lnTo>
                  <a:lnTo>
                    <a:pt x="0" y="80264"/>
                  </a:lnTo>
                  <a:close/>
                </a:path>
              </a:pathLst>
            </a:custGeom>
            <a:solidFill>
              <a:srgbClr val="747987"/>
            </a:solidFill>
            <a:ln w="19050" cap="sq">
              <a:solidFill>
                <a:srgbClr val="747987"/>
              </a:solidFill>
              <a:prstDash val="solid"/>
              <a:miter/>
            </a:ln>
          </p:spPr>
        </p:sp>
      </p:grpSp>
      <p:sp>
        <p:nvSpPr>
          <p:cNvPr name="TextBox 27" id="2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문제의 구조</a:t>
            </a:r>
          </a:p>
        </p:txBody>
      </p:sp>
      <p:sp>
        <p:nvSpPr>
          <p:cNvPr name="TextBox 28" id="28"/>
          <p:cNvSpPr txBox="true"/>
          <p:nvPr/>
        </p:nvSpPr>
        <p:spPr>
          <a:xfrm rot="0">
            <a:off x="1371600" y="1522095"/>
            <a:ext cx="15544343" cy="892302"/>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놓치는 것은  _____ 입니다</a:t>
            </a:r>
          </a:p>
        </p:txBody>
      </p:sp>
      <p:sp>
        <p:nvSpPr>
          <p:cNvPr name="TextBox 29" id="29"/>
          <p:cNvSpPr txBox="true"/>
          <p:nvPr/>
        </p:nvSpPr>
        <p:spPr>
          <a:xfrm rot="0">
            <a:off x="1371600" y="4238244"/>
            <a:ext cx="2743200" cy="685800"/>
          </a:xfrm>
          <a:prstGeom prst="rect">
            <a:avLst/>
          </a:prstGeom>
        </p:spPr>
        <p:txBody>
          <a:bodyPr anchor="t" rtlCol="false" tIns="0" lIns="0" bIns="0" rIns="0">
            <a:spAutoFit/>
          </a:bodyPr>
          <a:lstStyle/>
          <a:p>
            <a:pPr algn="l">
              <a:lnSpc>
                <a:spcPts val="4320"/>
              </a:lnSpc>
            </a:pPr>
            <a:r>
              <a:rPr lang="en-US" sz="3600" b="true">
                <a:solidFill>
                  <a:srgbClr val="11131B"/>
                </a:solidFill>
                <a:latin typeface="Noto Sans Bold"/>
                <a:ea typeface="Noto Sans Bold"/>
                <a:cs typeface="Noto Sans Bold"/>
                <a:sym typeface="Noto Sans Bold"/>
              </a:rPr>
              <a:t>말하기</a:t>
            </a:r>
          </a:p>
        </p:txBody>
      </p:sp>
      <p:sp>
        <p:nvSpPr>
          <p:cNvPr name="TextBox 30" id="30"/>
          <p:cNvSpPr txBox="true"/>
          <p:nvPr/>
        </p:nvSpPr>
        <p:spPr>
          <a:xfrm rot="0">
            <a:off x="4663440" y="4347972"/>
            <a:ext cx="5897880" cy="342900"/>
          </a:xfrm>
          <a:prstGeom prst="rect">
            <a:avLst/>
          </a:prstGeom>
        </p:spPr>
        <p:txBody>
          <a:bodyPr anchor="t" rtlCol="false" tIns="0" lIns="0" bIns="0" rIns="0">
            <a:spAutoFit/>
          </a:bodyPr>
          <a:lstStyle/>
          <a:p>
            <a:pPr algn="l">
              <a:lnSpc>
                <a:spcPts val="2700"/>
              </a:lnSpc>
            </a:pPr>
            <a:r>
              <a:rPr lang="en-US" sz="2250" b="true">
                <a:solidFill>
                  <a:srgbClr val="2E313D"/>
                </a:solidFill>
                <a:latin typeface="Noto Sans Bold"/>
                <a:ea typeface="Noto Sans Bold"/>
                <a:cs typeface="Noto Sans Bold"/>
                <a:sym typeface="Noto Sans Bold"/>
              </a:rPr>
              <a:t>말속도 · 추임새 · 침묵</a:t>
            </a:r>
          </a:p>
        </p:txBody>
      </p:sp>
      <p:sp>
        <p:nvSpPr>
          <p:cNvPr name="TextBox 31" id="31"/>
          <p:cNvSpPr txBox="true"/>
          <p:nvPr/>
        </p:nvSpPr>
        <p:spPr>
          <a:xfrm rot="0">
            <a:off x="10972800" y="4365879"/>
            <a:ext cx="5939028" cy="304800"/>
          </a:xfrm>
          <a:prstGeom prst="rect">
            <a:avLst/>
          </a:prstGeom>
        </p:spPr>
        <p:txBody>
          <a:bodyPr anchor="t" rtlCol="false" tIns="0" lIns="0" bIns="0" rIns="0">
            <a:spAutoFit/>
          </a:bodyPr>
          <a:lstStyle/>
          <a:p>
            <a:pPr algn="l">
              <a:lnSpc>
                <a:spcPts val="2340"/>
              </a:lnSpc>
            </a:pPr>
            <a:r>
              <a:rPr lang="en-US" sz="1950">
                <a:solidFill>
                  <a:srgbClr val="747987"/>
                </a:solidFill>
                <a:latin typeface="Noto Sans"/>
                <a:ea typeface="Noto Sans"/>
                <a:cs typeface="Noto Sans"/>
                <a:sym typeface="Noto Sans"/>
              </a:rPr>
              <a:t>빠르게 말했는지, 어디서 멈췄는지</a:t>
            </a:r>
          </a:p>
        </p:txBody>
      </p:sp>
      <p:sp>
        <p:nvSpPr>
          <p:cNvPr name="TextBox 32" id="32"/>
          <p:cNvSpPr txBox="true"/>
          <p:nvPr/>
        </p:nvSpPr>
        <p:spPr>
          <a:xfrm rot="0">
            <a:off x="1371600" y="5815584"/>
            <a:ext cx="2743200" cy="685800"/>
          </a:xfrm>
          <a:prstGeom prst="rect">
            <a:avLst/>
          </a:prstGeom>
        </p:spPr>
        <p:txBody>
          <a:bodyPr anchor="t" rtlCol="false" tIns="0" lIns="0" bIns="0" rIns="0">
            <a:spAutoFit/>
          </a:bodyPr>
          <a:lstStyle/>
          <a:p>
            <a:pPr algn="l">
              <a:lnSpc>
                <a:spcPts val="4320"/>
              </a:lnSpc>
            </a:pPr>
            <a:r>
              <a:rPr lang="en-US" sz="3600" b="true">
                <a:solidFill>
                  <a:srgbClr val="11131B"/>
                </a:solidFill>
                <a:latin typeface="Noto Sans Bold"/>
                <a:ea typeface="Noto Sans Bold"/>
                <a:cs typeface="Noto Sans Bold"/>
                <a:sym typeface="Noto Sans Bold"/>
              </a:rPr>
              <a:t>태도</a:t>
            </a:r>
          </a:p>
        </p:txBody>
      </p:sp>
      <p:sp>
        <p:nvSpPr>
          <p:cNvPr name="TextBox 33" id="33"/>
          <p:cNvSpPr txBox="true"/>
          <p:nvPr/>
        </p:nvSpPr>
        <p:spPr>
          <a:xfrm rot="0">
            <a:off x="4663440" y="5925312"/>
            <a:ext cx="5897880" cy="548640"/>
          </a:xfrm>
          <a:prstGeom prst="rect">
            <a:avLst/>
          </a:prstGeom>
        </p:spPr>
        <p:txBody>
          <a:bodyPr anchor="t" rtlCol="false" tIns="0" lIns="0" bIns="0" rIns="0">
            <a:spAutoFit/>
          </a:bodyPr>
          <a:lstStyle/>
          <a:p>
            <a:pPr algn="l">
              <a:lnSpc>
                <a:spcPts val="2700"/>
              </a:lnSpc>
            </a:pPr>
            <a:r>
              <a:rPr lang="en-US" sz="2250" b="true">
                <a:solidFill>
                  <a:srgbClr val="2E313D"/>
                </a:solidFill>
                <a:latin typeface="Noto Sans Bold"/>
                <a:ea typeface="Noto Sans Bold"/>
                <a:cs typeface="Noto Sans Bold"/>
                <a:sym typeface="Noto Sans Bold"/>
              </a:rPr>
              <a:t>시선 · 자세</a:t>
            </a:r>
          </a:p>
        </p:txBody>
      </p:sp>
      <p:sp>
        <p:nvSpPr>
          <p:cNvPr name="TextBox 34" id="34"/>
          <p:cNvSpPr txBox="true"/>
          <p:nvPr/>
        </p:nvSpPr>
        <p:spPr>
          <a:xfrm rot="0">
            <a:off x="10972800" y="5943219"/>
            <a:ext cx="5939028" cy="304800"/>
          </a:xfrm>
          <a:prstGeom prst="rect">
            <a:avLst/>
          </a:prstGeom>
        </p:spPr>
        <p:txBody>
          <a:bodyPr anchor="t" rtlCol="false" tIns="0" lIns="0" bIns="0" rIns="0">
            <a:spAutoFit/>
          </a:bodyPr>
          <a:lstStyle/>
          <a:p>
            <a:pPr algn="l">
              <a:lnSpc>
                <a:spcPts val="2340"/>
              </a:lnSpc>
            </a:pPr>
            <a:r>
              <a:rPr lang="en-US" sz="1950">
                <a:solidFill>
                  <a:srgbClr val="747987"/>
                </a:solidFill>
                <a:latin typeface="Noto Sans"/>
                <a:ea typeface="Noto Sans"/>
                <a:cs typeface="Noto Sans"/>
                <a:sym typeface="Noto Sans"/>
              </a:rPr>
              <a:t>청중을 보고 있었는지, 불필요한 움직임이 있었는지</a:t>
            </a:r>
          </a:p>
        </p:txBody>
      </p:sp>
      <p:sp>
        <p:nvSpPr>
          <p:cNvPr name="TextBox 35" id="35"/>
          <p:cNvSpPr txBox="true"/>
          <p:nvPr/>
        </p:nvSpPr>
        <p:spPr>
          <a:xfrm rot="0">
            <a:off x="1371600" y="7392924"/>
            <a:ext cx="2743200" cy="685800"/>
          </a:xfrm>
          <a:prstGeom prst="rect">
            <a:avLst/>
          </a:prstGeom>
        </p:spPr>
        <p:txBody>
          <a:bodyPr anchor="t" rtlCol="false" tIns="0" lIns="0" bIns="0" rIns="0">
            <a:spAutoFit/>
          </a:bodyPr>
          <a:lstStyle/>
          <a:p>
            <a:pPr algn="l">
              <a:lnSpc>
                <a:spcPts val="4320"/>
              </a:lnSpc>
            </a:pPr>
            <a:r>
              <a:rPr lang="en-US" sz="3600" b="true">
                <a:solidFill>
                  <a:srgbClr val="11131B"/>
                </a:solidFill>
                <a:latin typeface="Noto Sans Bold"/>
                <a:ea typeface="Noto Sans Bold"/>
                <a:cs typeface="Noto Sans Bold"/>
                <a:sym typeface="Noto Sans Bold"/>
              </a:rPr>
              <a:t>내용</a:t>
            </a:r>
          </a:p>
        </p:txBody>
      </p:sp>
      <p:sp>
        <p:nvSpPr>
          <p:cNvPr name="TextBox 36" id="36"/>
          <p:cNvSpPr txBox="true"/>
          <p:nvPr/>
        </p:nvSpPr>
        <p:spPr>
          <a:xfrm rot="0">
            <a:off x="4663440" y="7502652"/>
            <a:ext cx="5897880" cy="548640"/>
          </a:xfrm>
          <a:prstGeom prst="rect">
            <a:avLst/>
          </a:prstGeom>
        </p:spPr>
        <p:txBody>
          <a:bodyPr anchor="t" rtlCol="false" tIns="0" lIns="0" bIns="0" rIns="0">
            <a:spAutoFit/>
          </a:bodyPr>
          <a:lstStyle/>
          <a:p>
            <a:pPr algn="l">
              <a:lnSpc>
                <a:spcPts val="2700"/>
              </a:lnSpc>
            </a:pPr>
            <a:r>
              <a:rPr lang="en-US" sz="2250" b="true">
                <a:solidFill>
                  <a:srgbClr val="2E313D"/>
                </a:solidFill>
                <a:latin typeface="Noto Sans Bold"/>
                <a:ea typeface="Noto Sans Bold"/>
                <a:cs typeface="Noto Sans Bold"/>
                <a:sym typeface="Noto Sans Bold"/>
              </a:rPr>
              <a:t>핵심 내용 누락 · 설명 시간</a:t>
            </a:r>
          </a:p>
        </p:txBody>
      </p:sp>
      <p:sp>
        <p:nvSpPr>
          <p:cNvPr name="TextBox 37" id="37"/>
          <p:cNvSpPr txBox="true"/>
          <p:nvPr/>
        </p:nvSpPr>
        <p:spPr>
          <a:xfrm rot="0">
            <a:off x="10972800" y="7520559"/>
            <a:ext cx="5939028" cy="558165"/>
          </a:xfrm>
          <a:prstGeom prst="rect">
            <a:avLst/>
          </a:prstGeom>
        </p:spPr>
        <p:txBody>
          <a:bodyPr anchor="t" rtlCol="false" tIns="0" lIns="0" bIns="0" rIns="0">
            <a:spAutoFit/>
          </a:bodyPr>
          <a:lstStyle/>
          <a:p>
            <a:pPr algn="l">
              <a:lnSpc>
                <a:spcPts val="2340"/>
              </a:lnSpc>
            </a:pPr>
            <a:r>
              <a:rPr lang="en-US" sz="1950">
                <a:solidFill>
                  <a:srgbClr val="747987"/>
                </a:solidFill>
                <a:latin typeface="Noto Sans"/>
                <a:ea typeface="Noto Sans"/>
                <a:cs typeface="Noto Sans"/>
                <a:sym typeface="Noto Sans"/>
              </a:rPr>
              <a:t>무엇을 빠뜨렸는지</a:t>
            </a:r>
          </a:p>
        </p:txBody>
      </p:sp>
      <p:sp>
        <p:nvSpPr>
          <p:cNvPr name="TextBox 38" id="38"/>
          <p:cNvSpPr txBox="true"/>
          <p:nvPr/>
        </p:nvSpPr>
        <p:spPr>
          <a:xfrm rot="0">
            <a:off x="1371600" y="8856345"/>
            <a:ext cx="15544343" cy="257175"/>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세 겹이 동시에 일어나기 때문에, 하나의 연습에서 함께 확인해야 합니다.</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12</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기존 방식의 한계</a:t>
            </a:r>
          </a:p>
        </p:txBody>
      </p:sp>
      <p:sp>
        <p:nvSpPr>
          <p:cNvPr name="TextBox 18" id="18"/>
          <p:cNvSpPr txBox="true"/>
          <p:nvPr/>
        </p:nvSpPr>
        <p:spPr>
          <a:xfrm rot="0">
            <a:off x="1371600" y="1522095"/>
            <a:ext cx="15544343" cy="1289685"/>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지금까지의 연습 방법</a:t>
            </a:r>
          </a:p>
        </p:txBody>
      </p:sp>
      <p:grpSp>
        <p:nvGrpSpPr>
          <p:cNvPr name="Group 19" id="19"/>
          <p:cNvGrpSpPr/>
          <p:nvPr/>
        </p:nvGrpSpPr>
        <p:grpSpPr>
          <a:xfrm rot="0">
            <a:off x="1362075" y="3968115"/>
            <a:ext cx="4468978" cy="54712"/>
            <a:chOff x="0" y="0"/>
            <a:chExt cx="5958637" cy="72949"/>
          </a:xfrm>
        </p:grpSpPr>
        <p:sp>
          <p:nvSpPr>
            <p:cNvPr name="Freeform 20" id="20"/>
            <p:cNvSpPr/>
            <p:nvPr/>
          </p:nvSpPr>
          <p:spPr>
            <a:xfrm flipH="false" flipV="false" rot="0">
              <a:off x="0" y="0"/>
              <a:ext cx="5958586" cy="72898"/>
            </a:xfrm>
            <a:custGeom>
              <a:avLst/>
              <a:gdLst/>
              <a:ahLst/>
              <a:cxnLst/>
              <a:rect r="r" b="b" t="t" l="l"/>
              <a:pathLst>
                <a:path h="72898" w="5958586">
                  <a:moveTo>
                    <a:pt x="0" y="0"/>
                  </a:moveTo>
                  <a:lnTo>
                    <a:pt x="5958586" y="0"/>
                  </a:lnTo>
                  <a:lnTo>
                    <a:pt x="5958586" y="72898"/>
                  </a:lnTo>
                  <a:lnTo>
                    <a:pt x="0" y="72898"/>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4279392"/>
            <a:ext cx="4449928" cy="617220"/>
          </a:xfrm>
          <a:prstGeom prst="rect">
            <a:avLst/>
          </a:prstGeom>
        </p:spPr>
        <p:txBody>
          <a:bodyPr anchor="t" rtlCol="false" tIns="0" lIns="0" bIns="0" rIns="0">
            <a:spAutoFit/>
          </a:bodyPr>
          <a:lstStyle/>
          <a:p>
            <a:pPr algn="l">
              <a:lnSpc>
                <a:spcPts val="3779"/>
              </a:lnSpc>
            </a:pPr>
            <a:r>
              <a:rPr lang="en-US" sz="3150" b="true">
                <a:solidFill>
                  <a:srgbClr val="11131B"/>
                </a:solidFill>
                <a:latin typeface="Noto Sans Bold"/>
                <a:ea typeface="Noto Sans Bold"/>
                <a:cs typeface="Noto Sans Bold"/>
                <a:sym typeface="Noto Sans Bold"/>
              </a:rPr>
              <a:t>거울 앞 연습</a:t>
            </a:r>
          </a:p>
        </p:txBody>
      </p:sp>
      <p:sp>
        <p:nvSpPr>
          <p:cNvPr name="TextBox 22" id="22"/>
          <p:cNvSpPr txBox="true"/>
          <p:nvPr/>
        </p:nvSpPr>
        <p:spPr>
          <a:xfrm rot="0">
            <a:off x="1371600" y="5092827"/>
            <a:ext cx="4449928" cy="55816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   즉시 확인</a:t>
            </a:r>
          </a:p>
        </p:txBody>
      </p:sp>
      <p:sp>
        <p:nvSpPr>
          <p:cNvPr name="TextBox 23" id="23"/>
          <p:cNvSpPr txBox="true"/>
          <p:nvPr/>
        </p:nvSpPr>
        <p:spPr>
          <a:xfrm rot="0">
            <a:off x="1371600" y="5702427"/>
            <a:ext cx="4449928" cy="1183005"/>
          </a:xfrm>
          <a:prstGeom prst="rect">
            <a:avLst/>
          </a:prstGeom>
        </p:spPr>
        <p:txBody>
          <a:bodyPr anchor="t" rtlCol="false" tIns="0" lIns="0" bIns="0" rIns="0">
            <a:spAutoFit/>
          </a:bodyPr>
          <a:lstStyle/>
          <a:p>
            <a:pPr algn="l">
              <a:lnSpc>
                <a:spcPts val="3280"/>
              </a:lnSpc>
            </a:pPr>
            <a:r>
              <a:rPr lang="en-US" sz="2025" b="true">
                <a:solidFill>
                  <a:srgbClr val="D95757"/>
                </a:solidFill>
                <a:latin typeface="Noto Sans Bold"/>
                <a:ea typeface="Noto Sans Bold"/>
                <a:cs typeface="Noto Sans Bold"/>
                <a:sym typeface="Noto Sans Bold"/>
              </a:rPr>
              <a:t>✕   기록이 남지 않는다</a:t>
            </a:r>
          </a:p>
        </p:txBody>
      </p:sp>
      <p:grpSp>
        <p:nvGrpSpPr>
          <p:cNvPr name="Group 24" id="24"/>
          <p:cNvGrpSpPr/>
          <p:nvPr/>
        </p:nvGrpSpPr>
        <p:grpSpPr>
          <a:xfrm rot="0">
            <a:off x="6909283" y="3968115"/>
            <a:ext cx="4468978" cy="54712"/>
            <a:chOff x="0" y="0"/>
            <a:chExt cx="5958637" cy="72949"/>
          </a:xfrm>
        </p:grpSpPr>
        <p:sp>
          <p:nvSpPr>
            <p:cNvPr name="Freeform 25" id="25"/>
            <p:cNvSpPr/>
            <p:nvPr/>
          </p:nvSpPr>
          <p:spPr>
            <a:xfrm flipH="false" flipV="false" rot="0">
              <a:off x="0" y="0"/>
              <a:ext cx="5958586" cy="72898"/>
            </a:xfrm>
            <a:custGeom>
              <a:avLst/>
              <a:gdLst/>
              <a:ahLst/>
              <a:cxnLst/>
              <a:rect r="r" b="b" t="t" l="l"/>
              <a:pathLst>
                <a:path h="72898" w="5958586">
                  <a:moveTo>
                    <a:pt x="0" y="0"/>
                  </a:moveTo>
                  <a:lnTo>
                    <a:pt x="5958586" y="0"/>
                  </a:lnTo>
                  <a:lnTo>
                    <a:pt x="5958586" y="72898"/>
                  </a:lnTo>
                  <a:lnTo>
                    <a:pt x="0" y="72898"/>
                  </a:lnTo>
                  <a:close/>
                </a:path>
              </a:pathLst>
            </a:custGeom>
            <a:solidFill>
              <a:srgbClr val="E4E6EE"/>
            </a:solidFill>
            <a:ln w="19050" cap="sq">
              <a:solidFill>
                <a:srgbClr val="E4E6EE"/>
              </a:solidFill>
              <a:prstDash val="solid"/>
              <a:miter/>
            </a:ln>
          </p:spPr>
        </p:sp>
      </p:grpSp>
      <p:sp>
        <p:nvSpPr>
          <p:cNvPr name="TextBox 26" id="26"/>
          <p:cNvSpPr txBox="true"/>
          <p:nvPr/>
        </p:nvSpPr>
        <p:spPr>
          <a:xfrm rot="0">
            <a:off x="6918808" y="4279392"/>
            <a:ext cx="4449928" cy="617220"/>
          </a:xfrm>
          <a:prstGeom prst="rect">
            <a:avLst/>
          </a:prstGeom>
        </p:spPr>
        <p:txBody>
          <a:bodyPr anchor="t" rtlCol="false" tIns="0" lIns="0" bIns="0" rIns="0">
            <a:spAutoFit/>
          </a:bodyPr>
          <a:lstStyle/>
          <a:p>
            <a:pPr algn="l">
              <a:lnSpc>
                <a:spcPts val="3779"/>
              </a:lnSpc>
            </a:pPr>
            <a:r>
              <a:rPr lang="en-US" sz="3150" b="true">
                <a:solidFill>
                  <a:srgbClr val="11131B"/>
                </a:solidFill>
                <a:latin typeface="Noto Sans Bold"/>
                <a:ea typeface="Noto Sans Bold"/>
                <a:cs typeface="Noto Sans Bold"/>
                <a:sym typeface="Noto Sans Bold"/>
              </a:rPr>
              <a:t>스터디 피드백</a:t>
            </a:r>
          </a:p>
        </p:txBody>
      </p:sp>
      <p:sp>
        <p:nvSpPr>
          <p:cNvPr name="TextBox 27" id="27"/>
          <p:cNvSpPr txBox="true"/>
          <p:nvPr/>
        </p:nvSpPr>
        <p:spPr>
          <a:xfrm rot="0">
            <a:off x="6918808" y="5092827"/>
            <a:ext cx="4449928" cy="55816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   타인의 시선</a:t>
            </a:r>
          </a:p>
        </p:txBody>
      </p:sp>
      <p:sp>
        <p:nvSpPr>
          <p:cNvPr name="TextBox 28" id="28"/>
          <p:cNvSpPr txBox="true"/>
          <p:nvPr/>
        </p:nvSpPr>
        <p:spPr>
          <a:xfrm rot="0">
            <a:off x="6918808" y="5702427"/>
            <a:ext cx="4449928" cy="1183005"/>
          </a:xfrm>
          <a:prstGeom prst="rect">
            <a:avLst/>
          </a:prstGeom>
        </p:spPr>
        <p:txBody>
          <a:bodyPr anchor="t" rtlCol="false" tIns="0" lIns="0" bIns="0" rIns="0">
            <a:spAutoFit/>
          </a:bodyPr>
          <a:lstStyle/>
          <a:p>
            <a:pPr algn="l">
              <a:lnSpc>
                <a:spcPts val="3280"/>
              </a:lnSpc>
            </a:pPr>
            <a:r>
              <a:rPr lang="en-US" sz="2025" b="true">
                <a:solidFill>
                  <a:srgbClr val="D95757"/>
                </a:solidFill>
                <a:latin typeface="Noto Sans Bold"/>
                <a:ea typeface="Noto Sans Bold"/>
                <a:cs typeface="Noto Sans Bold"/>
                <a:sym typeface="Noto Sans Bold"/>
              </a:rPr>
              <a:t>✕   매번 사람을 모아야 한다</a:t>
            </a:r>
          </a:p>
        </p:txBody>
      </p:sp>
      <p:grpSp>
        <p:nvGrpSpPr>
          <p:cNvPr name="Group 29" id="29"/>
          <p:cNvGrpSpPr/>
          <p:nvPr/>
        </p:nvGrpSpPr>
        <p:grpSpPr>
          <a:xfrm rot="0">
            <a:off x="12456490" y="3968115"/>
            <a:ext cx="4468978" cy="54712"/>
            <a:chOff x="0" y="0"/>
            <a:chExt cx="5958637" cy="72949"/>
          </a:xfrm>
        </p:grpSpPr>
        <p:sp>
          <p:nvSpPr>
            <p:cNvPr name="Freeform 30" id="30"/>
            <p:cNvSpPr/>
            <p:nvPr/>
          </p:nvSpPr>
          <p:spPr>
            <a:xfrm flipH="false" flipV="false" rot="0">
              <a:off x="0" y="0"/>
              <a:ext cx="5958586" cy="72898"/>
            </a:xfrm>
            <a:custGeom>
              <a:avLst/>
              <a:gdLst/>
              <a:ahLst/>
              <a:cxnLst/>
              <a:rect r="r" b="b" t="t" l="l"/>
              <a:pathLst>
                <a:path h="72898" w="5958586">
                  <a:moveTo>
                    <a:pt x="0" y="0"/>
                  </a:moveTo>
                  <a:lnTo>
                    <a:pt x="5958586" y="0"/>
                  </a:lnTo>
                  <a:lnTo>
                    <a:pt x="5958586" y="72898"/>
                  </a:lnTo>
                  <a:lnTo>
                    <a:pt x="0" y="72898"/>
                  </a:lnTo>
                  <a:close/>
                </a:path>
              </a:pathLst>
            </a:custGeom>
            <a:solidFill>
              <a:srgbClr val="E4E6EE"/>
            </a:solidFill>
            <a:ln w="19050" cap="sq">
              <a:solidFill>
                <a:srgbClr val="E4E6EE"/>
              </a:solidFill>
              <a:prstDash val="solid"/>
              <a:miter/>
            </a:ln>
          </p:spPr>
        </p:sp>
      </p:grpSp>
      <p:sp>
        <p:nvSpPr>
          <p:cNvPr name="TextBox 31" id="31"/>
          <p:cNvSpPr txBox="true"/>
          <p:nvPr/>
        </p:nvSpPr>
        <p:spPr>
          <a:xfrm rot="0">
            <a:off x="12466015" y="4279392"/>
            <a:ext cx="4449928" cy="476250"/>
          </a:xfrm>
          <a:prstGeom prst="rect">
            <a:avLst/>
          </a:prstGeom>
        </p:spPr>
        <p:txBody>
          <a:bodyPr anchor="t" rtlCol="false" tIns="0" lIns="0" bIns="0" rIns="0">
            <a:spAutoFit/>
          </a:bodyPr>
          <a:lstStyle/>
          <a:p>
            <a:pPr algn="l">
              <a:lnSpc>
                <a:spcPts val="3779"/>
              </a:lnSpc>
            </a:pPr>
            <a:r>
              <a:rPr lang="en-US" sz="3150" b="true">
                <a:solidFill>
                  <a:srgbClr val="11131B"/>
                </a:solidFill>
                <a:latin typeface="Noto Sans Bold"/>
                <a:ea typeface="Noto Sans Bold"/>
                <a:cs typeface="Noto Sans Bold"/>
                <a:sym typeface="Noto Sans Bold"/>
              </a:rPr>
              <a:t>기존 AI 면접</a:t>
            </a:r>
          </a:p>
        </p:txBody>
      </p:sp>
      <p:sp>
        <p:nvSpPr>
          <p:cNvPr name="TextBox 32" id="32"/>
          <p:cNvSpPr txBox="true"/>
          <p:nvPr/>
        </p:nvSpPr>
        <p:spPr>
          <a:xfrm rot="0">
            <a:off x="12466015" y="5092827"/>
            <a:ext cx="4449928" cy="55816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   자동 분석</a:t>
            </a:r>
          </a:p>
        </p:txBody>
      </p:sp>
      <p:sp>
        <p:nvSpPr>
          <p:cNvPr name="TextBox 33" id="33"/>
          <p:cNvSpPr txBox="true"/>
          <p:nvPr/>
        </p:nvSpPr>
        <p:spPr>
          <a:xfrm rot="0">
            <a:off x="12466015" y="5702427"/>
            <a:ext cx="4449928" cy="1183005"/>
          </a:xfrm>
          <a:prstGeom prst="rect">
            <a:avLst/>
          </a:prstGeom>
        </p:spPr>
        <p:txBody>
          <a:bodyPr anchor="t" rtlCol="false" tIns="0" lIns="0" bIns="0" rIns="0">
            <a:spAutoFit/>
          </a:bodyPr>
          <a:lstStyle/>
          <a:p>
            <a:pPr algn="l">
              <a:lnSpc>
                <a:spcPts val="3280"/>
              </a:lnSpc>
            </a:pPr>
            <a:r>
              <a:rPr lang="en-US" sz="2025" b="true">
                <a:solidFill>
                  <a:srgbClr val="D95757"/>
                </a:solidFill>
                <a:latin typeface="Noto Sans Bold"/>
                <a:ea typeface="Noto Sans Bold"/>
                <a:cs typeface="Noto Sans Bold"/>
                <a:sym typeface="Noto Sans Bold"/>
              </a:rPr>
              <a:t>✕   한 번 평가하고 끝난다</a:t>
            </a:r>
          </a:p>
        </p:txBody>
      </p:sp>
      <p:grpSp>
        <p:nvGrpSpPr>
          <p:cNvPr name="Group 34" id="34"/>
          <p:cNvGrpSpPr/>
          <p:nvPr/>
        </p:nvGrpSpPr>
        <p:grpSpPr>
          <a:xfrm rot="0">
            <a:off x="1362075" y="7671435"/>
            <a:ext cx="15563393" cy="38252"/>
            <a:chOff x="0" y="0"/>
            <a:chExt cx="20751190" cy="51003"/>
          </a:xfrm>
        </p:grpSpPr>
        <p:sp>
          <p:nvSpPr>
            <p:cNvPr name="Freeform 35" id="35"/>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sp>
        <p:nvSpPr>
          <p:cNvPr name="TextBox 36" id="36"/>
          <p:cNvSpPr txBox="true"/>
          <p:nvPr/>
        </p:nvSpPr>
        <p:spPr>
          <a:xfrm rot="0">
            <a:off x="1381125" y="8065008"/>
            <a:ext cx="15544343" cy="381000"/>
          </a:xfrm>
          <a:prstGeom prst="rect">
            <a:avLst/>
          </a:prstGeom>
        </p:spPr>
        <p:txBody>
          <a:bodyPr anchor="t" rtlCol="false" tIns="0" lIns="0" bIns="0" rIns="0">
            <a:spAutoFit/>
          </a:bodyPr>
          <a:lstStyle/>
          <a:p>
            <a:pPr algn="ctr">
              <a:lnSpc>
                <a:spcPts val="3060"/>
              </a:lnSpc>
            </a:pPr>
            <a:r>
              <a:rPr lang="en-US" sz="2550" b="true">
                <a:solidFill>
                  <a:srgbClr val="1F4FC4"/>
                </a:solidFill>
                <a:latin typeface="Noto Sans Bold"/>
                <a:ea typeface="Noto Sans Bold"/>
                <a:cs typeface="Noto Sans Bold"/>
                <a:sym typeface="Noto Sans Bold"/>
              </a:rPr>
              <a:t>필요한 것은 —  혼자서, 기록으로 남고, 지속적인 연습으로 이어지는 방법</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14</a:t>
              </a:r>
            </a:p>
          </p:txBody>
        </p:sp>
      </p:grpSp>
      <p:grpSp>
        <p:nvGrpSpPr>
          <p:cNvPr name="Group 17" id="17"/>
          <p:cNvGrpSpPr/>
          <p:nvPr/>
        </p:nvGrpSpPr>
        <p:grpSpPr>
          <a:xfrm rot="0">
            <a:off x="1371600" y="3017520"/>
            <a:ext cx="15544343" cy="3566160"/>
            <a:chOff x="0" y="0"/>
            <a:chExt cx="20725790" cy="4754880"/>
          </a:xfrm>
        </p:grpSpPr>
        <p:sp>
          <p:nvSpPr>
            <p:cNvPr name="Freeform 18" id="18"/>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19" id="19"/>
            <p:cNvSpPr txBox="true"/>
            <p:nvPr/>
          </p:nvSpPr>
          <p:spPr>
            <a:xfrm>
              <a:off x="0" y="-190500"/>
              <a:ext cx="20725790" cy="4945380"/>
            </a:xfrm>
            <a:prstGeom prst="rect">
              <a:avLst/>
            </a:prstGeom>
          </p:spPr>
          <p:txBody>
            <a:bodyPr anchor="ctr" rtlCol="false" tIns="0" lIns="0" bIns="0" rIns="0"/>
            <a:lstStyle/>
            <a:p>
              <a:pPr algn="l">
                <a:lnSpc>
                  <a:spcPts val="12096"/>
                </a:lnSpc>
              </a:pPr>
              <a:r>
                <a:rPr lang="en-US" sz="8400" b="true">
                  <a:solidFill>
                    <a:srgbClr val="11131B"/>
                  </a:solidFill>
                  <a:latin typeface="Noto Sans Bold"/>
                  <a:ea typeface="Noto Sans Bold"/>
                  <a:cs typeface="Noto Sans Bold"/>
                  <a:sym typeface="Noto Sans Bold"/>
                </a:rPr>
                <a:t>그래서, 만들었습니다.</a:t>
              </a:r>
            </a:p>
          </p:txBody>
        </p:sp>
      </p:gr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15</a:t>
              </a:r>
            </a:p>
          </p:txBody>
        </p:sp>
      </p:grpSp>
      <p:grpSp>
        <p:nvGrpSpPr>
          <p:cNvPr name="Group 17" id="17"/>
          <p:cNvGrpSpPr/>
          <p:nvPr/>
        </p:nvGrpSpPr>
        <p:grpSpPr>
          <a:xfrm rot="0">
            <a:off x="2976372" y="1303020"/>
            <a:ext cx="12344400" cy="6940296"/>
            <a:chOff x="0" y="0"/>
            <a:chExt cx="16459200" cy="9253728"/>
          </a:xfrm>
        </p:grpSpPr>
        <p:sp>
          <p:nvSpPr>
            <p:cNvPr name="Freeform 18" id="18" descr="C:\Users\SSAFY\Desktop\aivo\outputs\v2pitch\assets\logo_dark.png"/>
            <p:cNvSpPr/>
            <p:nvPr/>
          </p:nvSpPr>
          <p:spPr>
            <a:xfrm flipH="false" flipV="false" rot="0">
              <a:off x="0" y="0"/>
              <a:ext cx="16459200" cy="9253728"/>
            </a:xfrm>
            <a:custGeom>
              <a:avLst/>
              <a:gdLst/>
              <a:ahLst/>
              <a:cxnLst/>
              <a:rect r="r" b="b" t="t" l="l"/>
              <a:pathLst>
                <a:path h="9253728" w="16459200">
                  <a:moveTo>
                    <a:pt x="0" y="0"/>
                  </a:moveTo>
                  <a:lnTo>
                    <a:pt x="16459200" y="0"/>
                  </a:lnTo>
                  <a:lnTo>
                    <a:pt x="16459200" y="9253728"/>
                  </a:lnTo>
                  <a:lnTo>
                    <a:pt x="0" y="9253728"/>
                  </a:lnTo>
                  <a:lnTo>
                    <a:pt x="0" y="0"/>
                  </a:lnTo>
                  <a:close/>
                </a:path>
              </a:pathLst>
            </a:custGeom>
            <a:blipFill>
              <a:blip r:embed="rId4"/>
              <a:stretch>
                <a:fillRect l="0" t="-51" r="0" b="-51"/>
              </a:stretch>
            </a:blipFill>
          </p:spPr>
        </p:sp>
      </p:grpSp>
      <p:sp>
        <p:nvSpPr>
          <p:cNvPr name="TextBox 19" id="19"/>
          <p:cNvSpPr txBox="true"/>
          <p:nvPr/>
        </p:nvSpPr>
        <p:spPr>
          <a:xfrm rot="0">
            <a:off x="0" y="8641080"/>
            <a:ext cx="18287543" cy="685800"/>
          </a:xfrm>
          <a:prstGeom prst="rect">
            <a:avLst/>
          </a:prstGeom>
        </p:spPr>
        <p:txBody>
          <a:bodyPr anchor="t" rtlCol="false" tIns="0" lIns="0" bIns="0" rIns="0">
            <a:spAutoFit/>
          </a:bodyPr>
          <a:lstStyle/>
          <a:p>
            <a:pPr algn="ctr">
              <a:lnSpc>
                <a:spcPts val="3600"/>
              </a:lnSpc>
            </a:pPr>
            <a:r>
              <a:rPr lang="en-US" sz="3000" b="true">
                <a:solidFill>
                  <a:srgbClr val="8FA9F5"/>
                </a:solidFill>
                <a:latin typeface="Noto Sans Bold"/>
                <a:ea typeface="Noto Sans Bold"/>
                <a:cs typeface="Noto Sans Bold"/>
                <a:sym typeface="Noto Sans Bold"/>
              </a:rPr>
              <a:t>말하기 연습을 위한 AI 코치</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16</a:t>
              </a:r>
            </a:p>
          </p:txBody>
        </p:sp>
      </p:grpSp>
      <p:grpSp>
        <p:nvGrpSpPr>
          <p:cNvPr name="Group 17" id="17"/>
          <p:cNvGrpSpPr/>
          <p:nvPr/>
        </p:nvGrpSpPr>
        <p:grpSpPr>
          <a:xfrm rot="0">
            <a:off x="1371600" y="3017520"/>
            <a:ext cx="15544343" cy="3566160"/>
            <a:chOff x="0" y="0"/>
            <a:chExt cx="20725790" cy="4754880"/>
          </a:xfrm>
        </p:grpSpPr>
        <p:sp>
          <p:nvSpPr>
            <p:cNvPr name="Freeform 18" id="18"/>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19" id="19"/>
            <p:cNvSpPr txBox="true"/>
            <p:nvPr/>
          </p:nvSpPr>
          <p:spPr>
            <a:xfrm>
              <a:off x="0" y="-161925"/>
              <a:ext cx="20725790" cy="4916805"/>
            </a:xfrm>
            <a:prstGeom prst="rect">
              <a:avLst/>
            </a:prstGeom>
          </p:spPr>
          <p:txBody>
            <a:bodyPr anchor="ctr" rtlCol="false" tIns="0" lIns="0" bIns="0" rIns="0"/>
            <a:lstStyle/>
            <a:p>
              <a:pPr algn="l">
                <a:lnSpc>
                  <a:spcPts val="9936"/>
                </a:lnSpc>
              </a:pPr>
              <a:r>
                <a:rPr lang="en-US" sz="6900" b="true">
                  <a:solidFill>
                    <a:srgbClr val="11131B"/>
                  </a:solidFill>
                  <a:latin typeface="Noto Sans Bold"/>
                  <a:ea typeface="Noto Sans Bold"/>
                  <a:cs typeface="Noto Sans Bold"/>
                  <a:sym typeface="Noto Sans Bold"/>
                </a:rPr>
                <a:t>놓친 순간을 다시 보고,</a:t>
              </a:r>
            </a:p>
            <a:p>
              <a:pPr algn="l">
                <a:lnSpc>
                  <a:spcPts val="9936"/>
                </a:lnSpc>
              </a:pPr>
              <a:r>
                <a:rPr lang="en-US" sz="6900" b="true">
                  <a:solidFill>
                    <a:srgbClr val="11131B"/>
                  </a:solidFill>
                  <a:latin typeface="Noto Sans Bold"/>
                  <a:ea typeface="Noto Sans Bold"/>
                  <a:cs typeface="Noto Sans Bold"/>
                  <a:sym typeface="Noto Sans Bold"/>
                </a:rPr>
                <a:t>다음 연습을 바꿉니다.</a:t>
              </a:r>
            </a:p>
          </p:txBody>
        </p:sp>
      </p:grpSp>
      <p:sp>
        <p:nvSpPr>
          <p:cNvPr name="TextBox 20" id="20"/>
          <p:cNvSpPr txBox="true"/>
          <p:nvPr/>
        </p:nvSpPr>
        <p:spPr>
          <a:xfrm rot="0">
            <a:off x="1371600" y="6858000"/>
            <a:ext cx="15544343" cy="685800"/>
          </a:xfrm>
          <a:prstGeom prst="rect">
            <a:avLst/>
          </a:prstGeom>
        </p:spPr>
        <p:txBody>
          <a:bodyPr anchor="t" rtlCol="false" tIns="0" lIns="0" bIns="0" rIns="0">
            <a:spAutoFit/>
          </a:bodyPr>
          <a:lstStyle/>
          <a:p>
            <a:pPr algn="l">
              <a:lnSpc>
                <a:spcPts val="2700"/>
              </a:lnSpc>
            </a:pPr>
            <a:r>
              <a:rPr lang="en-US" sz="2250">
                <a:solidFill>
                  <a:srgbClr val="747987"/>
                </a:solidFill>
                <a:latin typeface="Noto Sans"/>
                <a:ea typeface="Noto Sans"/>
                <a:cs typeface="Noto Sans"/>
                <a:sym typeface="Noto Sans"/>
              </a:rPr>
              <a:t>발표와 면접을 분석해 개선이 필요한 순간을 찾고, 맞춤형 피드백을 제공합니다.</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17</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AIVO의 접근</a:t>
            </a:r>
          </a:p>
        </p:txBody>
      </p:sp>
      <p:sp>
        <p:nvSpPr>
          <p:cNvPr name="TextBox 18" id="18"/>
          <p:cNvSpPr txBox="true"/>
          <p:nvPr/>
        </p:nvSpPr>
        <p:spPr>
          <a:xfrm rot="0">
            <a:off x="1371600" y="1522095"/>
            <a:ext cx="15544343" cy="892302"/>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세 가지를 한 번에 봅니다 - 발표</a:t>
            </a:r>
          </a:p>
        </p:txBody>
      </p:sp>
      <p:grpSp>
        <p:nvGrpSpPr>
          <p:cNvPr name="Group 19" id="19"/>
          <p:cNvGrpSpPr/>
          <p:nvPr/>
        </p:nvGrpSpPr>
        <p:grpSpPr>
          <a:xfrm rot="0">
            <a:off x="1362075" y="3062859"/>
            <a:ext cx="15563393" cy="38252"/>
            <a:chOff x="0" y="0"/>
            <a:chExt cx="20751190" cy="51003"/>
          </a:xfrm>
        </p:grpSpPr>
        <p:sp>
          <p:nvSpPr>
            <p:cNvPr name="Freeform 20" id="2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grpSp>
        <p:nvGrpSpPr>
          <p:cNvPr name="Group 21" id="21"/>
          <p:cNvGrpSpPr/>
          <p:nvPr/>
        </p:nvGrpSpPr>
        <p:grpSpPr>
          <a:xfrm rot="0">
            <a:off x="1362075" y="4105275"/>
            <a:ext cx="3448050" cy="51968"/>
            <a:chOff x="0" y="0"/>
            <a:chExt cx="4597400" cy="69291"/>
          </a:xfrm>
        </p:grpSpPr>
        <p:sp>
          <p:nvSpPr>
            <p:cNvPr name="Freeform 22" id="22"/>
            <p:cNvSpPr/>
            <p:nvPr/>
          </p:nvSpPr>
          <p:spPr>
            <a:xfrm flipH="false" flipV="false" rot="0">
              <a:off x="0" y="0"/>
              <a:ext cx="4597400" cy="69342"/>
            </a:xfrm>
            <a:custGeom>
              <a:avLst/>
              <a:gdLst/>
              <a:ahLst/>
              <a:cxnLst/>
              <a:rect r="r" b="b" t="t" l="l"/>
              <a:pathLst>
                <a:path h="69342" w="4597400">
                  <a:moveTo>
                    <a:pt x="0" y="0"/>
                  </a:moveTo>
                  <a:lnTo>
                    <a:pt x="4597400" y="0"/>
                  </a:lnTo>
                  <a:lnTo>
                    <a:pt x="4597400" y="69342"/>
                  </a:lnTo>
                  <a:lnTo>
                    <a:pt x="0" y="69342"/>
                  </a:lnTo>
                  <a:close/>
                </a:path>
              </a:pathLst>
            </a:custGeom>
            <a:solidFill>
              <a:srgbClr val="E4E6EE"/>
            </a:solidFill>
            <a:ln w="19050" cap="sq">
              <a:solidFill>
                <a:srgbClr val="E4E6EE"/>
              </a:solidFill>
              <a:prstDash val="solid"/>
              <a:miter/>
            </a:ln>
          </p:spPr>
        </p:sp>
      </p:grpSp>
      <p:sp>
        <p:nvSpPr>
          <p:cNvPr name="TextBox 23" id="23"/>
          <p:cNvSpPr txBox="true"/>
          <p:nvPr/>
        </p:nvSpPr>
        <p:spPr>
          <a:xfrm rot="0">
            <a:off x="1371600" y="4379595"/>
            <a:ext cx="3429000" cy="530733"/>
          </a:xfrm>
          <a:prstGeom prst="rect">
            <a:avLst/>
          </a:prstGeom>
        </p:spPr>
        <p:txBody>
          <a:bodyPr anchor="t" rtlCol="false" tIns="0" lIns="0" bIns="0" rIns="0">
            <a:spAutoFit/>
          </a:bodyPr>
          <a:lstStyle/>
          <a:p>
            <a:pPr algn="l">
              <a:lnSpc>
                <a:spcPts val="3240"/>
              </a:lnSpc>
            </a:pPr>
            <a:r>
              <a:rPr lang="en-US" sz="2700" b="true">
                <a:solidFill>
                  <a:srgbClr val="11131B"/>
                </a:solidFill>
                <a:latin typeface="Noto Sans Bold"/>
                <a:ea typeface="Noto Sans Bold"/>
                <a:cs typeface="Noto Sans Bold"/>
                <a:sym typeface="Noto Sans Bold"/>
              </a:rPr>
              <a:t>발표 자료</a:t>
            </a:r>
          </a:p>
        </p:txBody>
      </p:sp>
      <p:sp>
        <p:nvSpPr>
          <p:cNvPr name="TextBox 24" id="24"/>
          <p:cNvSpPr txBox="true"/>
          <p:nvPr/>
        </p:nvSpPr>
        <p:spPr>
          <a:xfrm rot="0">
            <a:off x="1371600" y="4947285"/>
            <a:ext cx="3429000" cy="401955"/>
          </a:xfrm>
          <a:prstGeom prst="rect">
            <a:avLst/>
          </a:prstGeom>
        </p:spPr>
        <p:txBody>
          <a:bodyPr anchor="t" rtlCol="false" tIns="0" lIns="0" bIns="0" rIns="0">
            <a:spAutoFit/>
          </a:bodyPr>
          <a:lstStyle/>
          <a:p>
            <a:pPr algn="l">
              <a:lnSpc>
                <a:spcPts val="2070"/>
              </a:lnSpc>
            </a:pPr>
            <a:r>
              <a:rPr lang="en-US" sz="1725">
                <a:solidFill>
                  <a:srgbClr val="747987"/>
                </a:solidFill>
                <a:latin typeface="Noto Sans"/>
                <a:ea typeface="Noto Sans"/>
                <a:cs typeface="Noto Sans"/>
                <a:sym typeface="Noto Sans"/>
              </a:rPr>
              <a:t>PPTX 슬라이드</a:t>
            </a:r>
          </a:p>
        </p:txBody>
      </p:sp>
      <p:grpSp>
        <p:nvGrpSpPr>
          <p:cNvPr name="Group 25" id="25"/>
          <p:cNvGrpSpPr/>
          <p:nvPr/>
        </p:nvGrpSpPr>
        <p:grpSpPr>
          <a:xfrm rot="0">
            <a:off x="1362075" y="5545455"/>
            <a:ext cx="3448050" cy="51968"/>
            <a:chOff x="0" y="0"/>
            <a:chExt cx="4597400" cy="69291"/>
          </a:xfrm>
        </p:grpSpPr>
        <p:sp>
          <p:nvSpPr>
            <p:cNvPr name="Freeform 26" id="26"/>
            <p:cNvSpPr/>
            <p:nvPr/>
          </p:nvSpPr>
          <p:spPr>
            <a:xfrm flipH="false" flipV="false" rot="0">
              <a:off x="0" y="0"/>
              <a:ext cx="4597400" cy="69342"/>
            </a:xfrm>
            <a:custGeom>
              <a:avLst/>
              <a:gdLst/>
              <a:ahLst/>
              <a:cxnLst/>
              <a:rect r="r" b="b" t="t" l="l"/>
              <a:pathLst>
                <a:path h="69342" w="4597400">
                  <a:moveTo>
                    <a:pt x="0" y="0"/>
                  </a:moveTo>
                  <a:lnTo>
                    <a:pt x="4597400" y="0"/>
                  </a:lnTo>
                  <a:lnTo>
                    <a:pt x="4597400" y="69342"/>
                  </a:lnTo>
                  <a:lnTo>
                    <a:pt x="0" y="69342"/>
                  </a:lnTo>
                  <a:close/>
                </a:path>
              </a:pathLst>
            </a:custGeom>
            <a:solidFill>
              <a:srgbClr val="E4E6EE"/>
            </a:solidFill>
            <a:ln w="19050" cap="sq">
              <a:solidFill>
                <a:srgbClr val="E4E6EE"/>
              </a:solidFill>
              <a:prstDash val="solid"/>
              <a:miter/>
            </a:ln>
          </p:spPr>
        </p:sp>
      </p:grpSp>
      <p:sp>
        <p:nvSpPr>
          <p:cNvPr name="TextBox 27" id="27"/>
          <p:cNvSpPr txBox="true"/>
          <p:nvPr/>
        </p:nvSpPr>
        <p:spPr>
          <a:xfrm rot="0">
            <a:off x="1371600" y="5819775"/>
            <a:ext cx="3429000" cy="530733"/>
          </a:xfrm>
          <a:prstGeom prst="rect">
            <a:avLst/>
          </a:prstGeom>
        </p:spPr>
        <p:txBody>
          <a:bodyPr anchor="t" rtlCol="false" tIns="0" lIns="0" bIns="0" rIns="0">
            <a:spAutoFit/>
          </a:bodyPr>
          <a:lstStyle/>
          <a:p>
            <a:pPr algn="l">
              <a:lnSpc>
                <a:spcPts val="3240"/>
              </a:lnSpc>
            </a:pPr>
            <a:r>
              <a:rPr lang="en-US" sz="2700" b="true">
                <a:solidFill>
                  <a:srgbClr val="11131B"/>
                </a:solidFill>
                <a:latin typeface="Noto Sans Bold"/>
                <a:ea typeface="Noto Sans Bold"/>
                <a:cs typeface="Noto Sans Bold"/>
                <a:sym typeface="Noto Sans Bold"/>
              </a:rPr>
              <a:t>음성</a:t>
            </a:r>
          </a:p>
        </p:txBody>
      </p:sp>
      <p:sp>
        <p:nvSpPr>
          <p:cNvPr name="TextBox 28" id="28"/>
          <p:cNvSpPr txBox="true"/>
          <p:nvPr/>
        </p:nvSpPr>
        <p:spPr>
          <a:xfrm rot="0">
            <a:off x="1371600" y="6387465"/>
            <a:ext cx="3429000" cy="401955"/>
          </a:xfrm>
          <a:prstGeom prst="rect">
            <a:avLst/>
          </a:prstGeom>
        </p:spPr>
        <p:txBody>
          <a:bodyPr anchor="t" rtlCol="false" tIns="0" lIns="0" bIns="0" rIns="0">
            <a:spAutoFit/>
          </a:bodyPr>
          <a:lstStyle/>
          <a:p>
            <a:pPr algn="l">
              <a:lnSpc>
                <a:spcPts val="2070"/>
              </a:lnSpc>
            </a:pPr>
            <a:r>
              <a:rPr lang="en-US" sz="1725">
                <a:solidFill>
                  <a:srgbClr val="747987"/>
                </a:solidFill>
                <a:latin typeface="Noto Sans"/>
                <a:ea typeface="Noto Sans"/>
                <a:cs typeface="Noto Sans"/>
                <a:sym typeface="Noto Sans"/>
              </a:rPr>
              <a:t>발화 · 말하기 습관</a:t>
            </a:r>
          </a:p>
        </p:txBody>
      </p:sp>
      <p:grpSp>
        <p:nvGrpSpPr>
          <p:cNvPr name="Group 29" id="29"/>
          <p:cNvGrpSpPr/>
          <p:nvPr/>
        </p:nvGrpSpPr>
        <p:grpSpPr>
          <a:xfrm rot="0">
            <a:off x="1362075" y="6985635"/>
            <a:ext cx="3448050" cy="51968"/>
            <a:chOff x="0" y="0"/>
            <a:chExt cx="4597400" cy="69291"/>
          </a:xfrm>
        </p:grpSpPr>
        <p:sp>
          <p:nvSpPr>
            <p:cNvPr name="Freeform 30" id="30"/>
            <p:cNvSpPr/>
            <p:nvPr/>
          </p:nvSpPr>
          <p:spPr>
            <a:xfrm flipH="false" flipV="false" rot="0">
              <a:off x="0" y="0"/>
              <a:ext cx="4597400" cy="69342"/>
            </a:xfrm>
            <a:custGeom>
              <a:avLst/>
              <a:gdLst/>
              <a:ahLst/>
              <a:cxnLst/>
              <a:rect r="r" b="b" t="t" l="l"/>
              <a:pathLst>
                <a:path h="69342" w="4597400">
                  <a:moveTo>
                    <a:pt x="0" y="0"/>
                  </a:moveTo>
                  <a:lnTo>
                    <a:pt x="4597400" y="0"/>
                  </a:lnTo>
                  <a:lnTo>
                    <a:pt x="4597400" y="69342"/>
                  </a:lnTo>
                  <a:lnTo>
                    <a:pt x="0" y="69342"/>
                  </a:lnTo>
                  <a:close/>
                </a:path>
              </a:pathLst>
            </a:custGeom>
            <a:solidFill>
              <a:srgbClr val="E4E6EE"/>
            </a:solidFill>
            <a:ln w="19050" cap="sq">
              <a:solidFill>
                <a:srgbClr val="E4E6EE"/>
              </a:solidFill>
              <a:prstDash val="solid"/>
              <a:miter/>
            </a:ln>
          </p:spPr>
        </p:sp>
      </p:grpSp>
      <p:sp>
        <p:nvSpPr>
          <p:cNvPr name="TextBox 31" id="31"/>
          <p:cNvSpPr txBox="true"/>
          <p:nvPr/>
        </p:nvSpPr>
        <p:spPr>
          <a:xfrm rot="0">
            <a:off x="1371600" y="7259955"/>
            <a:ext cx="3429000" cy="530733"/>
          </a:xfrm>
          <a:prstGeom prst="rect">
            <a:avLst/>
          </a:prstGeom>
        </p:spPr>
        <p:txBody>
          <a:bodyPr anchor="t" rtlCol="false" tIns="0" lIns="0" bIns="0" rIns="0">
            <a:spAutoFit/>
          </a:bodyPr>
          <a:lstStyle/>
          <a:p>
            <a:pPr algn="l">
              <a:lnSpc>
                <a:spcPts val="3240"/>
              </a:lnSpc>
            </a:pPr>
            <a:r>
              <a:rPr lang="en-US" sz="2700" b="true">
                <a:solidFill>
                  <a:srgbClr val="11131B"/>
                </a:solidFill>
                <a:latin typeface="Noto Sans Bold"/>
                <a:ea typeface="Noto Sans Bold"/>
                <a:cs typeface="Noto Sans Bold"/>
                <a:sym typeface="Noto Sans Bold"/>
              </a:rPr>
              <a:t>영상</a:t>
            </a:r>
          </a:p>
        </p:txBody>
      </p:sp>
      <p:sp>
        <p:nvSpPr>
          <p:cNvPr name="TextBox 32" id="32"/>
          <p:cNvSpPr txBox="true"/>
          <p:nvPr/>
        </p:nvSpPr>
        <p:spPr>
          <a:xfrm rot="0">
            <a:off x="1371600" y="7827645"/>
            <a:ext cx="3429000" cy="401955"/>
          </a:xfrm>
          <a:prstGeom prst="rect">
            <a:avLst/>
          </a:prstGeom>
        </p:spPr>
        <p:txBody>
          <a:bodyPr anchor="t" rtlCol="false" tIns="0" lIns="0" bIns="0" rIns="0">
            <a:spAutoFit/>
          </a:bodyPr>
          <a:lstStyle/>
          <a:p>
            <a:pPr algn="l">
              <a:lnSpc>
                <a:spcPts val="2070"/>
              </a:lnSpc>
            </a:pPr>
            <a:r>
              <a:rPr lang="en-US" sz="1725">
                <a:solidFill>
                  <a:srgbClr val="747987"/>
                </a:solidFill>
                <a:latin typeface="Noto Sans"/>
                <a:ea typeface="Noto Sans"/>
                <a:cs typeface="Noto Sans"/>
                <a:sym typeface="Noto Sans"/>
              </a:rPr>
              <a:t>시선 · 자세</a:t>
            </a:r>
          </a:p>
        </p:txBody>
      </p:sp>
      <p:sp>
        <p:nvSpPr>
          <p:cNvPr name="TextBox 33" id="33"/>
          <p:cNvSpPr txBox="true"/>
          <p:nvPr/>
        </p:nvSpPr>
        <p:spPr>
          <a:xfrm rot="0">
            <a:off x="5280660" y="5417820"/>
            <a:ext cx="822960" cy="685800"/>
          </a:xfrm>
          <a:prstGeom prst="rect">
            <a:avLst/>
          </a:prstGeom>
        </p:spPr>
        <p:txBody>
          <a:bodyPr anchor="t" rtlCol="false" tIns="0" lIns="0" bIns="0" rIns="0">
            <a:spAutoFit/>
          </a:bodyPr>
          <a:lstStyle/>
          <a:p>
            <a:pPr algn="ctr">
              <a:lnSpc>
                <a:spcPts val="3600"/>
              </a:lnSpc>
            </a:pPr>
            <a:r>
              <a:rPr lang="en-US" sz="3000" b="true">
                <a:solidFill>
                  <a:srgbClr val="3B73EE"/>
                </a:solidFill>
                <a:latin typeface="Noto Sans Bold"/>
                <a:ea typeface="Noto Sans Bold"/>
                <a:cs typeface="Noto Sans Bold"/>
                <a:sym typeface="Noto Sans Bold"/>
              </a:rPr>
              <a:t>→</a:t>
            </a:r>
          </a:p>
        </p:txBody>
      </p:sp>
      <p:sp>
        <p:nvSpPr>
          <p:cNvPr name="TextBox 34" id="34"/>
          <p:cNvSpPr txBox="true"/>
          <p:nvPr/>
        </p:nvSpPr>
        <p:spPr>
          <a:xfrm rot="0">
            <a:off x="6309360" y="4869180"/>
            <a:ext cx="4663440" cy="1234440"/>
          </a:xfrm>
          <a:prstGeom prst="rect">
            <a:avLst/>
          </a:prstGeom>
        </p:spPr>
        <p:txBody>
          <a:bodyPr anchor="t" rtlCol="false" tIns="0" lIns="0" bIns="0" rIns="0">
            <a:spAutoFit/>
          </a:bodyPr>
          <a:lstStyle/>
          <a:p>
            <a:pPr algn="ctr">
              <a:lnSpc>
                <a:spcPts val="8280"/>
              </a:lnSpc>
            </a:pPr>
            <a:r>
              <a:rPr lang="en-US" sz="6900" b="true">
                <a:solidFill>
                  <a:srgbClr val="3B73EE"/>
                </a:solidFill>
                <a:latin typeface="Noto Sans Bold"/>
                <a:ea typeface="Noto Sans Bold"/>
                <a:cs typeface="Noto Sans Bold"/>
                <a:sym typeface="Noto Sans Bold"/>
              </a:rPr>
              <a:t>AIVO</a:t>
            </a:r>
          </a:p>
        </p:txBody>
      </p:sp>
      <p:sp>
        <p:nvSpPr>
          <p:cNvPr name="TextBox 35" id="35"/>
          <p:cNvSpPr txBox="true"/>
          <p:nvPr/>
        </p:nvSpPr>
        <p:spPr>
          <a:xfrm rot="0">
            <a:off x="6309360" y="6172200"/>
            <a:ext cx="4663440" cy="548640"/>
          </a:xfrm>
          <a:prstGeom prst="rect">
            <a:avLst/>
          </a:prstGeom>
        </p:spPr>
        <p:txBody>
          <a:bodyPr anchor="t" rtlCol="false" tIns="0" lIns="0" bIns="0" rIns="0">
            <a:spAutoFit/>
          </a:bodyPr>
          <a:lstStyle/>
          <a:p>
            <a:pPr algn="ctr">
              <a:lnSpc>
                <a:spcPts val="2700"/>
              </a:lnSpc>
            </a:pPr>
            <a:r>
              <a:rPr lang="en-US" sz="2250" b="true">
                <a:solidFill>
                  <a:srgbClr val="747987"/>
                </a:solidFill>
                <a:latin typeface="Noto Sans Bold"/>
                <a:ea typeface="Noto Sans Bold"/>
                <a:cs typeface="Noto Sans Bold"/>
                <a:sym typeface="Noto Sans Bold"/>
              </a:rPr>
              <a:t>통합 분석</a:t>
            </a:r>
          </a:p>
        </p:txBody>
      </p:sp>
      <p:sp>
        <p:nvSpPr>
          <p:cNvPr name="TextBox 36" id="36"/>
          <p:cNvSpPr txBox="true"/>
          <p:nvPr/>
        </p:nvSpPr>
        <p:spPr>
          <a:xfrm rot="0">
            <a:off x="11178540" y="5417820"/>
            <a:ext cx="822960" cy="685800"/>
          </a:xfrm>
          <a:prstGeom prst="rect">
            <a:avLst/>
          </a:prstGeom>
        </p:spPr>
        <p:txBody>
          <a:bodyPr anchor="t" rtlCol="false" tIns="0" lIns="0" bIns="0" rIns="0">
            <a:spAutoFit/>
          </a:bodyPr>
          <a:lstStyle/>
          <a:p>
            <a:pPr algn="ctr">
              <a:lnSpc>
                <a:spcPts val="3600"/>
              </a:lnSpc>
            </a:pPr>
            <a:r>
              <a:rPr lang="en-US" sz="3000" b="true">
                <a:solidFill>
                  <a:srgbClr val="3B73EE"/>
                </a:solidFill>
                <a:latin typeface="Noto Sans Bold"/>
                <a:ea typeface="Noto Sans Bold"/>
                <a:cs typeface="Noto Sans Bold"/>
                <a:sym typeface="Noto Sans Bold"/>
              </a:rPr>
              <a:t>→</a:t>
            </a:r>
          </a:p>
        </p:txBody>
      </p:sp>
      <p:grpSp>
        <p:nvGrpSpPr>
          <p:cNvPr name="Group 37" id="37"/>
          <p:cNvGrpSpPr/>
          <p:nvPr/>
        </p:nvGrpSpPr>
        <p:grpSpPr>
          <a:xfrm rot="0">
            <a:off x="12266295" y="4105275"/>
            <a:ext cx="4655058" cy="51968"/>
            <a:chOff x="0" y="0"/>
            <a:chExt cx="6206744" cy="69291"/>
          </a:xfrm>
        </p:grpSpPr>
        <p:sp>
          <p:nvSpPr>
            <p:cNvPr name="Freeform 38" id="38"/>
            <p:cNvSpPr/>
            <p:nvPr/>
          </p:nvSpPr>
          <p:spPr>
            <a:xfrm flipH="false" flipV="false" rot="0">
              <a:off x="0" y="0"/>
              <a:ext cx="6206744" cy="69342"/>
            </a:xfrm>
            <a:custGeom>
              <a:avLst/>
              <a:gdLst/>
              <a:ahLst/>
              <a:cxnLst/>
              <a:rect r="r" b="b" t="t" l="l"/>
              <a:pathLst>
                <a:path h="69342" w="6206744">
                  <a:moveTo>
                    <a:pt x="0" y="0"/>
                  </a:moveTo>
                  <a:lnTo>
                    <a:pt x="6206744" y="0"/>
                  </a:lnTo>
                  <a:lnTo>
                    <a:pt x="6206744" y="69342"/>
                  </a:lnTo>
                  <a:lnTo>
                    <a:pt x="0" y="69342"/>
                  </a:lnTo>
                  <a:close/>
                </a:path>
              </a:pathLst>
            </a:custGeom>
            <a:solidFill>
              <a:srgbClr val="3B73EE"/>
            </a:solidFill>
            <a:ln w="19050" cap="sq">
              <a:solidFill>
                <a:srgbClr val="3B73EE"/>
              </a:solidFill>
              <a:prstDash val="solid"/>
              <a:miter/>
            </a:ln>
          </p:spPr>
        </p:sp>
      </p:grpSp>
      <p:sp>
        <p:nvSpPr>
          <p:cNvPr name="TextBox 39" id="39"/>
          <p:cNvSpPr txBox="true"/>
          <p:nvPr/>
        </p:nvSpPr>
        <p:spPr>
          <a:xfrm rot="0">
            <a:off x="12275820" y="4426077"/>
            <a:ext cx="4636008" cy="539115"/>
          </a:xfrm>
          <a:prstGeom prst="rect">
            <a:avLst/>
          </a:prstGeom>
        </p:spPr>
        <p:txBody>
          <a:bodyPr anchor="t" rtlCol="false" tIns="0" lIns="0" bIns="0" rIns="0">
            <a:spAutoFit/>
          </a:bodyPr>
          <a:lstStyle/>
          <a:p>
            <a:pPr algn="l">
              <a:lnSpc>
                <a:spcPts val="2879"/>
              </a:lnSpc>
            </a:pPr>
            <a:r>
              <a:rPr lang="en-US" sz="2400" b="true">
                <a:solidFill>
                  <a:srgbClr val="1F4FC4"/>
                </a:solidFill>
                <a:latin typeface="Noto Sans Bold"/>
                <a:ea typeface="Noto Sans Bold"/>
                <a:cs typeface="Noto Sans Bold"/>
                <a:sym typeface="Noto Sans Bold"/>
              </a:rPr>
              <a:t>문제 구간과 근거</a:t>
            </a:r>
          </a:p>
        </p:txBody>
      </p:sp>
      <p:grpSp>
        <p:nvGrpSpPr>
          <p:cNvPr name="Group 40" id="40"/>
          <p:cNvGrpSpPr/>
          <p:nvPr/>
        </p:nvGrpSpPr>
        <p:grpSpPr>
          <a:xfrm rot="0">
            <a:off x="12266295" y="5545455"/>
            <a:ext cx="4655058" cy="51968"/>
            <a:chOff x="0" y="0"/>
            <a:chExt cx="6206744" cy="69291"/>
          </a:xfrm>
        </p:grpSpPr>
        <p:sp>
          <p:nvSpPr>
            <p:cNvPr name="Freeform 41" id="41"/>
            <p:cNvSpPr/>
            <p:nvPr/>
          </p:nvSpPr>
          <p:spPr>
            <a:xfrm flipH="false" flipV="false" rot="0">
              <a:off x="0" y="0"/>
              <a:ext cx="6206744" cy="69342"/>
            </a:xfrm>
            <a:custGeom>
              <a:avLst/>
              <a:gdLst/>
              <a:ahLst/>
              <a:cxnLst/>
              <a:rect r="r" b="b" t="t" l="l"/>
              <a:pathLst>
                <a:path h="69342" w="6206744">
                  <a:moveTo>
                    <a:pt x="0" y="0"/>
                  </a:moveTo>
                  <a:lnTo>
                    <a:pt x="6206744" y="0"/>
                  </a:lnTo>
                  <a:lnTo>
                    <a:pt x="6206744" y="69342"/>
                  </a:lnTo>
                  <a:lnTo>
                    <a:pt x="0" y="69342"/>
                  </a:lnTo>
                  <a:close/>
                </a:path>
              </a:pathLst>
            </a:custGeom>
            <a:solidFill>
              <a:srgbClr val="3B73EE"/>
            </a:solidFill>
            <a:ln w="19050" cap="sq">
              <a:solidFill>
                <a:srgbClr val="3B73EE"/>
              </a:solidFill>
              <a:prstDash val="solid"/>
              <a:miter/>
            </a:ln>
          </p:spPr>
        </p:sp>
      </p:grpSp>
      <p:sp>
        <p:nvSpPr>
          <p:cNvPr name="TextBox 42" id="42"/>
          <p:cNvSpPr txBox="true"/>
          <p:nvPr/>
        </p:nvSpPr>
        <p:spPr>
          <a:xfrm rot="0">
            <a:off x="12275820" y="5866257"/>
            <a:ext cx="4636008" cy="539115"/>
          </a:xfrm>
          <a:prstGeom prst="rect">
            <a:avLst/>
          </a:prstGeom>
        </p:spPr>
        <p:txBody>
          <a:bodyPr anchor="t" rtlCol="false" tIns="0" lIns="0" bIns="0" rIns="0">
            <a:spAutoFit/>
          </a:bodyPr>
          <a:lstStyle/>
          <a:p>
            <a:pPr algn="l">
              <a:lnSpc>
                <a:spcPts val="2879"/>
              </a:lnSpc>
            </a:pPr>
            <a:r>
              <a:rPr lang="en-US" sz="2400" b="true">
                <a:solidFill>
                  <a:srgbClr val="1F4FC4"/>
                </a:solidFill>
                <a:latin typeface="Noto Sans Bold"/>
                <a:ea typeface="Noto Sans Bold"/>
                <a:cs typeface="Noto Sans Bold"/>
                <a:sym typeface="Noto Sans Bold"/>
              </a:rPr>
              <a:t>슬라이드별 피드백</a:t>
            </a:r>
          </a:p>
        </p:txBody>
      </p:sp>
      <p:grpSp>
        <p:nvGrpSpPr>
          <p:cNvPr name="Group 43" id="43"/>
          <p:cNvGrpSpPr/>
          <p:nvPr/>
        </p:nvGrpSpPr>
        <p:grpSpPr>
          <a:xfrm rot="0">
            <a:off x="12266295" y="6985635"/>
            <a:ext cx="4655058" cy="51968"/>
            <a:chOff x="0" y="0"/>
            <a:chExt cx="6206744" cy="69291"/>
          </a:xfrm>
        </p:grpSpPr>
        <p:sp>
          <p:nvSpPr>
            <p:cNvPr name="Freeform 44" id="44"/>
            <p:cNvSpPr/>
            <p:nvPr/>
          </p:nvSpPr>
          <p:spPr>
            <a:xfrm flipH="false" flipV="false" rot="0">
              <a:off x="0" y="0"/>
              <a:ext cx="6206744" cy="69342"/>
            </a:xfrm>
            <a:custGeom>
              <a:avLst/>
              <a:gdLst/>
              <a:ahLst/>
              <a:cxnLst/>
              <a:rect r="r" b="b" t="t" l="l"/>
              <a:pathLst>
                <a:path h="69342" w="6206744">
                  <a:moveTo>
                    <a:pt x="0" y="0"/>
                  </a:moveTo>
                  <a:lnTo>
                    <a:pt x="6206744" y="0"/>
                  </a:lnTo>
                  <a:lnTo>
                    <a:pt x="6206744" y="69342"/>
                  </a:lnTo>
                  <a:lnTo>
                    <a:pt x="0" y="69342"/>
                  </a:lnTo>
                  <a:close/>
                </a:path>
              </a:pathLst>
            </a:custGeom>
            <a:solidFill>
              <a:srgbClr val="3B73EE"/>
            </a:solidFill>
            <a:ln w="19050" cap="sq">
              <a:solidFill>
                <a:srgbClr val="3B73EE"/>
              </a:solidFill>
              <a:prstDash val="solid"/>
              <a:miter/>
            </a:ln>
          </p:spPr>
        </p:sp>
      </p:grpSp>
      <p:sp>
        <p:nvSpPr>
          <p:cNvPr name="TextBox 45" id="45"/>
          <p:cNvSpPr txBox="true"/>
          <p:nvPr/>
        </p:nvSpPr>
        <p:spPr>
          <a:xfrm rot="0">
            <a:off x="12275820" y="7306437"/>
            <a:ext cx="4636008" cy="539115"/>
          </a:xfrm>
          <a:prstGeom prst="rect">
            <a:avLst/>
          </a:prstGeom>
        </p:spPr>
        <p:txBody>
          <a:bodyPr anchor="t" rtlCol="false" tIns="0" lIns="0" bIns="0" rIns="0">
            <a:spAutoFit/>
          </a:bodyPr>
          <a:lstStyle/>
          <a:p>
            <a:pPr algn="l">
              <a:lnSpc>
                <a:spcPts val="2879"/>
              </a:lnSpc>
            </a:pPr>
            <a:r>
              <a:rPr lang="en-US" sz="2400" b="true">
                <a:solidFill>
                  <a:srgbClr val="1F4FC4"/>
                </a:solidFill>
                <a:latin typeface="Noto Sans Bold"/>
                <a:ea typeface="Noto Sans Bold"/>
                <a:cs typeface="Noto Sans Bold"/>
                <a:sym typeface="Noto Sans Bold"/>
              </a:rPr>
              <a:t>이전 시도와 비교</a:t>
            </a:r>
          </a:p>
        </p:txBody>
      </p:sp>
      <p:sp>
        <p:nvSpPr>
          <p:cNvPr name="TextBox 46" id="46"/>
          <p:cNvSpPr txBox="true"/>
          <p:nvPr/>
        </p:nvSpPr>
        <p:spPr>
          <a:xfrm rot="0">
            <a:off x="1371600" y="8787765"/>
            <a:ext cx="15544343" cy="429387"/>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말하기 방식만 보는 것이 아니라, 준비한 자료와 실제 발화를 함께 대조합니다.</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17</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AIVO의 접근</a:t>
            </a:r>
          </a:p>
        </p:txBody>
      </p:sp>
      <p:sp>
        <p:nvSpPr>
          <p:cNvPr name="TextBox 18" id="18"/>
          <p:cNvSpPr txBox="true"/>
          <p:nvPr/>
        </p:nvSpPr>
        <p:spPr>
          <a:xfrm rot="0">
            <a:off x="1371600" y="1522095"/>
            <a:ext cx="15544343" cy="892302"/>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세 가지를 한 번에 봅니다 - 면접</a:t>
            </a:r>
          </a:p>
        </p:txBody>
      </p:sp>
      <p:grpSp>
        <p:nvGrpSpPr>
          <p:cNvPr name="Group 19" id="19"/>
          <p:cNvGrpSpPr/>
          <p:nvPr/>
        </p:nvGrpSpPr>
        <p:grpSpPr>
          <a:xfrm rot="0">
            <a:off x="1362075" y="3062859"/>
            <a:ext cx="15563393" cy="38252"/>
            <a:chOff x="0" y="0"/>
            <a:chExt cx="20751190" cy="51003"/>
          </a:xfrm>
        </p:grpSpPr>
        <p:sp>
          <p:nvSpPr>
            <p:cNvPr name="Freeform 20" id="2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grpSp>
        <p:nvGrpSpPr>
          <p:cNvPr name="Group 21" id="21"/>
          <p:cNvGrpSpPr/>
          <p:nvPr/>
        </p:nvGrpSpPr>
        <p:grpSpPr>
          <a:xfrm rot="0">
            <a:off x="1362075" y="4105275"/>
            <a:ext cx="3448050" cy="51968"/>
            <a:chOff x="0" y="0"/>
            <a:chExt cx="4597400" cy="69291"/>
          </a:xfrm>
        </p:grpSpPr>
        <p:sp>
          <p:nvSpPr>
            <p:cNvPr name="Freeform 22" id="22"/>
            <p:cNvSpPr/>
            <p:nvPr/>
          </p:nvSpPr>
          <p:spPr>
            <a:xfrm flipH="false" flipV="false" rot="0">
              <a:off x="0" y="0"/>
              <a:ext cx="4597400" cy="69342"/>
            </a:xfrm>
            <a:custGeom>
              <a:avLst/>
              <a:gdLst/>
              <a:ahLst/>
              <a:cxnLst/>
              <a:rect r="r" b="b" t="t" l="l"/>
              <a:pathLst>
                <a:path h="69342" w="4597400">
                  <a:moveTo>
                    <a:pt x="0" y="0"/>
                  </a:moveTo>
                  <a:lnTo>
                    <a:pt x="4597400" y="0"/>
                  </a:lnTo>
                  <a:lnTo>
                    <a:pt x="4597400" y="69342"/>
                  </a:lnTo>
                  <a:lnTo>
                    <a:pt x="0" y="69342"/>
                  </a:lnTo>
                  <a:close/>
                </a:path>
              </a:pathLst>
            </a:custGeom>
            <a:solidFill>
              <a:srgbClr val="E4E6EE"/>
            </a:solidFill>
            <a:ln w="19050" cap="sq">
              <a:solidFill>
                <a:srgbClr val="E4E6EE"/>
              </a:solidFill>
              <a:prstDash val="solid"/>
              <a:miter/>
            </a:ln>
          </p:spPr>
        </p:sp>
      </p:grpSp>
      <p:sp>
        <p:nvSpPr>
          <p:cNvPr name="TextBox 23" id="23"/>
          <p:cNvSpPr txBox="true"/>
          <p:nvPr/>
        </p:nvSpPr>
        <p:spPr>
          <a:xfrm rot="0">
            <a:off x="1371600" y="4379595"/>
            <a:ext cx="3429000" cy="419100"/>
          </a:xfrm>
          <a:prstGeom prst="rect">
            <a:avLst/>
          </a:prstGeom>
        </p:spPr>
        <p:txBody>
          <a:bodyPr anchor="t" rtlCol="false" tIns="0" lIns="0" bIns="0" rIns="0">
            <a:spAutoFit/>
          </a:bodyPr>
          <a:lstStyle/>
          <a:p>
            <a:pPr algn="l">
              <a:lnSpc>
                <a:spcPts val="3240"/>
              </a:lnSpc>
            </a:pPr>
            <a:r>
              <a:rPr lang="en-US" sz="2700" b="true">
                <a:solidFill>
                  <a:srgbClr val="11131B"/>
                </a:solidFill>
                <a:latin typeface="Noto Sans Bold"/>
                <a:ea typeface="Noto Sans Bold"/>
                <a:cs typeface="Noto Sans Bold"/>
                <a:sym typeface="Noto Sans Bold"/>
              </a:rPr>
              <a:t>발표 자료</a:t>
            </a:r>
          </a:p>
        </p:txBody>
      </p:sp>
      <p:sp>
        <p:nvSpPr>
          <p:cNvPr name="TextBox 24" id="24"/>
          <p:cNvSpPr txBox="true"/>
          <p:nvPr/>
        </p:nvSpPr>
        <p:spPr>
          <a:xfrm rot="0">
            <a:off x="1371600" y="4947285"/>
            <a:ext cx="3429000" cy="401955"/>
          </a:xfrm>
          <a:prstGeom prst="rect">
            <a:avLst/>
          </a:prstGeom>
        </p:spPr>
        <p:txBody>
          <a:bodyPr anchor="t" rtlCol="false" tIns="0" lIns="0" bIns="0" rIns="0">
            <a:spAutoFit/>
          </a:bodyPr>
          <a:lstStyle/>
          <a:p>
            <a:pPr algn="l">
              <a:lnSpc>
                <a:spcPts val="2070"/>
              </a:lnSpc>
            </a:pPr>
            <a:r>
              <a:rPr lang="en-US" sz="1725">
                <a:solidFill>
                  <a:srgbClr val="747987"/>
                </a:solidFill>
                <a:latin typeface="Noto Sans"/>
                <a:ea typeface="Noto Sans"/>
                <a:cs typeface="Noto Sans"/>
                <a:sym typeface="Noto Sans"/>
              </a:rPr>
              <a:t>PPTX 슬라이드</a:t>
            </a:r>
          </a:p>
        </p:txBody>
      </p:sp>
      <p:grpSp>
        <p:nvGrpSpPr>
          <p:cNvPr name="Group 25" id="25"/>
          <p:cNvGrpSpPr/>
          <p:nvPr/>
        </p:nvGrpSpPr>
        <p:grpSpPr>
          <a:xfrm rot="0">
            <a:off x="1362075" y="5545455"/>
            <a:ext cx="3448050" cy="51968"/>
            <a:chOff x="0" y="0"/>
            <a:chExt cx="4597400" cy="69291"/>
          </a:xfrm>
        </p:grpSpPr>
        <p:sp>
          <p:nvSpPr>
            <p:cNvPr name="Freeform 26" id="26"/>
            <p:cNvSpPr/>
            <p:nvPr/>
          </p:nvSpPr>
          <p:spPr>
            <a:xfrm flipH="false" flipV="false" rot="0">
              <a:off x="0" y="0"/>
              <a:ext cx="4597400" cy="69342"/>
            </a:xfrm>
            <a:custGeom>
              <a:avLst/>
              <a:gdLst/>
              <a:ahLst/>
              <a:cxnLst/>
              <a:rect r="r" b="b" t="t" l="l"/>
              <a:pathLst>
                <a:path h="69342" w="4597400">
                  <a:moveTo>
                    <a:pt x="0" y="0"/>
                  </a:moveTo>
                  <a:lnTo>
                    <a:pt x="4597400" y="0"/>
                  </a:lnTo>
                  <a:lnTo>
                    <a:pt x="4597400" y="69342"/>
                  </a:lnTo>
                  <a:lnTo>
                    <a:pt x="0" y="69342"/>
                  </a:lnTo>
                  <a:close/>
                </a:path>
              </a:pathLst>
            </a:custGeom>
            <a:solidFill>
              <a:srgbClr val="E4E6EE"/>
            </a:solidFill>
            <a:ln w="19050" cap="sq">
              <a:solidFill>
                <a:srgbClr val="E4E6EE"/>
              </a:solidFill>
              <a:prstDash val="solid"/>
              <a:miter/>
            </a:ln>
          </p:spPr>
        </p:sp>
      </p:grpSp>
      <p:sp>
        <p:nvSpPr>
          <p:cNvPr name="TextBox 27" id="27"/>
          <p:cNvSpPr txBox="true"/>
          <p:nvPr/>
        </p:nvSpPr>
        <p:spPr>
          <a:xfrm rot="0">
            <a:off x="1371600" y="5819775"/>
            <a:ext cx="3429000" cy="530733"/>
          </a:xfrm>
          <a:prstGeom prst="rect">
            <a:avLst/>
          </a:prstGeom>
        </p:spPr>
        <p:txBody>
          <a:bodyPr anchor="t" rtlCol="false" tIns="0" lIns="0" bIns="0" rIns="0">
            <a:spAutoFit/>
          </a:bodyPr>
          <a:lstStyle/>
          <a:p>
            <a:pPr algn="l">
              <a:lnSpc>
                <a:spcPts val="3240"/>
              </a:lnSpc>
            </a:pPr>
            <a:r>
              <a:rPr lang="en-US" sz="2700" b="true">
                <a:solidFill>
                  <a:srgbClr val="11131B"/>
                </a:solidFill>
                <a:latin typeface="Noto Sans Bold"/>
                <a:ea typeface="Noto Sans Bold"/>
                <a:cs typeface="Noto Sans Bold"/>
                <a:sym typeface="Noto Sans Bold"/>
              </a:rPr>
              <a:t>음성</a:t>
            </a:r>
          </a:p>
        </p:txBody>
      </p:sp>
      <p:sp>
        <p:nvSpPr>
          <p:cNvPr name="TextBox 28" id="28"/>
          <p:cNvSpPr txBox="true"/>
          <p:nvPr/>
        </p:nvSpPr>
        <p:spPr>
          <a:xfrm rot="0">
            <a:off x="1371600" y="6387465"/>
            <a:ext cx="3429000" cy="401955"/>
          </a:xfrm>
          <a:prstGeom prst="rect">
            <a:avLst/>
          </a:prstGeom>
        </p:spPr>
        <p:txBody>
          <a:bodyPr anchor="t" rtlCol="false" tIns="0" lIns="0" bIns="0" rIns="0">
            <a:spAutoFit/>
          </a:bodyPr>
          <a:lstStyle/>
          <a:p>
            <a:pPr algn="l">
              <a:lnSpc>
                <a:spcPts val="2070"/>
              </a:lnSpc>
            </a:pPr>
            <a:r>
              <a:rPr lang="en-US" sz="1725">
                <a:solidFill>
                  <a:srgbClr val="747987"/>
                </a:solidFill>
                <a:latin typeface="Noto Sans"/>
                <a:ea typeface="Noto Sans"/>
                <a:cs typeface="Noto Sans"/>
                <a:sym typeface="Noto Sans"/>
              </a:rPr>
              <a:t>발화 · 말하기 습관</a:t>
            </a:r>
          </a:p>
        </p:txBody>
      </p:sp>
      <p:grpSp>
        <p:nvGrpSpPr>
          <p:cNvPr name="Group 29" id="29"/>
          <p:cNvGrpSpPr/>
          <p:nvPr/>
        </p:nvGrpSpPr>
        <p:grpSpPr>
          <a:xfrm rot="0">
            <a:off x="1362075" y="6985635"/>
            <a:ext cx="3448050" cy="51968"/>
            <a:chOff x="0" y="0"/>
            <a:chExt cx="4597400" cy="69291"/>
          </a:xfrm>
        </p:grpSpPr>
        <p:sp>
          <p:nvSpPr>
            <p:cNvPr name="Freeform 30" id="30"/>
            <p:cNvSpPr/>
            <p:nvPr/>
          </p:nvSpPr>
          <p:spPr>
            <a:xfrm flipH="false" flipV="false" rot="0">
              <a:off x="0" y="0"/>
              <a:ext cx="4597400" cy="69342"/>
            </a:xfrm>
            <a:custGeom>
              <a:avLst/>
              <a:gdLst/>
              <a:ahLst/>
              <a:cxnLst/>
              <a:rect r="r" b="b" t="t" l="l"/>
              <a:pathLst>
                <a:path h="69342" w="4597400">
                  <a:moveTo>
                    <a:pt x="0" y="0"/>
                  </a:moveTo>
                  <a:lnTo>
                    <a:pt x="4597400" y="0"/>
                  </a:lnTo>
                  <a:lnTo>
                    <a:pt x="4597400" y="69342"/>
                  </a:lnTo>
                  <a:lnTo>
                    <a:pt x="0" y="69342"/>
                  </a:lnTo>
                  <a:close/>
                </a:path>
              </a:pathLst>
            </a:custGeom>
            <a:solidFill>
              <a:srgbClr val="E4E6EE"/>
            </a:solidFill>
            <a:ln w="19050" cap="sq">
              <a:solidFill>
                <a:srgbClr val="E4E6EE"/>
              </a:solidFill>
              <a:prstDash val="solid"/>
              <a:miter/>
            </a:ln>
          </p:spPr>
        </p:sp>
      </p:grpSp>
      <p:sp>
        <p:nvSpPr>
          <p:cNvPr name="TextBox 31" id="31"/>
          <p:cNvSpPr txBox="true"/>
          <p:nvPr/>
        </p:nvSpPr>
        <p:spPr>
          <a:xfrm rot="0">
            <a:off x="1371600" y="7259955"/>
            <a:ext cx="3429000" cy="530733"/>
          </a:xfrm>
          <a:prstGeom prst="rect">
            <a:avLst/>
          </a:prstGeom>
        </p:spPr>
        <p:txBody>
          <a:bodyPr anchor="t" rtlCol="false" tIns="0" lIns="0" bIns="0" rIns="0">
            <a:spAutoFit/>
          </a:bodyPr>
          <a:lstStyle/>
          <a:p>
            <a:pPr algn="l">
              <a:lnSpc>
                <a:spcPts val="3240"/>
              </a:lnSpc>
            </a:pPr>
            <a:r>
              <a:rPr lang="en-US" sz="2700" b="true">
                <a:solidFill>
                  <a:srgbClr val="11131B"/>
                </a:solidFill>
                <a:latin typeface="Noto Sans Bold"/>
                <a:ea typeface="Noto Sans Bold"/>
                <a:cs typeface="Noto Sans Bold"/>
                <a:sym typeface="Noto Sans Bold"/>
              </a:rPr>
              <a:t>영상</a:t>
            </a:r>
          </a:p>
        </p:txBody>
      </p:sp>
      <p:sp>
        <p:nvSpPr>
          <p:cNvPr name="TextBox 32" id="32"/>
          <p:cNvSpPr txBox="true"/>
          <p:nvPr/>
        </p:nvSpPr>
        <p:spPr>
          <a:xfrm rot="0">
            <a:off x="1371600" y="7827645"/>
            <a:ext cx="3429000" cy="401955"/>
          </a:xfrm>
          <a:prstGeom prst="rect">
            <a:avLst/>
          </a:prstGeom>
        </p:spPr>
        <p:txBody>
          <a:bodyPr anchor="t" rtlCol="false" tIns="0" lIns="0" bIns="0" rIns="0">
            <a:spAutoFit/>
          </a:bodyPr>
          <a:lstStyle/>
          <a:p>
            <a:pPr algn="l">
              <a:lnSpc>
                <a:spcPts val="2070"/>
              </a:lnSpc>
            </a:pPr>
            <a:r>
              <a:rPr lang="en-US" sz="1725">
                <a:solidFill>
                  <a:srgbClr val="747987"/>
                </a:solidFill>
                <a:latin typeface="Noto Sans"/>
                <a:ea typeface="Noto Sans"/>
                <a:cs typeface="Noto Sans"/>
                <a:sym typeface="Noto Sans"/>
              </a:rPr>
              <a:t>시선 · 자세</a:t>
            </a:r>
          </a:p>
        </p:txBody>
      </p:sp>
      <p:sp>
        <p:nvSpPr>
          <p:cNvPr name="TextBox 33" id="33"/>
          <p:cNvSpPr txBox="true"/>
          <p:nvPr/>
        </p:nvSpPr>
        <p:spPr>
          <a:xfrm rot="0">
            <a:off x="5280660" y="5417820"/>
            <a:ext cx="822960" cy="685800"/>
          </a:xfrm>
          <a:prstGeom prst="rect">
            <a:avLst/>
          </a:prstGeom>
        </p:spPr>
        <p:txBody>
          <a:bodyPr anchor="t" rtlCol="false" tIns="0" lIns="0" bIns="0" rIns="0">
            <a:spAutoFit/>
          </a:bodyPr>
          <a:lstStyle/>
          <a:p>
            <a:pPr algn="ctr">
              <a:lnSpc>
                <a:spcPts val="3600"/>
              </a:lnSpc>
            </a:pPr>
            <a:r>
              <a:rPr lang="en-US" sz="3000" b="true">
                <a:solidFill>
                  <a:srgbClr val="3B73EE"/>
                </a:solidFill>
                <a:latin typeface="Noto Sans Bold"/>
                <a:ea typeface="Noto Sans Bold"/>
                <a:cs typeface="Noto Sans Bold"/>
                <a:sym typeface="Noto Sans Bold"/>
              </a:rPr>
              <a:t>→</a:t>
            </a:r>
          </a:p>
        </p:txBody>
      </p:sp>
      <p:sp>
        <p:nvSpPr>
          <p:cNvPr name="TextBox 34" id="34"/>
          <p:cNvSpPr txBox="true"/>
          <p:nvPr/>
        </p:nvSpPr>
        <p:spPr>
          <a:xfrm rot="0">
            <a:off x="6309360" y="4869180"/>
            <a:ext cx="4663440" cy="1234440"/>
          </a:xfrm>
          <a:prstGeom prst="rect">
            <a:avLst/>
          </a:prstGeom>
        </p:spPr>
        <p:txBody>
          <a:bodyPr anchor="t" rtlCol="false" tIns="0" lIns="0" bIns="0" rIns="0">
            <a:spAutoFit/>
          </a:bodyPr>
          <a:lstStyle/>
          <a:p>
            <a:pPr algn="ctr">
              <a:lnSpc>
                <a:spcPts val="8280"/>
              </a:lnSpc>
            </a:pPr>
            <a:r>
              <a:rPr lang="en-US" sz="6900" b="true">
                <a:solidFill>
                  <a:srgbClr val="3B73EE"/>
                </a:solidFill>
                <a:latin typeface="Noto Sans Bold"/>
                <a:ea typeface="Noto Sans Bold"/>
                <a:cs typeface="Noto Sans Bold"/>
                <a:sym typeface="Noto Sans Bold"/>
              </a:rPr>
              <a:t>AIVO</a:t>
            </a:r>
          </a:p>
        </p:txBody>
      </p:sp>
      <p:sp>
        <p:nvSpPr>
          <p:cNvPr name="TextBox 35" id="35"/>
          <p:cNvSpPr txBox="true"/>
          <p:nvPr/>
        </p:nvSpPr>
        <p:spPr>
          <a:xfrm rot="0">
            <a:off x="6309360" y="6172200"/>
            <a:ext cx="4663440" cy="548640"/>
          </a:xfrm>
          <a:prstGeom prst="rect">
            <a:avLst/>
          </a:prstGeom>
        </p:spPr>
        <p:txBody>
          <a:bodyPr anchor="t" rtlCol="false" tIns="0" lIns="0" bIns="0" rIns="0">
            <a:spAutoFit/>
          </a:bodyPr>
          <a:lstStyle/>
          <a:p>
            <a:pPr algn="ctr">
              <a:lnSpc>
                <a:spcPts val="2700"/>
              </a:lnSpc>
            </a:pPr>
            <a:r>
              <a:rPr lang="en-US" sz="2250" b="true">
                <a:solidFill>
                  <a:srgbClr val="747987"/>
                </a:solidFill>
                <a:latin typeface="Noto Sans Bold"/>
                <a:ea typeface="Noto Sans Bold"/>
                <a:cs typeface="Noto Sans Bold"/>
                <a:sym typeface="Noto Sans Bold"/>
              </a:rPr>
              <a:t>통합 분석</a:t>
            </a:r>
          </a:p>
        </p:txBody>
      </p:sp>
      <p:sp>
        <p:nvSpPr>
          <p:cNvPr name="TextBox 36" id="36"/>
          <p:cNvSpPr txBox="true"/>
          <p:nvPr/>
        </p:nvSpPr>
        <p:spPr>
          <a:xfrm rot="0">
            <a:off x="11178540" y="5417820"/>
            <a:ext cx="822960" cy="685800"/>
          </a:xfrm>
          <a:prstGeom prst="rect">
            <a:avLst/>
          </a:prstGeom>
        </p:spPr>
        <p:txBody>
          <a:bodyPr anchor="t" rtlCol="false" tIns="0" lIns="0" bIns="0" rIns="0">
            <a:spAutoFit/>
          </a:bodyPr>
          <a:lstStyle/>
          <a:p>
            <a:pPr algn="ctr">
              <a:lnSpc>
                <a:spcPts val="3600"/>
              </a:lnSpc>
            </a:pPr>
            <a:r>
              <a:rPr lang="en-US" sz="3000" b="true">
                <a:solidFill>
                  <a:srgbClr val="3B73EE"/>
                </a:solidFill>
                <a:latin typeface="Noto Sans Bold"/>
                <a:ea typeface="Noto Sans Bold"/>
                <a:cs typeface="Noto Sans Bold"/>
                <a:sym typeface="Noto Sans Bold"/>
              </a:rPr>
              <a:t>→</a:t>
            </a:r>
          </a:p>
        </p:txBody>
      </p:sp>
      <p:grpSp>
        <p:nvGrpSpPr>
          <p:cNvPr name="Group 37" id="37"/>
          <p:cNvGrpSpPr/>
          <p:nvPr/>
        </p:nvGrpSpPr>
        <p:grpSpPr>
          <a:xfrm rot="0">
            <a:off x="12266295" y="4105275"/>
            <a:ext cx="4655058" cy="51968"/>
            <a:chOff x="0" y="0"/>
            <a:chExt cx="6206744" cy="69291"/>
          </a:xfrm>
        </p:grpSpPr>
        <p:sp>
          <p:nvSpPr>
            <p:cNvPr name="Freeform 38" id="38"/>
            <p:cNvSpPr/>
            <p:nvPr/>
          </p:nvSpPr>
          <p:spPr>
            <a:xfrm flipH="false" flipV="false" rot="0">
              <a:off x="0" y="0"/>
              <a:ext cx="6206744" cy="69342"/>
            </a:xfrm>
            <a:custGeom>
              <a:avLst/>
              <a:gdLst/>
              <a:ahLst/>
              <a:cxnLst/>
              <a:rect r="r" b="b" t="t" l="l"/>
              <a:pathLst>
                <a:path h="69342" w="6206744">
                  <a:moveTo>
                    <a:pt x="0" y="0"/>
                  </a:moveTo>
                  <a:lnTo>
                    <a:pt x="6206744" y="0"/>
                  </a:lnTo>
                  <a:lnTo>
                    <a:pt x="6206744" y="69342"/>
                  </a:lnTo>
                  <a:lnTo>
                    <a:pt x="0" y="69342"/>
                  </a:lnTo>
                  <a:close/>
                </a:path>
              </a:pathLst>
            </a:custGeom>
            <a:solidFill>
              <a:srgbClr val="3B73EE"/>
            </a:solidFill>
            <a:ln w="19050" cap="sq">
              <a:solidFill>
                <a:srgbClr val="3B73EE"/>
              </a:solidFill>
              <a:prstDash val="solid"/>
              <a:miter/>
            </a:ln>
          </p:spPr>
        </p:sp>
      </p:grpSp>
      <p:sp>
        <p:nvSpPr>
          <p:cNvPr name="TextBox 39" id="39"/>
          <p:cNvSpPr txBox="true"/>
          <p:nvPr/>
        </p:nvSpPr>
        <p:spPr>
          <a:xfrm rot="0">
            <a:off x="12275820" y="4426077"/>
            <a:ext cx="4636008" cy="539115"/>
          </a:xfrm>
          <a:prstGeom prst="rect">
            <a:avLst/>
          </a:prstGeom>
        </p:spPr>
        <p:txBody>
          <a:bodyPr anchor="t" rtlCol="false" tIns="0" lIns="0" bIns="0" rIns="0">
            <a:spAutoFit/>
          </a:bodyPr>
          <a:lstStyle/>
          <a:p>
            <a:pPr algn="l">
              <a:lnSpc>
                <a:spcPts val="2879"/>
              </a:lnSpc>
            </a:pPr>
            <a:r>
              <a:rPr lang="en-US" sz="2400" b="true">
                <a:solidFill>
                  <a:srgbClr val="1F4FC4"/>
                </a:solidFill>
                <a:latin typeface="Noto Sans Bold"/>
                <a:ea typeface="Noto Sans Bold"/>
                <a:cs typeface="Noto Sans Bold"/>
                <a:sym typeface="Noto Sans Bold"/>
              </a:rPr>
              <a:t>문제 구간과 근거</a:t>
            </a:r>
          </a:p>
        </p:txBody>
      </p:sp>
      <p:grpSp>
        <p:nvGrpSpPr>
          <p:cNvPr name="Group 40" id="40"/>
          <p:cNvGrpSpPr/>
          <p:nvPr/>
        </p:nvGrpSpPr>
        <p:grpSpPr>
          <a:xfrm rot="0">
            <a:off x="12266295" y="5545455"/>
            <a:ext cx="4655058" cy="51968"/>
            <a:chOff x="0" y="0"/>
            <a:chExt cx="6206744" cy="69291"/>
          </a:xfrm>
        </p:grpSpPr>
        <p:sp>
          <p:nvSpPr>
            <p:cNvPr name="Freeform 41" id="41"/>
            <p:cNvSpPr/>
            <p:nvPr/>
          </p:nvSpPr>
          <p:spPr>
            <a:xfrm flipH="false" flipV="false" rot="0">
              <a:off x="0" y="0"/>
              <a:ext cx="6206744" cy="69342"/>
            </a:xfrm>
            <a:custGeom>
              <a:avLst/>
              <a:gdLst/>
              <a:ahLst/>
              <a:cxnLst/>
              <a:rect r="r" b="b" t="t" l="l"/>
              <a:pathLst>
                <a:path h="69342" w="6206744">
                  <a:moveTo>
                    <a:pt x="0" y="0"/>
                  </a:moveTo>
                  <a:lnTo>
                    <a:pt x="6206744" y="0"/>
                  </a:lnTo>
                  <a:lnTo>
                    <a:pt x="6206744" y="69342"/>
                  </a:lnTo>
                  <a:lnTo>
                    <a:pt x="0" y="69342"/>
                  </a:lnTo>
                  <a:close/>
                </a:path>
              </a:pathLst>
            </a:custGeom>
            <a:solidFill>
              <a:srgbClr val="3B73EE"/>
            </a:solidFill>
            <a:ln w="19050" cap="sq">
              <a:solidFill>
                <a:srgbClr val="3B73EE"/>
              </a:solidFill>
              <a:prstDash val="solid"/>
              <a:miter/>
            </a:ln>
          </p:spPr>
        </p:sp>
      </p:grpSp>
      <p:sp>
        <p:nvSpPr>
          <p:cNvPr name="TextBox 42" id="42"/>
          <p:cNvSpPr txBox="true"/>
          <p:nvPr/>
        </p:nvSpPr>
        <p:spPr>
          <a:xfrm rot="0">
            <a:off x="12275820" y="5866257"/>
            <a:ext cx="4636008" cy="539115"/>
          </a:xfrm>
          <a:prstGeom prst="rect">
            <a:avLst/>
          </a:prstGeom>
        </p:spPr>
        <p:txBody>
          <a:bodyPr anchor="t" rtlCol="false" tIns="0" lIns="0" bIns="0" rIns="0">
            <a:spAutoFit/>
          </a:bodyPr>
          <a:lstStyle/>
          <a:p>
            <a:pPr algn="l">
              <a:lnSpc>
                <a:spcPts val="2879"/>
              </a:lnSpc>
            </a:pPr>
            <a:r>
              <a:rPr lang="en-US" sz="2400" b="true">
                <a:solidFill>
                  <a:srgbClr val="1F4FC4"/>
                </a:solidFill>
                <a:latin typeface="Noto Sans Bold"/>
                <a:ea typeface="Noto Sans Bold"/>
                <a:cs typeface="Noto Sans Bold"/>
                <a:sym typeface="Noto Sans Bold"/>
              </a:rPr>
              <a:t>슬라이드별 피드백</a:t>
            </a:r>
          </a:p>
        </p:txBody>
      </p:sp>
      <p:grpSp>
        <p:nvGrpSpPr>
          <p:cNvPr name="Group 43" id="43"/>
          <p:cNvGrpSpPr/>
          <p:nvPr/>
        </p:nvGrpSpPr>
        <p:grpSpPr>
          <a:xfrm rot="0">
            <a:off x="12266295" y="6985635"/>
            <a:ext cx="4655058" cy="51968"/>
            <a:chOff x="0" y="0"/>
            <a:chExt cx="6206744" cy="69291"/>
          </a:xfrm>
        </p:grpSpPr>
        <p:sp>
          <p:nvSpPr>
            <p:cNvPr name="Freeform 44" id="44"/>
            <p:cNvSpPr/>
            <p:nvPr/>
          </p:nvSpPr>
          <p:spPr>
            <a:xfrm flipH="false" flipV="false" rot="0">
              <a:off x="0" y="0"/>
              <a:ext cx="6206744" cy="69342"/>
            </a:xfrm>
            <a:custGeom>
              <a:avLst/>
              <a:gdLst/>
              <a:ahLst/>
              <a:cxnLst/>
              <a:rect r="r" b="b" t="t" l="l"/>
              <a:pathLst>
                <a:path h="69342" w="6206744">
                  <a:moveTo>
                    <a:pt x="0" y="0"/>
                  </a:moveTo>
                  <a:lnTo>
                    <a:pt x="6206744" y="0"/>
                  </a:lnTo>
                  <a:lnTo>
                    <a:pt x="6206744" y="69342"/>
                  </a:lnTo>
                  <a:lnTo>
                    <a:pt x="0" y="69342"/>
                  </a:lnTo>
                  <a:close/>
                </a:path>
              </a:pathLst>
            </a:custGeom>
            <a:solidFill>
              <a:srgbClr val="3B73EE"/>
            </a:solidFill>
            <a:ln w="19050" cap="sq">
              <a:solidFill>
                <a:srgbClr val="3B73EE"/>
              </a:solidFill>
              <a:prstDash val="solid"/>
              <a:miter/>
            </a:ln>
          </p:spPr>
        </p:sp>
      </p:grpSp>
      <p:sp>
        <p:nvSpPr>
          <p:cNvPr name="TextBox 45" id="45"/>
          <p:cNvSpPr txBox="true"/>
          <p:nvPr/>
        </p:nvSpPr>
        <p:spPr>
          <a:xfrm rot="0">
            <a:off x="12275820" y="7306437"/>
            <a:ext cx="4636008" cy="539115"/>
          </a:xfrm>
          <a:prstGeom prst="rect">
            <a:avLst/>
          </a:prstGeom>
        </p:spPr>
        <p:txBody>
          <a:bodyPr anchor="t" rtlCol="false" tIns="0" lIns="0" bIns="0" rIns="0">
            <a:spAutoFit/>
          </a:bodyPr>
          <a:lstStyle/>
          <a:p>
            <a:pPr algn="l">
              <a:lnSpc>
                <a:spcPts val="2879"/>
              </a:lnSpc>
            </a:pPr>
            <a:r>
              <a:rPr lang="en-US" sz="2400" b="true">
                <a:solidFill>
                  <a:srgbClr val="1F4FC4"/>
                </a:solidFill>
                <a:latin typeface="Noto Sans Bold"/>
                <a:ea typeface="Noto Sans Bold"/>
                <a:cs typeface="Noto Sans Bold"/>
                <a:sym typeface="Noto Sans Bold"/>
              </a:rPr>
              <a:t>이전 시도와 비교</a:t>
            </a:r>
          </a:p>
        </p:txBody>
      </p:sp>
      <p:sp>
        <p:nvSpPr>
          <p:cNvPr name="TextBox 46" id="46"/>
          <p:cNvSpPr txBox="true"/>
          <p:nvPr/>
        </p:nvSpPr>
        <p:spPr>
          <a:xfrm rot="0">
            <a:off x="1371600" y="8787765"/>
            <a:ext cx="15544343" cy="429387"/>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말하기 방식만 보는 것이 아니라, 준비한 자료와 실제 발화를 함께 대조합니다.</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18</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사용 흐름</a:t>
            </a:r>
          </a:p>
        </p:txBody>
      </p:sp>
      <p:sp>
        <p:nvSpPr>
          <p:cNvPr name="TextBox 18" id="18"/>
          <p:cNvSpPr txBox="true"/>
          <p:nvPr/>
        </p:nvSpPr>
        <p:spPr>
          <a:xfrm rot="0">
            <a:off x="1362075" y="1522095"/>
            <a:ext cx="15544343" cy="892302"/>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한 번의 연습이 다음 연습을 만듭니다</a:t>
            </a:r>
          </a:p>
        </p:txBody>
      </p:sp>
      <p:grpSp>
        <p:nvGrpSpPr>
          <p:cNvPr name="Group 19" id="19"/>
          <p:cNvGrpSpPr/>
          <p:nvPr/>
        </p:nvGrpSpPr>
        <p:grpSpPr>
          <a:xfrm rot="0">
            <a:off x="1362075" y="4105275"/>
            <a:ext cx="3133611" cy="54712"/>
            <a:chOff x="0" y="0"/>
            <a:chExt cx="4178148" cy="72949"/>
          </a:xfrm>
        </p:grpSpPr>
        <p:sp>
          <p:nvSpPr>
            <p:cNvPr name="Freeform 20" id="20"/>
            <p:cNvSpPr/>
            <p:nvPr/>
          </p:nvSpPr>
          <p:spPr>
            <a:xfrm flipH="false" flipV="false" rot="0">
              <a:off x="0" y="0"/>
              <a:ext cx="4178173" cy="72898"/>
            </a:xfrm>
            <a:custGeom>
              <a:avLst/>
              <a:gdLst/>
              <a:ahLst/>
              <a:cxnLst/>
              <a:rect r="r" b="b" t="t" l="l"/>
              <a:pathLst>
                <a:path h="72898" w="4178173">
                  <a:moveTo>
                    <a:pt x="0" y="0"/>
                  </a:moveTo>
                  <a:lnTo>
                    <a:pt x="4178173" y="0"/>
                  </a:lnTo>
                  <a:lnTo>
                    <a:pt x="4178173" y="72898"/>
                  </a:lnTo>
                  <a:lnTo>
                    <a:pt x="0" y="72898"/>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445350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01</a:t>
            </a:r>
          </a:p>
        </p:txBody>
      </p:sp>
      <p:sp>
        <p:nvSpPr>
          <p:cNvPr name="TextBox 22" id="22"/>
          <p:cNvSpPr txBox="true"/>
          <p:nvPr/>
        </p:nvSpPr>
        <p:spPr>
          <a:xfrm rot="0">
            <a:off x="1371600" y="5020056"/>
            <a:ext cx="3114561" cy="685800"/>
          </a:xfrm>
          <a:prstGeom prst="rect">
            <a:avLst/>
          </a:prstGeom>
        </p:spPr>
        <p:txBody>
          <a:bodyPr anchor="t" rtlCol="false" tIns="0" lIns="0" bIns="0" rIns="0">
            <a:spAutoFit/>
          </a:bodyPr>
          <a:lstStyle/>
          <a:p>
            <a:pPr algn="l">
              <a:lnSpc>
                <a:spcPts val="4140"/>
              </a:lnSpc>
            </a:pPr>
            <a:r>
              <a:rPr lang="en-US" sz="3450" b="true">
                <a:solidFill>
                  <a:srgbClr val="11131B"/>
                </a:solidFill>
                <a:latin typeface="Noto Sans Bold"/>
                <a:ea typeface="Noto Sans Bold"/>
                <a:cs typeface="Noto Sans Bold"/>
                <a:sym typeface="Noto Sans Bold"/>
              </a:rPr>
              <a:t>준비</a:t>
            </a:r>
          </a:p>
        </p:txBody>
      </p:sp>
      <p:sp>
        <p:nvSpPr>
          <p:cNvPr name="TextBox 23" id="23"/>
          <p:cNvSpPr txBox="true"/>
          <p:nvPr/>
        </p:nvSpPr>
        <p:spPr>
          <a:xfrm rot="0">
            <a:off x="1371600" y="5821680"/>
            <a:ext cx="3114561" cy="1310640"/>
          </a:xfrm>
          <a:prstGeom prst="rect">
            <a:avLst/>
          </a:prstGeom>
        </p:spPr>
        <p:txBody>
          <a:bodyPr anchor="t" rtlCol="false" tIns="0" lIns="0" bIns="0" rIns="0">
            <a:spAutoFit/>
          </a:bodyPr>
          <a:lstStyle/>
          <a:p>
            <a:pPr algn="l">
              <a:lnSpc>
                <a:spcPts val="3037"/>
              </a:lnSpc>
            </a:pPr>
            <a:r>
              <a:rPr lang="en-US" sz="1875">
                <a:solidFill>
                  <a:srgbClr val="747987"/>
                </a:solidFill>
                <a:latin typeface="Noto Sans"/>
                <a:ea typeface="Noto Sans"/>
                <a:cs typeface="Noto Sans"/>
                <a:sym typeface="Noto Sans"/>
              </a:rPr>
              <a:t>자료 업로드</a:t>
            </a:r>
          </a:p>
          <a:p>
            <a:pPr algn="l">
              <a:lnSpc>
                <a:spcPts val="3037"/>
              </a:lnSpc>
            </a:pPr>
            <a:r>
              <a:rPr lang="en-US" sz="1875">
                <a:solidFill>
                  <a:srgbClr val="747987"/>
                </a:solidFill>
                <a:latin typeface="Noto Sans"/>
                <a:ea typeface="Noto Sans"/>
                <a:cs typeface="Noto Sans"/>
                <a:sym typeface="Noto Sans"/>
              </a:rPr>
              <a:t>목표 시간 설정</a:t>
            </a:r>
          </a:p>
        </p:txBody>
      </p:sp>
      <p:sp>
        <p:nvSpPr>
          <p:cNvPr name="TextBox 24" id="24"/>
          <p:cNvSpPr txBox="true"/>
          <p:nvPr/>
        </p:nvSpPr>
        <p:spPr>
          <a:xfrm rot="0">
            <a:off x="4623321" y="4965192"/>
            <a:ext cx="754380" cy="617220"/>
          </a:xfrm>
          <a:prstGeom prst="rect">
            <a:avLst/>
          </a:prstGeom>
        </p:spPr>
        <p:txBody>
          <a:bodyPr anchor="t" rtlCol="false" tIns="0" lIns="0" bIns="0" rIns="0">
            <a:spAutoFit/>
          </a:bodyPr>
          <a:lstStyle/>
          <a:p>
            <a:pPr algn="ctr">
              <a:lnSpc>
                <a:spcPts val="3060"/>
              </a:lnSpc>
            </a:pPr>
            <a:r>
              <a:rPr lang="en-US" sz="2550" b="true">
                <a:solidFill>
                  <a:srgbClr val="3B73EE"/>
                </a:solidFill>
                <a:latin typeface="Noto Sans Bold"/>
                <a:ea typeface="Noto Sans Bold"/>
                <a:cs typeface="Noto Sans Bold"/>
                <a:sym typeface="Noto Sans Bold"/>
              </a:rPr>
              <a:t>→</a:t>
            </a:r>
          </a:p>
        </p:txBody>
      </p:sp>
      <p:grpSp>
        <p:nvGrpSpPr>
          <p:cNvPr name="Group 25" id="25"/>
          <p:cNvGrpSpPr/>
          <p:nvPr/>
        </p:nvGrpSpPr>
        <p:grpSpPr>
          <a:xfrm rot="0">
            <a:off x="5505336" y="4105275"/>
            <a:ext cx="3133611" cy="54712"/>
            <a:chOff x="0" y="0"/>
            <a:chExt cx="4178148" cy="72949"/>
          </a:xfrm>
        </p:grpSpPr>
        <p:sp>
          <p:nvSpPr>
            <p:cNvPr name="Freeform 26" id="26"/>
            <p:cNvSpPr/>
            <p:nvPr/>
          </p:nvSpPr>
          <p:spPr>
            <a:xfrm flipH="false" flipV="false" rot="0">
              <a:off x="0" y="0"/>
              <a:ext cx="4178173" cy="72898"/>
            </a:xfrm>
            <a:custGeom>
              <a:avLst/>
              <a:gdLst/>
              <a:ahLst/>
              <a:cxnLst/>
              <a:rect r="r" b="b" t="t" l="l"/>
              <a:pathLst>
                <a:path h="72898" w="4178173">
                  <a:moveTo>
                    <a:pt x="0" y="0"/>
                  </a:moveTo>
                  <a:lnTo>
                    <a:pt x="4178173" y="0"/>
                  </a:lnTo>
                  <a:lnTo>
                    <a:pt x="4178173" y="72898"/>
                  </a:lnTo>
                  <a:lnTo>
                    <a:pt x="0" y="72898"/>
                  </a:lnTo>
                  <a:close/>
                </a:path>
              </a:pathLst>
            </a:custGeom>
            <a:solidFill>
              <a:srgbClr val="E4E6EE"/>
            </a:solidFill>
            <a:ln w="19050" cap="sq">
              <a:solidFill>
                <a:srgbClr val="E4E6EE"/>
              </a:solidFill>
              <a:prstDash val="solid"/>
              <a:miter/>
            </a:ln>
          </p:spPr>
        </p:sp>
      </p:grpSp>
      <p:sp>
        <p:nvSpPr>
          <p:cNvPr name="TextBox 27" id="27"/>
          <p:cNvSpPr txBox="true"/>
          <p:nvPr/>
        </p:nvSpPr>
        <p:spPr>
          <a:xfrm rot="0">
            <a:off x="5514861" y="445350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02</a:t>
            </a:r>
          </a:p>
        </p:txBody>
      </p:sp>
      <p:sp>
        <p:nvSpPr>
          <p:cNvPr name="TextBox 28" id="28"/>
          <p:cNvSpPr txBox="true"/>
          <p:nvPr/>
        </p:nvSpPr>
        <p:spPr>
          <a:xfrm rot="0">
            <a:off x="5514861" y="5020056"/>
            <a:ext cx="3114561" cy="523875"/>
          </a:xfrm>
          <a:prstGeom prst="rect">
            <a:avLst/>
          </a:prstGeom>
        </p:spPr>
        <p:txBody>
          <a:bodyPr anchor="t" rtlCol="false" tIns="0" lIns="0" bIns="0" rIns="0">
            <a:spAutoFit/>
          </a:bodyPr>
          <a:lstStyle/>
          <a:p>
            <a:pPr algn="l">
              <a:lnSpc>
                <a:spcPts val="4140"/>
              </a:lnSpc>
            </a:pPr>
            <a:r>
              <a:rPr lang="en-US" sz="3450" b="true">
                <a:solidFill>
                  <a:srgbClr val="11131B"/>
                </a:solidFill>
                <a:latin typeface="Noto Sans Bold"/>
                <a:ea typeface="Noto Sans Bold"/>
                <a:cs typeface="Noto Sans Bold"/>
                <a:sym typeface="Noto Sans Bold"/>
              </a:rPr>
              <a:t>연습</a:t>
            </a:r>
          </a:p>
        </p:txBody>
      </p:sp>
      <p:sp>
        <p:nvSpPr>
          <p:cNvPr name="TextBox 29" id="29"/>
          <p:cNvSpPr txBox="true"/>
          <p:nvPr/>
        </p:nvSpPr>
        <p:spPr>
          <a:xfrm rot="0">
            <a:off x="5514861" y="5821680"/>
            <a:ext cx="3114561" cy="1310640"/>
          </a:xfrm>
          <a:prstGeom prst="rect">
            <a:avLst/>
          </a:prstGeom>
        </p:spPr>
        <p:txBody>
          <a:bodyPr anchor="t" rtlCol="false" tIns="0" lIns="0" bIns="0" rIns="0">
            <a:spAutoFit/>
          </a:bodyPr>
          <a:lstStyle/>
          <a:p>
            <a:pPr algn="l">
              <a:lnSpc>
                <a:spcPts val="3037"/>
              </a:lnSpc>
            </a:pPr>
            <a:r>
              <a:rPr lang="en-US" sz="1875">
                <a:solidFill>
                  <a:srgbClr val="747987"/>
                </a:solidFill>
                <a:latin typeface="Noto Sans"/>
                <a:ea typeface="Noto Sans"/>
                <a:cs typeface="Noto Sans"/>
                <a:sym typeface="Noto Sans"/>
              </a:rPr>
              <a:t>녹화 중</a:t>
            </a:r>
          </a:p>
          <a:p>
            <a:pPr algn="l">
              <a:lnSpc>
                <a:spcPts val="3037"/>
              </a:lnSpc>
            </a:pPr>
            <a:r>
              <a:rPr lang="en-US" sz="1875">
                <a:solidFill>
                  <a:srgbClr val="747987"/>
                </a:solidFill>
                <a:latin typeface="Noto Sans"/>
                <a:ea typeface="Noto Sans"/>
                <a:cs typeface="Noto Sans"/>
                <a:sym typeface="Noto Sans"/>
              </a:rPr>
              <a:t>실시간 피드백</a:t>
            </a:r>
          </a:p>
        </p:txBody>
      </p:sp>
      <p:sp>
        <p:nvSpPr>
          <p:cNvPr name="TextBox 30" id="30"/>
          <p:cNvSpPr txBox="true"/>
          <p:nvPr/>
        </p:nvSpPr>
        <p:spPr>
          <a:xfrm rot="0">
            <a:off x="8766581" y="4965192"/>
            <a:ext cx="754380" cy="617220"/>
          </a:xfrm>
          <a:prstGeom prst="rect">
            <a:avLst/>
          </a:prstGeom>
        </p:spPr>
        <p:txBody>
          <a:bodyPr anchor="t" rtlCol="false" tIns="0" lIns="0" bIns="0" rIns="0">
            <a:spAutoFit/>
          </a:bodyPr>
          <a:lstStyle/>
          <a:p>
            <a:pPr algn="ctr">
              <a:lnSpc>
                <a:spcPts val="3060"/>
              </a:lnSpc>
            </a:pPr>
            <a:r>
              <a:rPr lang="en-US" sz="2550" b="true">
                <a:solidFill>
                  <a:srgbClr val="3B73EE"/>
                </a:solidFill>
                <a:latin typeface="Noto Sans Bold"/>
                <a:ea typeface="Noto Sans Bold"/>
                <a:cs typeface="Noto Sans Bold"/>
                <a:sym typeface="Noto Sans Bold"/>
              </a:rPr>
              <a:t>→</a:t>
            </a:r>
          </a:p>
        </p:txBody>
      </p:sp>
      <p:grpSp>
        <p:nvGrpSpPr>
          <p:cNvPr name="Group 31" id="31"/>
          <p:cNvGrpSpPr/>
          <p:nvPr/>
        </p:nvGrpSpPr>
        <p:grpSpPr>
          <a:xfrm rot="0">
            <a:off x="9648596" y="4105275"/>
            <a:ext cx="3133611" cy="54712"/>
            <a:chOff x="0" y="0"/>
            <a:chExt cx="4178148" cy="72949"/>
          </a:xfrm>
        </p:grpSpPr>
        <p:sp>
          <p:nvSpPr>
            <p:cNvPr name="Freeform 32" id="32"/>
            <p:cNvSpPr/>
            <p:nvPr/>
          </p:nvSpPr>
          <p:spPr>
            <a:xfrm flipH="false" flipV="false" rot="0">
              <a:off x="0" y="0"/>
              <a:ext cx="4178173" cy="72898"/>
            </a:xfrm>
            <a:custGeom>
              <a:avLst/>
              <a:gdLst/>
              <a:ahLst/>
              <a:cxnLst/>
              <a:rect r="r" b="b" t="t" l="l"/>
              <a:pathLst>
                <a:path h="72898" w="4178173">
                  <a:moveTo>
                    <a:pt x="0" y="0"/>
                  </a:moveTo>
                  <a:lnTo>
                    <a:pt x="4178173" y="0"/>
                  </a:lnTo>
                  <a:lnTo>
                    <a:pt x="4178173" y="72898"/>
                  </a:lnTo>
                  <a:lnTo>
                    <a:pt x="0" y="72898"/>
                  </a:lnTo>
                  <a:close/>
                </a:path>
              </a:pathLst>
            </a:custGeom>
            <a:solidFill>
              <a:srgbClr val="E4E6EE"/>
            </a:solidFill>
            <a:ln w="19050" cap="sq">
              <a:solidFill>
                <a:srgbClr val="E4E6EE"/>
              </a:solidFill>
              <a:prstDash val="solid"/>
              <a:miter/>
            </a:ln>
          </p:spPr>
        </p:sp>
      </p:grpSp>
      <p:sp>
        <p:nvSpPr>
          <p:cNvPr name="TextBox 33" id="33"/>
          <p:cNvSpPr txBox="true"/>
          <p:nvPr/>
        </p:nvSpPr>
        <p:spPr>
          <a:xfrm rot="0">
            <a:off x="9658121" y="445350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03</a:t>
            </a:r>
          </a:p>
        </p:txBody>
      </p:sp>
      <p:sp>
        <p:nvSpPr>
          <p:cNvPr name="TextBox 34" id="34"/>
          <p:cNvSpPr txBox="true"/>
          <p:nvPr/>
        </p:nvSpPr>
        <p:spPr>
          <a:xfrm rot="0">
            <a:off x="9658121" y="5020056"/>
            <a:ext cx="3114561" cy="685800"/>
          </a:xfrm>
          <a:prstGeom prst="rect">
            <a:avLst/>
          </a:prstGeom>
        </p:spPr>
        <p:txBody>
          <a:bodyPr anchor="t" rtlCol="false" tIns="0" lIns="0" bIns="0" rIns="0">
            <a:spAutoFit/>
          </a:bodyPr>
          <a:lstStyle/>
          <a:p>
            <a:pPr algn="l">
              <a:lnSpc>
                <a:spcPts val="4140"/>
              </a:lnSpc>
            </a:pPr>
            <a:r>
              <a:rPr lang="en-US" sz="3450" b="true">
                <a:solidFill>
                  <a:srgbClr val="11131B"/>
                </a:solidFill>
                <a:latin typeface="Noto Sans Bold"/>
                <a:ea typeface="Noto Sans Bold"/>
                <a:cs typeface="Noto Sans Bold"/>
                <a:sym typeface="Noto Sans Bold"/>
              </a:rPr>
              <a:t>리포트</a:t>
            </a:r>
          </a:p>
        </p:txBody>
      </p:sp>
      <p:sp>
        <p:nvSpPr>
          <p:cNvPr name="TextBox 35" id="35"/>
          <p:cNvSpPr txBox="true"/>
          <p:nvPr/>
        </p:nvSpPr>
        <p:spPr>
          <a:xfrm rot="0">
            <a:off x="9658121" y="5821680"/>
            <a:ext cx="3114561" cy="1310640"/>
          </a:xfrm>
          <a:prstGeom prst="rect">
            <a:avLst/>
          </a:prstGeom>
        </p:spPr>
        <p:txBody>
          <a:bodyPr anchor="t" rtlCol="false" tIns="0" lIns="0" bIns="0" rIns="0">
            <a:spAutoFit/>
          </a:bodyPr>
          <a:lstStyle/>
          <a:p>
            <a:pPr algn="l">
              <a:lnSpc>
                <a:spcPts val="3037"/>
              </a:lnSpc>
            </a:pPr>
            <a:r>
              <a:rPr lang="en-US" sz="1875">
                <a:solidFill>
                  <a:srgbClr val="747987"/>
                </a:solidFill>
                <a:latin typeface="Noto Sans"/>
                <a:ea typeface="Noto Sans"/>
                <a:cs typeface="Noto Sans"/>
                <a:sym typeface="Noto Sans"/>
              </a:rPr>
              <a:t>문제 구간 재생</a:t>
            </a:r>
          </a:p>
          <a:p>
            <a:pPr algn="l">
              <a:lnSpc>
                <a:spcPts val="3037"/>
              </a:lnSpc>
            </a:pPr>
            <a:r>
              <a:rPr lang="en-US" sz="1875">
                <a:solidFill>
                  <a:srgbClr val="747987"/>
                </a:solidFill>
                <a:latin typeface="Noto Sans"/>
                <a:ea typeface="Noto Sans"/>
                <a:cs typeface="Noto Sans"/>
                <a:sym typeface="Noto Sans"/>
              </a:rPr>
              <a:t>슬라이드별 분석</a:t>
            </a:r>
          </a:p>
        </p:txBody>
      </p:sp>
      <p:sp>
        <p:nvSpPr>
          <p:cNvPr name="TextBox 36" id="36"/>
          <p:cNvSpPr txBox="true"/>
          <p:nvPr/>
        </p:nvSpPr>
        <p:spPr>
          <a:xfrm rot="0">
            <a:off x="12909842" y="4965192"/>
            <a:ext cx="754380" cy="617220"/>
          </a:xfrm>
          <a:prstGeom prst="rect">
            <a:avLst/>
          </a:prstGeom>
        </p:spPr>
        <p:txBody>
          <a:bodyPr anchor="t" rtlCol="false" tIns="0" lIns="0" bIns="0" rIns="0">
            <a:spAutoFit/>
          </a:bodyPr>
          <a:lstStyle/>
          <a:p>
            <a:pPr algn="ctr">
              <a:lnSpc>
                <a:spcPts val="3060"/>
              </a:lnSpc>
            </a:pPr>
            <a:r>
              <a:rPr lang="en-US" sz="2550" b="true">
                <a:solidFill>
                  <a:srgbClr val="3B73EE"/>
                </a:solidFill>
                <a:latin typeface="Noto Sans Bold"/>
                <a:ea typeface="Noto Sans Bold"/>
                <a:cs typeface="Noto Sans Bold"/>
                <a:sym typeface="Noto Sans Bold"/>
              </a:rPr>
              <a:t>→</a:t>
            </a:r>
          </a:p>
        </p:txBody>
      </p:sp>
      <p:grpSp>
        <p:nvGrpSpPr>
          <p:cNvPr name="Group 37" id="37"/>
          <p:cNvGrpSpPr/>
          <p:nvPr/>
        </p:nvGrpSpPr>
        <p:grpSpPr>
          <a:xfrm rot="0">
            <a:off x="13791857" y="4105275"/>
            <a:ext cx="3133611" cy="54712"/>
            <a:chOff x="0" y="0"/>
            <a:chExt cx="4178148" cy="72949"/>
          </a:xfrm>
        </p:grpSpPr>
        <p:sp>
          <p:nvSpPr>
            <p:cNvPr name="Freeform 38" id="38"/>
            <p:cNvSpPr/>
            <p:nvPr/>
          </p:nvSpPr>
          <p:spPr>
            <a:xfrm flipH="false" flipV="false" rot="0">
              <a:off x="0" y="0"/>
              <a:ext cx="4178173" cy="72898"/>
            </a:xfrm>
            <a:custGeom>
              <a:avLst/>
              <a:gdLst/>
              <a:ahLst/>
              <a:cxnLst/>
              <a:rect r="r" b="b" t="t" l="l"/>
              <a:pathLst>
                <a:path h="72898" w="4178173">
                  <a:moveTo>
                    <a:pt x="0" y="0"/>
                  </a:moveTo>
                  <a:lnTo>
                    <a:pt x="4178173" y="0"/>
                  </a:lnTo>
                  <a:lnTo>
                    <a:pt x="4178173" y="72898"/>
                  </a:lnTo>
                  <a:lnTo>
                    <a:pt x="0" y="72898"/>
                  </a:lnTo>
                  <a:close/>
                </a:path>
              </a:pathLst>
            </a:custGeom>
            <a:solidFill>
              <a:srgbClr val="3B73EE"/>
            </a:solidFill>
            <a:ln w="19050" cap="sq">
              <a:solidFill>
                <a:srgbClr val="3B73EE"/>
              </a:solidFill>
              <a:prstDash val="solid"/>
              <a:miter/>
            </a:ln>
          </p:spPr>
        </p:sp>
      </p:grpSp>
      <p:sp>
        <p:nvSpPr>
          <p:cNvPr name="TextBox 39" id="39"/>
          <p:cNvSpPr txBox="true"/>
          <p:nvPr/>
        </p:nvSpPr>
        <p:spPr>
          <a:xfrm rot="0">
            <a:off x="13801382" y="445350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04</a:t>
            </a:r>
          </a:p>
        </p:txBody>
      </p:sp>
      <p:sp>
        <p:nvSpPr>
          <p:cNvPr name="TextBox 40" id="40"/>
          <p:cNvSpPr txBox="true"/>
          <p:nvPr/>
        </p:nvSpPr>
        <p:spPr>
          <a:xfrm rot="0">
            <a:off x="13801382" y="5020056"/>
            <a:ext cx="3114561" cy="523875"/>
          </a:xfrm>
          <a:prstGeom prst="rect">
            <a:avLst/>
          </a:prstGeom>
        </p:spPr>
        <p:txBody>
          <a:bodyPr anchor="t" rtlCol="false" tIns="0" lIns="0" bIns="0" rIns="0">
            <a:spAutoFit/>
          </a:bodyPr>
          <a:lstStyle/>
          <a:p>
            <a:pPr algn="l">
              <a:lnSpc>
                <a:spcPts val="4140"/>
              </a:lnSpc>
            </a:pPr>
            <a:r>
              <a:rPr lang="en-US" sz="3450" b="true">
                <a:solidFill>
                  <a:srgbClr val="11131B"/>
                </a:solidFill>
                <a:latin typeface="Noto Sans Bold"/>
                <a:ea typeface="Noto Sans Bold"/>
                <a:cs typeface="Noto Sans Bold"/>
                <a:sym typeface="Noto Sans Bold"/>
              </a:rPr>
              <a:t>다음 연습</a:t>
            </a:r>
          </a:p>
        </p:txBody>
      </p:sp>
      <p:sp>
        <p:nvSpPr>
          <p:cNvPr name="TextBox 41" id="41"/>
          <p:cNvSpPr txBox="true"/>
          <p:nvPr/>
        </p:nvSpPr>
        <p:spPr>
          <a:xfrm rot="0">
            <a:off x="13801382" y="5821680"/>
            <a:ext cx="3114561" cy="1310640"/>
          </a:xfrm>
          <a:prstGeom prst="rect">
            <a:avLst/>
          </a:prstGeom>
        </p:spPr>
        <p:txBody>
          <a:bodyPr anchor="t" rtlCol="false" tIns="0" lIns="0" bIns="0" rIns="0">
            <a:spAutoFit/>
          </a:bodyPr>
          <a:lstStyle/>
          <a:p>
            <a:pPr algn="l">
              <a:lnSpc>
                <a:spcPts val="3037"/>
              </a:lnSpc>
            </a:pPr>
            <a:r>
              <a:rPr lang="en-US" sz="1875">
                <a:solidFill>
                  <a:srgbClr val="747987"/>
                </a:solidFill>
                <a:latin typeface="Noto Sans"/>
                <a:ea typeface="Noto Sans"/>
                <a:cs typeface="Noto Sans"/>
                <a:sym typeface="Noto Sans"/>
              </a:rPr>
              <a:t>이전 시도와</a:t>
            </a:r>
          </a:p>
          <a:p>
            <a:pPr algn="l">
              <a:lnSpc>
                <a:spcPts val="3037"/>
              </a:lnSpc>
            </a:pPr>
            <a:r>
              <a:rPr lang="en-US" sz="1875">
                <a:solidFill>
                  <a:srgbClr val="747987"/>
                </a:solidFill>
                <a:latin typeface="Noto Sans"/>
                <a:ea typeface="Noto Sans"/>
                <a:cs typeface="Noto Sans"/>
                <a:sym typeface="Noto Sans"/>
              </a:rPr>
              <a:t>비교</a:t>
            </a:r>
          </a:p>
        </p:txBody>
      </p:sp>
      <p:sp>
        <p:nvSpPr>
          <p:cNvPr name="TextBox 42" id="42"/>
          <p:cNvSpPr txBox="true"/>
          <p:nvPr/>
        </p:nvSpPr>
        <p:spPr>
          <a:xfrm rot="0">
            <a:off x="1371600" y="8092440"/>
            <a:ext cx="15544343" cy="617220"/>
          </a:xfrm>
          <a:prstGeom prst="rect">
            <a:avLst/>
          </a:prstGeom>
        </p:spPr>
        <p:txBody>
          <a:bodyPr anchor="t" rtlCol="false" tIns="0" lIns="0" bIns="0" rIns="0">
            <a:spAutoFit/>
          </a:bodyPr>
          <a:lstStyle/>
          <a:p>
            <a:pPr algn="ctr">
              <a:lnSpc>
                <a:spcPts val="2700"/>
              </a:lnSpc>
            </a:pPr>
            <a:r>
              <a:rPr lang="en-US" sz="2250" b="true">
                <a:solidFill>
                  <a:srgbClr val="1F4FC4"/>
                </a:solidFill>
                <a:latin typeface="Noto Sans Bold"/>
                <a:ea typeface="Noto Sans Bold"/>
                <a:cs typeface="Noto Sans Bold"/>
                <a:sym typeface="Noto Sans Bold"/>
              </a:rPr>
              <a:t>↺   기록이 쌓일수록 비교할 수 있는 것이 늘어납니다</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D0E12"/>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20</a:t>
              </a:r>
            </a:p>
          </p:txBody>
        </p:sp>
      </p:grpSp>
      <p:grpSp>
        <p:nvGrpSpPr>
          <p:cNvPr name="Group 17" id="17"/>
          <p:cNvGrpSpPr/>
          <p:nvPr/>
        </p:nvGrpSpPr>
        <p:grpSpPr>
          <a:xfrm rot="0">
            <a:off x="1371600" y="3223260"/>
            <a:ext cx="4114800" cy="2057400"/>
            <a:chOff x="0" y="0"/>
            <a:chExt cx="5486400" cy="2743200"/>
          </a:xfrm>
        </p:grpSpPr>
        <p:sp>
          <p:nvSpPr>
            <p:cNvPr name="Freeform 18" id="18"/>
            <p:cNvSpPr/>
            <p:nvPr/>
          </p:nvSpPr>
          <p:spPr>
            <a:xfrm flipH="false" flipV="false" rot="0">
              <a:off x="0" y="0"/>
              <a:ext cx="5486400" cy="2743200"/>
            </a:xfrm>
            <a:custGeom>
              <a:avLst/>
              <a:gdLst/>
              <a:ahLst/>
              <a:cxnLst/>
              <a:rect r="r" b="b" t="t" l="l"/>
              <a:pathLst>
                <a:path h="2743200" w="5486400">
                  <a:moveTo>
                    <a:pt x="0" y="0"/>
                  </a:moveTo>
                  <a:lnTo>
                    <a:pt x="5486400" y="0"/>
                  </a:lnTo>
                  <a:lnTo>
                    <a:pt x="5486400" y="2743200"/>
                  </a:lnTo>
                  <a:lnTo>
                    <a:pt x="0" y="2743200"/>
                  </a:lnTo>
                  <a:close/>
                </a:path>
              </a:pathLst>
            </a:custGeom>
            <a:blipFill>
              <a:blip r:embed="rId3">
                <a:alphaModFix amt="0"/>
              </a:blip>
              <a:stretch>
                <a:fillRect l="-14151" t="0" r="-14151" b="0"/>
              </a:stretch>
            </a:blipFill>
          </p:spPr>
        </p:sp>
        <p:sp>
          <p:nvSpPr>
            <p:cNvPr name="TextBox 19" id="19"/>
            <p:cNvSpPr txBox="true"/>
            <p:nvPr/>
          </p:nvSpPr>
          <p:spPr>
            <a:xfrm>
              <a:off x="0" y="0"/>
              <a:ext cx="5486400" cy="2743200"/>
            </a:xfrm>
            <a:prstGeom prst="rect">
              <a:avLst/>
            </a:prstGeom>
          </p:spPr>
          <p:txBody>
            <a:bodyPr anchor="ctr" rtlCol="false" tIns="0" lIns="0" bIns="0" rIns="0"/>
            <a:lstStyle/>
            <a:p>
              <a:pPr algn="l">
                <a:lnSpc>
                  <a:spcPts val="17280"/>
                </a:lnSpc>
              </a:pPr>
              <a:r>
                <a:rPr lang="en-US" sz="14400" b="true">
                  <a:solidFill>
                    <a:srgbClr val="3B73EE"/>
                  </a:solidFill>
                  <a:latin typeface="Noto Sans Bold"/>
                  <a:ea typeface="Noto Sans Bold"/>
                  <a:cs typeface="Noto Sans Bold"/>
                  <a:sym typeface="Noto Sans Bold"/>
                </a:rPr>
                <a:t>03</a:t>
              </a:r>
            </a:p>
          </p:txBody>
        </p:sp>
      </p:grpSp>
      <p:sp>
        <p:nvSpPr>
          <p:cNvPr name="TextBox 20" id="20"/>
          <p:cNvSpPr txBox="true"/>
          <p:nvPr/>
        </p:nvSpPr>
        <p:spPr>
          <a:xfrm rot="0">
            <a:off x="1371600" y="5417820"/>
            <a:ext cx="15544343" cy="1234440"/>
          </a:xfrm>
          <a:prstGeom prst="rect">
            <a:avLst/>
          </a:prstGeom>
        </p:spPr>
        <p:txBody>
          <a:bodyPr anchor="t" rtlCol="false" tIns="0" lIns="0" bIns="0" rIns="0">
            <a:spAutoFit/>
          </a:bodyPr>
          <a:lstStyle/>
          <a:p>
            <a:pPr algn="l">
              <a:lnSpc>
                <a:spcPts val="7920"/>
              </a:lnSpc>
            </a:pPr>
            <a:r>
              <a:rPr lang="en-US" sz="6600" b="true">
                <a:solidFill>
                  <a:srgbClr val="FFFFFF"/>
                </a:solidFill>
                <a:latin typeface="Noto Sans Bold"/>
                <a:ea typeface="Noto Sans Bold"/>
                <a:cs typeface="Noto Sans Bold"/>
                <a:sym typeface="Noto Sans Bold"/>
              </a:rPr>
              <a:t>서비스 시연</a:t>
            </a:r>
          </a:p>
        </p:txBody>
      </p:sp>
      <p:sp>
        <p:nvSpPr>
          <p:cNvPr name="TextBox 21" id="21"/>
          <p:cNvSpPr txBox="true"/>
          <p:nvPr/>
        </p:nvSpPr>
        <p:spPr>
          <a:xfrm rot="0">
            <a:off x="1371600" y="6830568"/>
            <a:ext cx="15544343" cy="314325"/>
          </a:xfrm>
          <a:prstGeom prst="rect">
            <a:avLst/>
          </a:prstGeom>
        </p:spPr>
        <p:txBody>
          <a:bodyPr anchor="t" rtlCol="false" tIns="0" lIns="0" bIns="0" rIns="0">
            <a:spAutoFit/>
          </a:bodyPr>
          <a:lstStyle/>
          <a:p>
            <a:pPr algn="l">
              <a:lnSpc>
                <a:spcPts val="2520"/>
              </a:lnSpc>
            </a:pPr>
            <a:r>
              <a:rPr lang="en-US" sz="2100">
                <a:solidFill>
                  <a:srgbClr val="A6ADBD"/>
                </a:solidFill>
                <a:latin typeface="Noto Sans"/>
                <a:ea typeface="Noto Sans"/>
                <a:cs typeface="Noto Sans"/>
                <a:sym typeface="Noto Sans"/>
              </a:rPr>
              <a:t>발표 · 면접 연습을 직접 보여드립니다</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D0E12"/>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22</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8FA9F5"/>
                </a:solidFill>
                <a:latin typeface="Noto Sans Bold"/>
                <a:ea typeface="Noto Sans Bold"/>
                <a:cs typeface="Noto Sans Bold"/>
                <a:sym typeface="Noto Sans Bold"/>
              </a:rPr>
              <a:t>시연 01</a:t>
            </a:r>
          </a:p>
        </p:txBody>
      </p:sp>
      <p:grpSp>
        <p:nvGrpSpPr>
          <p:cNvPr name="Group 18" id="18"/>
          <p:cNvGrpSpPr/>
          <p:nvPr/>
        </p:nvGrpSpPr>
        <p:grpSpPr>
          <a:xfrm rot="0">
            <a:off x="1371600" y="3017520"/>
            <a:ext cx="15544343" cy="3566160"/>
            <a:chOff x="0" y="0"/>
            <a:chExt cx="20725790" cy="4754880"/>
          </a:xfrm>
        </p:grpSpPr>
        <p:sp>
          <p:nvSpPr>
            <p:cNvPr name="Freeform 19" id="19"/>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20" id="20"/>
            <p:cNvSpPr txBox="true"/>
            <p:nvPr/>
          </p:nvSpPr>
          <p:spPr>
            <a:xfrm>
              <a:off x="0" y="-209550"/>
              <a:ext cx="20725790" cy="4964430"/>
            </a:xfrm>
            <a:prstGeom prst="rect">
              <a:avLst/>
            </a:prstGeom>
          </p:spPr>
          <p:txBody>
            <a:bodyPr anchor="ctr" rtlCol="false" tIns="0" lIns="0" bIns="0" rIns="0"/>
            <a:lstStyle/>
            <a:p>
              <a:pPr algn="ctr">
                <a:lnSpc>
                  <a:spcPts val="13391"/>
                </a:lnSpc>
              </a:pPr>
              <a:r>
                <a:rPr lang="en-US" sz="9300" b="true">
                  <a:solidFill>
                    <a:srgbClr val="FFFFFF"/>
                  </a:solidFill>
                  <a:latin typeface="Noto Sans Bold"/>
                  <a:ea typeface="Noto Sans Bold"/>
                  <a:cs typeface="Noto Sans Bold"/>
                  <a:sym typeface="Noto Sans Bold"/>
                </a:rPr>
                <a:t>발표 연습</a:t>
              </a:r>
            </a:p>
          </p:txBody>
        </p:sp>
      </p:grpSp>
      <p:sp>
        <p:nvSpPr>
          <p:cNvPr name="TextBox 21" id="21"/>
          <p:cNvSpPr txBox="true"/>
          <p:nvPr/>
        </p:nvSpPr>
        <p:spPr>
          <a:xfrm rot="0">
            <a:off x="1371600" y="6858000"/>
            <a:ext cx="15544343" cy="685800"/>
          </a:xfrm>
          <a:prstGeom prst="rect">
            <a:avLst/>
          </a:prstGeom>
        </p:spPr>
        <p:txBody>
          <a:bodyPr anchor="t" rtlCol="false" tIns="0" lIns="0" bIns="0" rIns="0">
            <a:spAutoFit/>
          </a:bodyPr>
          <a:lstStyle/>
          <a:p>
            <a:pPr algn="ctr">
              <a:lnSpc>
                <a:spcPts val="2700"/>
              </a:lnSpc>
            </a:pPr>
            <a:r>
              <a:rPr lang="en-US" sz="2250">
                <a:solidFill>
                  <a:srgbClr val="A6ADBD"/>
                </a:solidFill>
                <a:latin typeface="Noto Sans"/>
                <a:ea typeface="Noto Sans"/>
                <a:cs typeface="Noto Sans"/>
                <a:sym typeface="Noto Sans"/>
              </a:rPr>
              <a:t>준비 → 실시간 분석 → 리포트</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D0E12"/>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23</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8FA9F5"/>
                </a:solidFill>
                <a:latin typeface="Noto Sans Bold"/>
                <a:ea typeface="Noto Sans Bold"/>
                <a:cs typeface="Noto Sans Bold"/>
                <a:sym typeface="Noto Sans Bold"/>
              </a:rPr>
              <a:t>시연 02</a:t>
            </a:r>
          </a:p>
        </p:txBody>
      </p:sp>
      <p:grpSp>
        <p:nvGrpSpPr>
          <p:cNvPr name="Group 18" id="18"/>
          <p:cNvGrpSpPr/>
          <p:nvPr/>
        </p:nvGrpSpPr>
        <p:grpSpPr>
          <a:xfrm rot="0">
            <a:off x="1371600" y="3017520"/>
            <a:ext cx="15544343" cy="3566160"/>
            <a:chOff x="0" y="0"/>
            <a:chExt cx="20725790" cy="4754880"/>
          </a:xfrm>
        </p:grpSpPr>
        <p:sp>
          <p:nvSpPr>
            <p:cNvPr name="Freeform 19" id="19"/>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20" id="20"/>
            <p:cNvSpPr txBox="true"/>
            <p:nvPr/>
          </p:nvSpPr>
          <p:spPr>
            <a:xfrm>
              <a:off x="0" y="-209550"/>
              <a:ext cx="20725790" cy="4964430"/>
            </a:xfrm>
            <a:prstGeom prst="rect">
              <a:avLst/>
            </a:prstGeom>
          </p:spPr>
          <p:txBody>
            <a:bodyPr anchor="ctr" rtlCol="false" tIns="0" lIns="0" bIns="0" rIns="0"/>
            <a:lstStyle/>
            <a:p>
              <a:pPr algn="ctr">
                <a:lnSpc>
                  <a:spcPts val="13391"/>
                </a:lnSpc>
              </a:pPr>
              <a:r>
                <a:rPr lang="en-US" sz="9300" b="true">
                  <a:solidFill>
                    <a:srgbClr val="FFFFFF"/>
                  </a:solidFill>
                  <a:latin typeface="Noto Sans Bold"/>
                  <a:ea typeface="Noto Sans Bold"/>
                  <a:cs typeface="Noto Sans Bold"/>
                  <a:sym typeface="Noto Sans Bold"/>
                </a:rPr>
                <a:t>면접 연습</a:t>
              </a:r>
            </a:p>
          </p:txBody>
        </p:sp>
      </p:grpSp>
      <p:sp>
        <p:nvSpPr>
          <p:cNvPr name="TextBox 21" id="21"/>
          <p:cNvSpPr txBox="true"/>
          <p:nvPr/>
        </p:nvSpPr>
        <p:spPr>
          <a:xfrm rot="0">
            <a:off x="1371600" y="6858000"/>
            <a:ext cx="15544343" cy="685800"/>
          </a:xfrm>
          <a:prstGeom prst="rect">
            <a:avLst/>
          </a:prstGeom>
        </p:spPr>
        <p:txBody>
          <a:bodyPr anchor="t" rtlCol="false" tIns="0" lIns="0" bIns="0" rIns="0">
            <a:spAutoFit/>
          </a:bodyPr>
          <a:lstStyle/>
          <a:p>
            <a:pPr algn="ctr">
              <a:lnSpc>
                <a:spcPts val="2700"/>
              </a:lnSpc>
            </a:pPr>
            <a:r>
              <a:rPr lang="en-US" sz="2250">
                <a:solidFill>
                  <a:srgbClr val="A6ADBD"/>
                </a:solidFill>
                <a:latin typeface="Noto Sans"/>
                <a:ea typeface="Noto Sans"/>
                <a:cs typeface="Noto Sans"/>
                <a:sym typeface="Noto Sans"/>
              </a:rPr>
              <a:t>질문 생성 → 답변 → 리포트</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D0E12"/>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24</a:t>
              </a:r>
            </a:p>
          </p:txBody>
        </p:sp>
      </p:grpSp>
      <p:grpSp>
        <p:nvGrpSpPr>
          <p:cNvPr name="Group 17" id="17"/>
          <p:cNvGrpSpPr/>
          <p:nvPr/>
        </p:nvGrpSpPr>
        <p:grpSpPr>
          <a:xfrm rot="0">
            <a:off x="1371600" y="3223260"/>
            <a:ext cx="4114800" cy="2057400"/>
            <a:chOff x="0" y="0"/>
            <a:chExt cx="5486400" cy="2743200"/>
          </a:xfrm>
        </p:grpSpPr>
        <p:sp>
          <p:nvSpPr>
            <p:cNvPr name="Freeform 18" id="18"/>
            <p:cNvSpPr/>
            <p:nvPr/>
          </p:nvSpPr>
          <p:spPr>
            <a:xfrm flipH="false" flipV="false" rot="0">
              <a:off x="0" y="0"/>
              <a:ext cx="5486400" cy="2743200"/>
            </a:xfrm>
            <a:custGeom>
              <a:avLst/>
              <a:gdLst/>
              <a:ahLst/>
              <a:cxnLst/>
              <a:rect r="r" b="b" t="t" l="l"/>
              <a:pathLst>
                <a:path h="2743200" w="5486400">
                  <a:moveTo>
                    <a:pt x="0" y="0"/>
                  </a:moveTo>
                  <a:lnTo>
                    <a:pt x="5486400" y="0"/>
                  </a:lnTo>
                  <a:lnTo>
                    <a:pt x="5486400" y="2743200"/>
                  </a:lnTo>
                  <a:lnTo>
                    <a:pt x="0" y="2743200"/>
                  </a:lnTo>
                  <a:close/>
                </a:path>
              </a:pathLst>
            </a:custGeom>
            <a:blipFill>
              <a:blip r:embed="rId3">
                <a:alphaModFix amt="0"/>
              </a:blip>
              <a:stretch>
                <a:fillRect l="-14151" t="0" r="-14151" b="0"/>
              </a:stretch>
            </a:blipFill>
          </p:spPr>
        </p:sp>
        <p:sp>
          <p:nvSpPr>
            <p:cNvPr name="TextBox 19" id="19"/>
            <p:cNvSpPr txBox="true"/>
            <p:nvPr/>
          </p:nvSpPr>
          <p:spPr>
            <a:xfrm>
              <a:off x="0" y="0"/>
              <a:ext cx="5486400" cy="2743200"/>
            </a:xfrm>
            <a:prstGeom prst="rect">
              <a:avLst/>
            </a:prstGeom>
          </p:spPr>
          <p:txBody>
            <a:bodyPr anchor="ctr" rtlCol="false" tIns="0" lIns="0" bIns="0" rIns="0"/>
            <a:lstStyle/>
            <a:p>
              <a:pPr algn="l">
                <a:lnSpc>
                  <a:spcPts val="17280"/>
                </a:lnSpc>
              </a:pPr>
              <a:r>
                <a:rPr lang="en-US" sz="14400" b="true">
                  <a:solidFill>
                    <a:srgbClr val="3B73EE"/>
                  </a:solidFill>
                  <a:latin typeface="Noto Sans Bold"/>
                  <a:ea typeface="Noto Sans Bold"/>
                  <a:cs typeface="Noto Sans Bold"/>
                  <a:sym typeface="Noto Sans Bold"/>
                </a:rPr>
                <a:t>04</a:t>
              </a:r>
            </a:p>
          </p:txBody>
        </p:sp>
      </p:grpSp>
      <p:sp>
        <p:nvSpPr>
          <p:cNvPr name="TextBox 20" id="20"/>
          <p:cNvSpPr txBox="true"/>
          <p:nvPr/>
        </p:nvSpPr>
        <p:spPr>
          <a:xfrm rot="0">
            <a:off x="1371600" y="5417820"/>
            <a:ext cx="15544343" cy="1234440"/>
          </a:xfrm>
          <a:prstGeom prst="rect">
            <a:avLst/>
          </a:prstGeom>
        </p:spPr>
        <p:txBody>
          <a:bodyPr anchor="t" rtlCol="false" tIns="0" lIns="0" bIns="0" rIns="0">
            <a:spAutoFit/>
          </a:bodyPr>
          <a:lstStyle/>
          <a:p>
            <a:pPr algn="l">
              <a:lnSpc>
                <a:spcPts val="7920"/>
              </a:lnSpc>
            </a:pPr>
            <a:r>
              <a:rPr lang="en-US" sz="6600" b="true">
                <a:solidFill>
                  <a:srgbClr val="FFFFFF"/>
                </a:solidFill>
                <a:latin typeface="Noto Sans Bold"/>
                <a:ea typeface="Noto Sans Bold"/>
                <a:cs typeface="Noto Sans Bold"/>
                <a:sym typeface="Noto Sans Bold"/>
              </a:rPr>
              <a:t>기능 소개</a:t>
            </a:r>
          </a:p>
        </p:txBody>
      </p:sp>
      <p:sp>
        <p:nvSpPr>
          <p:cNvPr name="TextBox 21" id="21"/>
          <p:cNvSpPr txBox="true"/>
          <p:nvPr/>
        </p:nvSpPr>
        <p:spPr>
          <a:xfrm rot="0">
            <a:off x="1371600" y="6830568"/>
            <a:ext cx="15544343" cy="548640"/>
          </a:xfrm>
          <a:prstGeom prst="rect">
            <a:avLst/>
          </a:prstGeom>
        </p:spPr>
        <p:txBody>
          <a:bodyPr anchor="t" rtlCol="false" tIns="0" lIns="0" bIns="0" rIns="0">
            <a:spAutoFit/>
          </a:bodyPr>
          <a:lstStyle/>
          <a:p>
            <a:pPr algn="l">
              <a:lnSpc>
                <a:spcPts val="2520"/>
              </a:lnSpc>
            </a:pPr>
            <a:r>
              <a:rPr lang="en-US" sz="2100">
                <a:solidFill>
                  <a:srgbClr val="A6ADBD"/>
                </a:solidFill>
                <a:latin typeface="Noto Sans"/>
                <a:ea typeface="Noto Sans"/>
                <a:cs typeface="Noto Sans"/>
                <a:sym typeface="Noto Sans"/>
              </a:rPr>
              <a:t>연습 중에 보이고, 끝나면 남습니다</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25</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한눈에</a:t>
            </a:r>
          </a:p>
        </p:txBody>
      </p:sp>
      <p:sp>
        <p:nvSpPr>
          <p:cNvPr name="TextBox 18" id="18"/>
          <p:cNvSpPr txBox="true"/>
          <p:nvPr/>
        </p:nvSpPr>
        <p:spPr>
          <a:xfrm rot="0">
            <a:off x="1371600" y="1522095"/>
            <a:ext cx="15544343" cy="892302"/>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13개 기능, 세 갈래</a:t>
            </a:r>
          </a:p>
        </p:txBody>
      </p:sp>
      <p:grpSp>
        <p:nvGrpSpPr>
          <p:cNvPr name="Group 19" id="19"/>
          <p:cNvGrpSpPr/>
          <p:nvPr/>
        </p:nvGrpSpPr>
        <p:grpSpPr>
          <a:xfrm rot="0">
            <a:off x="7057225" y="3968115"/>
            <a:ext cx="4486123" cy="2911373"/>
            <a:chOff x="0" y="0"/>
            <a:chExt cx="5981497" cy="3881831"/>
          </a:xfrm>
        </p:grpSpPr>
        <p:grpSp>
          <p:nvGrpSpPr>
            <p:cNvPr name="Group 20" id="20"/>
            <p:cNvGrpSpPr/>
            <p:nvPr/>
          </p:nvGrpSpPr>
          <p:grpSpPr>
            <a:xfrm rot="0">
              <a:off x="22860" y="0"/>
              <a:ext cx="5958637" cy="80264"/>
              <a:chOff x="0" y="0"/>
              <a:chExt cx="5958637" cy="80264"/>
            </a:xfrm>
          </p:grpSpPr>
          <p:sp>
            <p:nvSpPr>
              <p:cNvPr name="Freeform 21" id="21"/>
              <p:cNvSpPr/>
              <p:nvPr/>
            </p:nvSpPr>
            <p:spPr>
              <a:xfrm flipH="false" flipV="false" rot="0">
                <a:off x="0" y="0"/>
                <a:ext cx="5958586" cy="80264"/>
              </a:xfrm>
              <a:custGeom>
                <a:avLst/>
                <a:gdLst/>
                <a:ahLst/>
                <a:cxnLst/>
                <a:rect r="r" b="b" t="t" l="l"/>
                <a:pathLst>
                  <a:path h="80264" w="5958586">
                    <a:moveTo>
                      <a:pt x="0" y="0"/>
                    </a:moveTo>
                    <a:lnTo>
                      <a:pt x="5958586" y="0"/>
                    </a:lnTo>
                    <a:lnTo>
                      <a:pt x="5958586" y="80264"/>
                    </a:lnTo>
                    <a:lnTo>
                      <a:pt x="0" y="80264"/>
                    </a:lnTo>
                    <a:close/>
                  </a:path>
                </a:pathLst>
              </a:custGeom>
              <a:solidFill>
                <a:srgbClr val="3B73EE"/>
              </a:solidFill>
              <a:ln w="19050" cap="sq">
                <a:solidFill>
                  <a:srgbClr val="3B73EE"/>
                </a:solidFill>
                <a:prstDash val="solid"/>
                <a:miter/>
              </a:ln>
            </p:spPr>
          </p:sp>
        </p:grpSp>
        <p:sp>
          <p:nvSpPr>
            <p:cNvPr name="TextBox 22" id="22"/>
            <p:cNvSpPr txBox="true"/>
            <p:nvPr/>
          </p:nvSpPr>
          <p:spPr>
            <a:xfrm rot="0">
              <a:off x="35560" y="415036"/>
              <a:ext cx="5933237" cy="731520"/>
            </a:xfrm>
            <a:prstGeom prst="rect">
              <a:avLst/>
            </a:prstGeom>
          </p:spPr>
          <p:txBody>
            <a:bodyPr anchor="t" rtlCol="false" tIns="0" lIns="0" bIns="0" rIns="0">
              <a:spAutoFit/>
            </a:bodyPr>
            <a:lstStyle/>
            <a:p>
              <a:pPr algn="l">
                <a:lnSpc>
                  <a:spcPts val="3419"/>
                </a:lnSpc>
              </a:pPr>
              <a:r>
                <a:rPr lang="en-US" sz="2850" b="true">
                  <a:solidFill>
                    <a:srgbClr val="3B73EE"/>
                  </a:solidFill>
                  <a:latin typeface="Noto Sans Bold"/>
                  <a:ea typeface="Noto Sans Bold"/>
                  <a:cs typeface="Noto Sans Bold"/>
                  <a:sym typeface="Noto Sans Bold"/>
                </a:rPr>
                <a:t>발표</a:t>
              </a:r>
            </a:p>
          </p:txBody>
        </p:sp>
        <p:sp>
          <p:nvSpPr>
            <p:cNvPr name="TextBox 23" id="23"/>
            <p:cNvSpPr txBox="true"/>
            <p:nvPr/>
          </p:nvSpPr>
          <p:spPr>
            <a:xfrm rot="0">
              <a:off x="35560" y="1319911"/>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슬라이드 핵심 내용 추출</a:t>
              </a:r>
            </a:p>
          </p:txBody>
        </p:sp>
        <p:sp>
          <p:nvSpPr>
            <p:cNvPr name="TextBox 24" id="24"/>
            <p:cNvSpPr txBox="true"/>
            <p:nvPr/>
          </p:nvSpPr>
          <p:spPr>
            <a:xfrm rot="0">
              <a:off x="12700" y="2051431"/>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슬라이드별 리포트</a:t>
              </a:r>
            </a:p>
          </p:txBody>
        </p:sp>
        <p:grpSp>
          <p:nvGrpSpPr>
            <p:cNvPr name="Group 25" id="25"/>
            <p:cNvGrpSpPr/>
            <p:nvPr/>
          </p:nvGrpSpPr>
          <p:grpSpPr>
            <a:xfrm rot="0">
              <a:off x="22860" y="1920240"/>
              <a:ext cx="5958637" cy="51003"/>
              <a:chOff x="0" y="0"/>
              <a:chExt cx="5958637" cy="51003"/>
            </a:xfrm>
          </p:grpSpPr>
          <p:sp>
            <p:nvSpPr>
              <p:cNvPr name="Freeform 26" id="26"/>
              <p:cNvSpPr/>
              <p:nvPr/>
            </p:nvSpPr>
            <p:spPr>
              <a:xfrm flipH="false" flipV="false" rot="0">
                <a:off x="0" y="0"/>
                <a:ext cx="5958586" cy="51054"/>
              </a:xfrm>
              <a:custGeom>
                <a:avLst/>
                <a:gdLst/>
                <a:ahLst/>
                <a:cxnLst/>
                <a:rect r="r" b="b" t="t" l="l"/>
                <a:pathLst>
                  <a:path h="51054" w="5958586">
                    <a:moveTo>
                      <a:pt x="0" y="0"/>
                    </a:moveTo>
                    <a:lnTo>
                      <a:pt x="5958586" y="0"/>
                    </a:lnTo>
                    <a:lnTo>
                      <a:pt x="5958586" y="51054"/>
                    </a:lnTo>
                    <a:lnTo>
                      <a:pt x="0" y="51054"/>
                    </a:lnTo>
                    <a:close/>
                  </a:path>
                </a:pathLst>
              </a:custGeom>
              <a:solidFill>
                <a:srgbClr val="ECEEF4"/>
              </a:solidFill>
              <a:ln w="19050" cap="sq">
                <a:solidFill>
                  <a:srgbClr val="ECEEF4"/>
                </a:solidFill>
                <a:prstDash val="solid"/>
                <a:miter/>
              </a:ln>
            </p:spPr>
          </p:sp>
        </p:grpSp>
        <p:grpSp>
          <p:nvGrpSpPr>
            <p:cNvPr name="Group 27" id="27"/>
            <p:cNvGrpSpPr/>
            <p:nvPr/>
          </p:nvGrpSpPr>
          <p:grpSpPr>
            <a:xfrm rot="0">
              <a:off x="0" y="2626258"/>
              <a:ext cx="5958637" cy="51003"/>
              <a:chOff x="0" y="0"/>
              <a:chExt cx="5958637" cy="51003"/>
            </a:xfrm>
          </p:grpSpPr>
          <p:sp>
            <p:nvSpPr>
              <p:cNvPr name="Freeform 28" id="28"/>
              <p:cNvSpPr/>
              <p:nvPr/>
            </p:nvSpPr>
            <p:spPr>
              <a:xfrm flipH="false" flipV="false" rot="0">
                <a:off x="0" y="0"/>
                <a:ext cx="5958586" cy="51054"/>
              </a:xfrm>
              <a:custGeom>
                <a:avLst/>
                <a:gdLst/>
                <a:ahLst/>
                <a:cxnLst/>
                <a:rect r="r" b="b" t="t" l="l"/>
                <a:pathLst>
                  <a:path h="51054" w="5958586">
                    <a:moveTo>
                      <a:pt x="0" y="0"/>
                    </a:moveTo>
                    <a:lnTo>
                      <a:pt x="5958586" y="0"/>
                    </a:lnTo>
                    <a:lnTo>
                      <a:pt x="5958586" y="51054"/>
                    </a:lnTo>
                    <a:lnTo>
                      <a:pt x="0" y="51054"/>
                    </a:lnTo>
                    <a:close/>
                  </a:path>
                </a:pathLst>
              </a:custGeom>
              <a:solidFill>
                <a:srgbClr val="ECEEF4"/>
              </a:solidFill>
              <a:ln w="19050" cap="sq">
                <a:solidFill>
                  <a:srgbClr val="ECEEF4"/>
                </a:solidFill>
                <a:prstDash val="solid"/>
                <a:miter/>
              </a:ln>
            </p:spPr>
          </p:sp>
        </p:grpSp>
        <p:grpSp>
          <p:nvGrpSpPr>
            <p:cNvPr name="Group 29" id="29"/>
            <p:cNvGrpSpPr/>
            <p:nvPr/>
          </p:nvGrpSpPr>
          <p:grpSpPr>
            <a:xfrm rot="0">
              <a:off x="0" y="3287776"/>
              <a:ext cx="5958637" cy="51003"/>
              <a:chOff x="0" y="0"/>
              <a:chExt cx="5958637" cy="51003"/>
            </a:xfrm>
          </p:grpSpPr>
          <p:sp>
            <p:nvSpPr>
              <p:cNvPr name="Freeform 30" id="30"/>
              <p:cNvSpPr/>
              <p:nvPr/>
            </p:nvSpPr>
            <p:spPr>
              <a:xfrm flipH="false" flipV="false" rot="0">
                <a:off x="0" y="0"/>
                <a:ext cx="5958586" cy="51054"/>
              </a:xfrm>
              <a:custGeom>
                <a:avLst/>
                <a:gdLst/>
                <a:ahLst/>
                <a:cxnLst/>
                <a:rect r="r" b="b" t="t" l="l"/>
                <a:pathLst>
                  <a:path h="51054" w="5958586">
                    <a:moveTo>
                      <a:pt x="0" y="0"/>
                    </a:moveTo>
                    <a:lnTo>
                      <a:pt x="5958586" y="0"/>
                    </a:lnTo>
                    <a:lnTo>
                      <a:pt x="5958586" y="51054"/>
                    </a:lnTo>
                    <a:lnTo>
                      <a:pt x="0" y="51054"/>
                    </a:lnTo>
                    <a:close/>
                  </a:path>
                </a:pathLst>
              </a:custGeom>
              <a:solidFill>
                <a:srgbClr val="ECEEF4"/>
              </a:solidFill>
              <a:ln w="19050" cap="sq">
                <a:solidFill>
                  <a:srgbClr val="ECEEF4"/>
                </a:solidFill>
                <a:prstDash val="solid"/>
                <a:miter/>
              </a:ln>
            </p:spPr>
          </p:sp>
        </p:grpSp>
        <p:sp>
          <p:nvSpPr>
            <p:cNvPr name="TextBox 31" id="31"/>
            <p:cNvSpPr txBox="true"/>
            <p:nvPr/>
          </p:nvSpPr>
          <p:spPr>
            <a:xfrm rot="0">
              <a:off x="25400" y="2804389"/>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슬라이드별 발표 강점/약점 분석</a:t>
              </a:r>
            </a:p>
          </p:txBody>
        </p:sp>
        <p:sp>
          <p:nvSpPr>
            <p:cNvPr name="TextBox 32" id="32"/>
            <p:cNvSpPr txBox="true"/>
            <p:nvPr/>
          </p:nvSpPr>
          <p:spPr>
            <a:xfrm rot="0">
              <a:off x="25400" y="3465906"/>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청중 예상 질문</a:t>
              </a:r>
            </a:p>
          </p:txBody>
        </p:sp>
      </p:grpSp>
      <p:grpSp>
        <p:nvGrpSpPr>
          <p:cNvPr name="Group 33" id="33"/>
          <p:cNvGrpSpPr/>
          <p:nvPr/>
        </p:nvGrpSpPr>
        <p:grpSpPr>
          <a:xfrm rot="0">
            <a:off x="1337462" y="3968115"/>
            <a:ext cx="4491838" cy="3470072"/>
            <a:chOff x="0" y="0"/>
            <a:chExt cx="5989117" cy="4626762"/>
          </a:xfrm>
        </p:grpSpPr>
        <p:sp>
          <p:nvSpPr>
            <p:cNvPr name="TextBox 34" id="34"/>
            <p:cNvSpPr txBox="true"/>
            <p:nvPr/>
          </p:nvSpPr>
          <p:spPr>
            <a:xfrm rot="0">
              <a:off x="12700" y="2016277"/>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음성 (말속도 · 추임새 · 침묵)</a:t>
              </a:r>
            </a:p>
          </p:txBody>
        </p:sp>
        <p:grpSp>
          <p:nvGrpSpPr>
            <p:cNvPr name="Group 35" id="35"/>
            <p:cNvGrpSpPr/>
            <p:nvPr/>
          </p:nvGrpSpPr>
          <p:grpSpPr>
            <a:xfrm rot="0">
              <a:off x="0" y="2616606"/>
              <a:ext cx="5958637" cy="51003"/>
              <a:chOff x="0" y="0"/>
              <a:chExt cx="5958637" cy="51003"/>
            </a:xfrm>
          </p:grpSpPr>
          <p:sp>
            <p:nvSpPr>
              <p:cNvPr name="Freeform 36" id="36"/>
              <p:cNvSpPr/>
              <p:nvPr/>
            </p:nvSpPr>
            <p:spPr>
              <a:xfrm flipH="false" flipV="false" rot="0">
                <a:off x="0" y="0"/>
                <a:ext cx="5958586" cy="51054"/>
              </a:xfrm>
              <a:custGeom>
                <a:avLst/>
                <a:gdLst/>
                <a:ahLst/>
                <a:cxnLst/>
                <a:rect r="r" b="b" t="t" l="l"/>
                <a:pathLst>
                  <a:path h="51054" w="5958586">
                    <a:moveTo>
                      <a:pt x="0" y="0"/>
                    </a:moveTo>
                    <a:lnTo>
                      <a:pt x="5958586" y="0"/>
                    </a:lnTo>
                    <a:lnTo>
                      <a:pt x="5958586" y="51054"/>
                    </a:lnTo>
                    <a:lnTo>
                      <a:pt x="0" y="51054"/>
                    </a:lnTo>
                    <a:close/>
                  </a:path>
                </a:pathLst>
              </a:custGeom>
              <a:solidFill>
                <a:srgbClr val="ECEEF4"/>
              </a:solidFill>
              <a:ln w="19050" cap="sq">
                <a:solidFill>
                  <a:srgbClr val="ECEEF4"/>
                </a:solidFill>
                <a:prstDash val="solid"/>
                <a:miter/>
              </a:ln>
            </p:spPr>
          </p:sp>
        </p:grpSp>
        <p:sp>
          <p:nvSpPr>
            <p:cNvPr name="TextBox 37" id="37"/>
            <p:cNvSpPr txBox="true"/>
            <p:nvPr/>
          </p:nvSpPr>
          <p:spPr>
            <a:xfrm rot="0">
              <a:off x="12700" y="2747797"/>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몸짓 (시선 · 자세)</a:t>
              </a:r>
            </a:p>
          </p:txBody>
        </p:sp>
        <p:grpSp>
          <p:nvGrpSpPr>
            <p:cNvPr name="Group 38" id="38"/>
            <p:cNvGrpSpPr/>
            <p:nvPr/>
          </p:nvGrpSpPr>
          <p:grpSpPr>
            <a:xfrm rot="0">
              <a:off x="0" y="3348126"/>
              <a:ext cx="5958637" cy="51003"/>
              <a:chOff x="0" y="0"/>
              <a:chExt cx="5958637" cy="51003"/>
            </a:xfrm>
          </p:grpSpPr>
          <p:sp>
            <p:nvSpPr>
              <p:cNvPr name="Freeform 39" id="39"/>
              <p:cNvSpPr/>
              <p:nvPr/>
            </p:nvSpPr>
            <p:spPr>
              <a:xfrm flipH="false" flipV="false" rot="0">
                <a:off x="0" y="0"/>
                <a:ext cx="5958586" cy="51054"/>
              </a:xfrm>
              <a:custGeom>
                <a:avLst/>
                <a:gdLst/>
                <a:ahLst/>
                <a:cxnLst/>
                <a:rect r="r" b="b" t="t" l="l"/>
                <a:pathLst>
                  <a:path h="51054" w="5958586">
                    <a:moveTo>
                      <a:pt x="0" y="0"/>
                    </a:moveTo>
                    <a:lnTo>
                      <a:pt x="5958586" y="0"/>
                    </a:lnTo>
                    <a:lnTo>
                      <a:pt x="5958586" y="51054"/>
                    </a:lnTo>
                    <a:lnTo>
                      <a:pt x="0" y="51054"/>
                    </a:lnTo>
                    <a:close/>
                  </a:path>
                </a:pathLst>
              </a:custGeom>
              <a:solidFill>
                <a:srgbClr val="ECEEF4"/>
              </a:solidFill>
              <a:ln w="19050" cap="sq">
                <a:solidFill>
                  <a:srgbClr val="ECEEF4"/>
                </a:solidFill>
                <a:prstDash val="solid"/>
                <a:miter/>
              </a:ln>
            </p:spPr>
          </p:sp>
        </p:grpSp>
        <p:sp>
          <p:nvSpPr>
            <p:cNvPr name="TextBox 40" id="40"/>
            <p:cNvSpPr txBox="true"/>
            <p:nvPr/>
          </p:nvSpPr>
          <p:spPr>
            <a:xfrm rot="0">
              <a:off x="12700" y="3479317"/>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문제 구간 재생</a:t>
              </a:r>
            </a:p>
          </p:txBody>
        </p:sp>
        <p:grpSp>
          <p:nvGrpSpPr>
            <p:cNvPr name="Group 41" id="41"/>
            <p:cNvGrpSpPr/>
            <p:nvPr/>
          </p:nvGrpSpPr>
          <p:grpSpPr>
            <a:xfrm rot="0">
              <a:off x="0" y="4079646"/>
              <a:ext cx="5958637" cy="51003"/>
              <a:chOff x="0" y="0"/>
              <a:chExt cx="5958637" cy="51003"/>
            </a:xfrm>
          </p:grpSpPr>
          <p:sp>
            <p:nvSpPr>
              <p:cNvPr name="Freeform 42" id="42"/>
              <p:cNvSpPr/>
              <p:nvPr/>
            </p:nvSpPr>
            <p:spPr>
              <a:xfrm flipH="false" flipV="false" rot="0">
                <a:off x="0" y="0"/>
                <a:ext cx="5958586" cy="51054"/>
              </a:xfrm>
              <a:custGeom>
                <a:avLst/>
                <a:gdLst/>
                <a:ahLst/>
                <a:cxnLst/>
                <a:rect r="r" b="b" t="t" l="l"/>
                <a:pathLst>
                  <a:path h="51054" w="5958586">
                    <a:moveTo>
                      <a:pt x="0" y="0"/>
                    </a:moveTo>
                    <a:lnTo>
                      <a:pt x="5958586" y="0"/>
                    </a:lnTo>
                    <a:lnTo>
                      <a:pt x="5958586" y="51054"/>
                    </a:lnTo>
                    <a:lnTo>
                      <a:pt x="0" y="51054"/>
                    </a:lnTo>
                    <a:close/>
                  </a:path>
                </a:pathLst>
              </a:custGeom>
              <a:solidFill>
                <a:srgbClr val="ECEEF4"/>
              </a:solidFill>
              <a:ln w="19050" cap="sq">
                <a:solidFill>
                  <a:srgbClr val="ECEEF4"/>
                </a:solidFill>
                <a:prstDash val="solid"/>
                <a:miter/>
              </a:ln>
            </p:spPr>
          </p:sp>
        </p:grpSp>
        <p:sp>
          <p:nvSpPr>
            <p:cNvPr name="TextBox 43" id="43"/>
            <p:cNvSpPr txBox="true"/>
            <p:nvPr/>
          </p:nvSpPr>
          <p:spPr>
            <a:xfrm rot="0">
              <a:off x="12700" y="4210837"/>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성장</a:t>
              </a:r>
              <a:r>
                <a:rPr lang="en-US" sz="2025">
                  <a:solidFill>
                    <a:srgbClr val="2E313D"/>
                  </a:solidFill>
                  <a:latin typeface="Noto Sans"/>
                  <a:ea typeface="Noto Sans"/>
                  <a:cs typeface="Noto Sans"/>
                  <a:sym typeface="Noto Sans"/>
                </a:rPr>
                <a:t> 추이</a:t>
              </a:r>
            </a:p>
          </p:txBody>
        </p:sp>
        <p:grpSp>
          <p:nvGrpSpPr>
            <p:cNvPr name="Group 44" id="44"/>
            <p:cNvGrpSpPr/>
            <p:nvPr/>
          </p:nvGrpSpPr>
          <p:grpSpPr>
            <a:xfrm rot="0">
              <a:off x="17780" y="0"/>
              <a:ext cx="5958637" cy="80264"/>
              <a:chOff x="0" y="0"/>
              <a:chExt cx="5958637" cy="80264"/>
            </a:xfrm>
          </p:grpSpPr>
          <p:sp>
            <p:nvSpPr>
              <p:cNvPr name="Freeform 45" id="45"/>
              <p:cNvSpPr/>
              <p:nvPr/>
            </p:nvSpPr>
            <p:spPr>
              <a:xfrm flipH="false" flipV="false" rot="0">
                <a:off x="0" y="0"/>
                <a:ext cx="5958586" cy="80264"/>
              </a:xfrm>
              <a:custGeom>
                <a:avLst/>
                <a:gdLst/>
                <a:ahLst/>
                <a:cxnLst/>
                <a:rect r="r" b="b" t="t" l="l"/>
                <a:pathLst>
                  <a:path h="80264" w="5958586">
                    <a:moveTo>
                      <a:pt x="0" y="0"/>
                    </a:moveTo>
                    <a:lnTo>
                      <a:pt x="5958586" y="0"/>
                    </a:lnTo>
                    <a:lnTo>
                      <a:pt x="5958586" y="80264"/>
                    </a:lnTo>
                    <a:lnTo>
                      <a:pt x="0" y="80264"/>
                    </a:lnTo>
                    <a:close/>
                  </a:path>
                </a:pathLst>
              </a:custGeom>
              <a:solidFill>
                <a:srgbClr val="747987"/>
              </a:solidFill>
              <a:ln w="19050" cap="sq">
                <a:solidFill>
                  <a:srgbClr val="747987"/>
                </a:solidFill>
                <a:prstDash val="solid"/>
                <a:miter/>
              </a:ln>
            </p:spPr>
          </p:sp>
        </p:grpSp>
        <p:sp>
          <p:nvSpPr>
            <p:cNvPr name="TextBox 46" id="46"/>
            <p:cNvSpPr txBox="true"/>
            <p:nvPr/>
          </p:nvSpPr>
          <p:spPr>
            <a:xfrm rot="0">
              <a:off x="30480" y="415036"/>
              <a:ext cx="5933237" cy="571500"/>
            </a:xfrm>
            <a:prstGeom prst="rect">
              <a:avLst/>
            </a:prstGeom>
          </p:spPr>
          <p:txBody>
            <a:bodyPr anchor="t" rtlCol="false" tIns="0" lIns="0" bIns="0" rIns="0">
              <a:spAutoFit/>
            </a:bodyPr>
            <a:lstStyle/>
            <a:p>
              <a:pPr algn="l">
                <a:lnSpc>
                  <a:spcPts val="3419"/>
                </a:lnSpc>
              </a:pPr>
              <a:r>
                <a:rPr lang="en-US" sz="2850" b="true">
                  <a:solidFill>
                    <a:srgbClr val="11131B"/>
                  </a:solidFill>
                  <a:latin typeface="Noto Sans Bold"/>
                  <a:ea typeface="Noto Sans Bold"/>
                  <a:cs typeface="Noto Sans Bold"/>
                  <a:sym typeface="Noto Sans Bold"/>
                </a:rPr>
                <a:t>공통</a:t>
              </a:r>
            </a:p>
          </p:txBody>
        </p:sp>
        <p:sp>
          <p:nvSpPr>
            <p:cNvPr name="TextBox 47" id="47"/>
            <p:cNvSpPr txBox="true"/>
            <p:nvPr/>
          </p:nvSpPr>
          <p:spPr>
            <a:xfrm rot="0">
              <a:off x="30480" y="1319911"/>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실시간</a:t>
              </a:r>
              <a:r>
                <a:rPr lang="en-US" sz="2025">
                  <a:solidFill>
                    <a:srgbClr val="2E313D"/>
                  </a:solidFill>
                  <a:latin typeface="Noto Sans"/>
                  <a:ea typeface="Noto Sans"/>
                  <a:cs typeface="Noto Sans"/>
                  <a:sym typeface="Noto Sans"/>
                </a:rPr>
                <a:t> 자막</a:t>
              </a:r>
            </a:p>
          </p:txBody>
        </p:sp>
        <p:grpSp>
          <p:nvGrpSpPr>
            <p:cNvPr name="Group 48" id="48"/>
            <p:cNvGrpSpPr/>
            <p:nvPr/>
          </p:nvGrpSpPr>
          <p:grpSpPr>
            <a:xfrm rot="0">
              <a:off x="30480" y="1821586"/>
              <a:ext cx="5958637" cy="63500"/>
              <a:chOff x="0" y="0"/>
              <a:chExt cx="5958637" cy="63500"/>
            </a:xfrm>
          </p:grpSpPr>
          <p:sp>
            <p:nvSpPr>
              <p:cNvPr name="Freeform 49" id="49"/>
              <p:cNvSpPr/>
              <p:nvPr/>
            </p:nvSpPr>
            <p:spPr>
              <a:xfrm flipH="false" flipV="false" rot="0">
                <a:off x="0" y="0"/>
                <a:ext cx="5958586" cy="63551"/>
              </a:xfrm>
              <a:custGeom>
                <a:avLst/>
                <a:gdLst/>
                <a:ahLst/>
                <a:cxnLst/>
                <a:rect r="r" b="b" t="t" l="l"/>
                <a:pathLst>
                  <a:path h="63551" w="5958586">
                    <a:moveTo>
                      <a:pt x="0" y="0"/>
                    </a:moveTo>
                    <a:lnTo>
                      <a:pt x="5958586" y="0"/>
                    </a:lnTo>
                    <a:lnTo>
                      <a:pt x="5958586" y="63551"/>
                    </a:lnTo>
                    <a:lnTo>
                      <a:pt x="0" y="63551"/>
                    </a:lnTo>
                    <a:close/>
                  </a:path>
                </a:pathLst>
              </a:custGeom>
              <a:solidFill>
                <a:srgbClr val="ECEEF4"/>
              </a:solidFill>
              <a:ln w="19050" cap="sq">
                <a:solidFill>
                  <a:srgbClr val="ECEEF4"/>
                </a:solidFill>
                <a:prstDash val="solid"/>
                <a:miter/>
              </a:ln>
            </p:spPr>
          </p:sp>
        </p:grpSp>
      </p:grpSp>
      <p:grpSp>
        <p:nvGrpSpPr>
          <p:cNvPr name="Group 50" id="50"/>
          <p:cNvGrpSpPr/>
          <p:nvPr/>
        </p:nvGrpSpPr>
        <p:grpSpPr>
          <a:xfrm rot="0">
            <a:off x="12771272" y="3968115"/>
            <a:ext cx="4488028" cy="3012262"/>
            <a:chOff x="0" y="0"/>
            <a:chExt cx="5984037" cy="4016350"/>
          </a:xfrm>
        </p:grpSpPr>
        <p:grpSp>
          <p:nvGrpSpPr>
            <p:cNvPr name="Group 51" id="51"/>
            <p:cNvGrpSpPr/>
            <p:nvPr/>
          </p:nvGrpSpPr>
          <p:grpSpPr>
            <a:xfrm rot="0">
              <a:off x="0" y="0"/>
              <a:ext cx="5958637" cy="80264"/>
              <a:chOff x="0" y="0"/>
              <a:chExt cx="5958637" cy="80264"/>
            </a:xfrm>
          </p:grpSpPr>
          <p:sp>
            <p:nvSpPr>
              <p:cNvPr name="Freeform 52" id="52"/>
              <p:cNvSpPr/>
              <p:nvPr/>
            </p:nvSpPr>
            <p:spPr>
              <a:xfrm flipH="false" flipV="false" rot="0">
                <a:off x="0" y="0"/>
                <a:ext cx="5958586" cy="80264"/>
              </a:xfrm>
              <a:custGeom>
                <a:avLst/>
                <a:gdLst/>
                <a:ahLst/>
                <a:cxnLst/>
                <a:rect r="r" b="b" t="t" l="l"/>
                <a:pathLst>
                  <a:path h="80264" w="5958586">
                    <a:moveTo>
                      <a:pt x="0" y="0"/>
                    </a:moveTo>
                    <a:lnTo>
                      <a:pt x="5958586" y="0"/>
                    </a:lnTo>
                    <a:lnTo>
                      <a:pt x="5958586" y="80264"/>
                    </a:lnTo>
                    <a:lnTo>
                      <a:pt x="0" y="80264"/>
                    </a:lnTo>
                    <a:close/>
                  </a:path>
                </a:pathLst>
              </a:custGeom>
              <a:solidFill>
                <a:srgbClr val="928AF7"/>
              </a:solidFill>
              <a:ln w="19050" cap="sq">
                <a:solidFill>
                  <a:srgbClr val="928AF7"/>
                </a:solidFill>
                <a:prstDash val="solid"/>
                <a:miter/>
              </a:ln>
            </p:spPr>
          </p:sp>
        </p:grpSp>
        <p:sp>
          <p:nvSpPr>
            <p:cNvPr name="TextBox 53" id="53"/>
            <p:cNvSpPr txBox="true"/>
            <p:nvPr/>
          </p:nvSpPr>
          <p:spPr>
            <a:xfrm rot="0">
              <a:off x="12700" y="415036"/>
              <a:ext cx="5933237" cy="731520"/>
            </a:xfrm>
            <a:prstGeom prst="rect">
              <a:avLst/>
            </a:prstGeom>
          </p:spPr>
          <p:txBody>
            <a:bodyPr anchor="t" rtlCol="false" tIns="0" lIns="0" bIns="0" rIns="0">
              <a:spAutoFit/>
            </a:bodyPr>
            <a:lstStyle/>
            <a:p>
              <a:pPr algn="l">
                <a:lnSpc>
                  <a:spcPts val="3419"/>
                </a:lnSpc>
              </a:pPr>
              <a:r>
                <a:rPr lang="en-US" sz="2850" b="true">
                  <a:solidFill>
                    <a:srgbClr val="928AF7"/>
                  </a:solidFill>
                  <a:latin typeface="Noto Sans Bold"/>
                  <a:ea typeface="Noto Sans Bold"/>
                  <a:cs typeface="Noto Sans Bold"/>
                  <a:sym typeface="Noto Sans Bold"/>
                </a:rPr>
                <a:t>면접</a:t>
              </a:r>
            </a:p>
          </p:txBody>
        </p:sp>
        <p:sp>
          <p:nvSpPr>
            <p:cNvPr name="TextBox 54" id="54"/>
            <p:cNvSpPr txBox="true"/>
            <p:nvPr/>
          </p:nvSpPr>
          <p:spPr>
            <a:xfrm rot="0">
              <a:off x="12700" y="1319911"/>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타겟 기업 특화 면접</a:t>
              </a:r>
            </a:p>
          </p:txBody>
        </p:sp>
        <p:grpSp>
          <p:nvGrpSpPr>
            <p:cNvPr name="Group 55" id="55"/>
            <p:cNvGrpSpPr/>
            <p:nvPr/>
          </p:nvGrpSpPr>
          <p:grpSpPr>
            <a:xfrm rot="0">
              <a:off x="0" y="1920240"/>
              <a:ext cx="5958637" cy="51003"/>
              <a:chOff x="0" y="0"/>
              <a:chExt cx="5958637" cy="51003"/>
            </a:xfrm>
          </p:grpSpPr>
          <p:sp>
            <p:nvSpPr>
              <p:cNvPr name="Freeform 56" id="56"/>
              <p:cNvSpPr/>
              <p:nvPr/>
            </p:nvSpPr>
            <p:spPr>
              <a:xfrm flipH="false" flipV="false" rot="0">
                <a:off x="0" y="0"/>
                <a:ext cx="5958586" cy="51054"/>
              </a:xfrm>
              <a:custGeom>
                <a:avLst/>
                <a:gdLst/>
                <a:ahLst/>
                <a:cxnLst/>
                <a:rect r="r" b="b" t="t" l="l"/>
                <a:pathLst>
                  <a:path h="51054" w="5958586">
                    <a:moveTo>
                      <a:pt x="0" y="0"/>
                    </a:moveTo>
                    <a:lnTo>
                      <a:pt x="5958586" y="0"/>
                    </a:lnTo>
                    <a:lnTo>
                      <a:pt x="5958586" y="51054"/>
                    </a:lnTo>
                    <a:lnTo>
                      <a:pt x="0" y="51054"/>
                    </a:lnTo>
                    <a:close/>
                  </a:path>
                </a:pathLst>
              </a:custGeom>
              <a:solidFill>
                <a:srgbClr val="ECEEF4"/>
              </a:solidFill>
              <a:ln w="19050" cap="sq">
                <a:solidFill>
                  <a:srgbClr val="ECEEF4"/>
                </a:solidFill>
                <a:prstDash val="solid"/>
                <a:miter/>
              </a:ln>
            </p:spPr>
          </p:sp>
        </p:grpSp>
        <p:sp>
          <p:nvSpPr>
            <p:cNvPr name="TextBox 57" id="57"/>
            <p:cNvSpPr txBox="true"/>
            <p:nvPr/>
          </p:nvSpPr>
          <p:spPr>
            <a:xfrm rot="0">
              <a:off x="12700" y="2139518"/>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질문별 리포트</a:t>
              </a:r>
            </a:p>
          </p:txBody>
        </p:sp>
        <p:grpSp>
          <p:nvGrpSpPr>
            <p:cNvPr name="Group 58" id="58"/>
            <p:cNvGrpSpPr/>
            <p:nvPr/>
          </p:nvGrpSpPr>
          <p:grpSpPr>
            <a:xfrm rot="0">
              <a:off x="12700" y="2644343"/>
              <a:ext cx="5958637" cy="51003"/>
              <a:chOff x="0" y="0"/>
              <a:chExt cx="5958637" cy="51003"/>
            </a:xfrm>
          </p:grpSpPr>
          <p:sp>
            <p:nvSpPr>
              <p:cNvPr name="Freeform 59" id="59"/>
              <p:cNvSpPr/>
              <p:nvPr/>
            </p:nvSpPr>
            <p:spPr>
              <a:xfrm flipH="false" flipV="false" rot="0">
                <a:off x="0" y="0"/>
                <a:ext cx="5958586" cy="51054"/>
              </a:xfrm>
              <a:custGeom>
                <a:avLst/>
                <a:gdLst/>
                <a:ahLst/>
                <a:cxnLst/>
                <a:rect r="r" b="b" t="t" l="l"/>
                <a:pathLst>
                  <a:path h="51054" w="5958586">
                    <a:moveTo>
                      <a:pt x="0" y="0"/>
                    </a:moveTo>
                    <a:lnTo>
                      <a:pt x="5958586" y="0"/>
                    </a:lnTo>
                    <a:lnTo>
                      <a:pt x="5958586" y="51054"/>
                    </a:lnTo>
                    <a:lnTo>
                      <a:pt x="0" y="51054"/>
                    </a:lnTo>
                    <a:close/>
                  </a:path>
                </a:pathLst>
              </a:custGeom>
              <a:solidFill>
                <a:srgbClr val="ECEEF4"/>
              </a:solidFill>
              <a:ln w="19050" cap="sq">
                <a:solidFill>
                  <a:srgbClr val="ECEEF4"/>
                </a:solidFill>
                <a:prstDash val="solid"/>
                <a:miter/>
              </a:ln>
            </p:spPr>
          </p:sp>
        </p:grpSp>
        <p:sp>
          <p:nvSpPr>
            <p:cNvPr name="TextBox 60" id="60"/>
            <p:cNvSpPr txBox="true"/>
            <p:nvPr/>
          </p:nvSpPr>
          <p:spPr>
            <a:xfrm rot="0">
              <a:off x="25400" y="2876321"/>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응답 내 강점/약점 분석</a:t>
              </a:r>
            </a:p>
          </p:txBody>
        </p:sp>
        <p:grpSp>
          <p:nvGrpSpPr>
            <p:cNvPr name="Group 61" id="61"/>
            <p:cNvGrpSpPr/>
            <p:nvPr/>
          </p:nvGrpSpPr>
          <p:grpSpPr>
            <a:xfrm rot="0">
              <a:off x="25400" y="3381146"/>
              <a:ext cx="5958637" cy="51003"/>
              <a:chOff x="0" y="0"/>
              <a:chExt cx="5958637" cy="51003"/>
            </a:xfrm>
          </p:grpSpPr>
          <p:sp>
            <p:nvSpPr>
              <p:cNvPr name="Freeform 62" id="62"/>
              <p:cNvSpPr/>
              <p:nvPr/>
            </p:nvSpPr>
            <p:spPr>
              <a:xfrm flipH="false" flipV="false" rot="0">
                <a:off x="0" y="0"/>
                <a:ext cx="5958586" cy="51054"/>
              </a:xfrm>
              <a:custGeom>
                <a:avLst/>
                <a:gdLst/>
                <a:ahLst/>
                <a:cxnLst/>
                <a:rect r="r" b="b" t="t" l="l"/>
                <a:pathLst>
                  <a:path h="51054" w="5958586">
                    <a:moveTo>
                      <a:pt x="0" y="0"/>
                    </a:moveTo>
                    <a:lnTo>
                      <a:pt x="5958586" y="0"/>
                    </a:lnTo>
                    <a:lnTo>
                      <a:pt x="5958586" y="51054"/>
                    </a:lnTo>
                    <a:lnTo>
                      <a:pt x="0" y="51054"/>
                    </a:lnTo>
                    <a:close/>
                  </a:path>
                </a:pathLst>
              </a:custGeom>
              <a:solidFill>
                <a:srgbClr val="ECEEF4"/>
              </a:solidFill>
              <a:ln w="19050" cap="sq">
                <a:solidFill>
                  <a:srgbClr val="ECEEF4"/>
                </a:solidFill>
                <a:prstDash val="solid"/>
                <a:miter/>
              </a:ln>
            </p:spPr>
          </p:sp>
        </p:grpSp>
        <p:sp>
          <p:nvSpPr>
            <p:cNvPr name="TextBox 63" id="63"/>
            <p:cNvSpPr txBox="true"/>
            <p:nvPr/>
          </p:nvSpPr>
          <p:spPr>
            <a:xfrm rot="0">
              <a:off x="38100" y="3600425"/>
              <a:ext cx="5933237" cy="415925"/>
            </a:xfrm>
            <a:prstGeom prst="rect">
              <a:avLst/>
            </a:prstGeom>
          </p:spPr>
          <p:txBody>
            <a:bodyPr anchor="t" rtlCol="false" tIns="0" lIns="0" bIns="0" rIns="0">
              <a:spAutoFit/>
            </a:bodyPr>
            <a:lstStyle/>
            <a:p>
              <a:pPr algn="l">
                <a:lnSpc>
                  <a:spcPts val="2430"/>
                </a:lnSpc>
              </a:pPr>
              <a:r>
                <a:rPr lang="en-US" sz="2025">
                  <a:solidFill>
                    <a:srgbClr val="2E313D"/>
                  </a:solidFill>
                  <a:latin typeface="Noto Sans"/>
                  <a:ea typeface="Noto Sans"/>
                  <a:cs typeface="Noto Sans"/>
                  <a:sym typeface="Noto Sans"/>
                </a:rPr>
                <a:t>면접관 유형 다양화</a:t>
              </a:r>
            </a:p>
          </p:txBody>
        </p:sp>
      </p:gr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26</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공통  01</a:t>
            </a:r>
          </a:p>
        </p:txBody>
      </p:sp>
      <p:grpSp>
        <p:nvGrpSpPr>
          <p:cNvPr name="Group 18" id="18"/>
          <p:cNvGrpSpPr/>
          <p:nvPr/>
        </p:nvGrpSpPr>
        <p:grpSpPr>
          <a:xfrm rot="0">
            <a:off x="8494395" y="2608040"/>
            <a:ext cx="8426958" cy="5436870"/>
            <a:chOff x="0" y="0"/>
            <a:chExt cx="11235944" cy="7249160"/>
          </a:xfrm>
        </p:grpSpPr>
        <p:sp>
          <p:nvSpPr>
            <p:cNvPr name="Freeform 19" id="19"/>
            <p:cNvSpPr/>
            <p:nvPr/>
          </p:nvSpPr>
          <p:spPr>
            <a:xfrm flipH="false" flipV="false" rot="0">
              <a:off x="0" y="0"/>
              <a:ext cx="11235944" cy="7249160"/>
            </a:xfrm>
            <a:custGeom>
              <a:avLst/>
              <a:gdLst/>
              <a:ahLst/>
              <a:cxnLst/>
              <a:rect r="r" b="b" t="t" l="l"/>
              <a:pathLst>
                <a:path h="7249160" w="11235944">
                  <a:moveTo>
                    <a:pt x="0" y="262636"/>
                  </a:moveTo>
                  <a:cubicBezTo>
                    <a:pt x="0" y="117602"/>
                    <a:pt x="117602" y="0"/>
                    <a:pt x="262636" y="0"/>
                  </a:cubicBezTo>
                  <a:lnTo>
                    <a:pt x="10973308" y="0"/>
                  </a:lnTo>
                  <a:cubicBezTo>
                    <a:pt x="11118342" y="0"/>
                    <a:pt x="11235944" y="117602"/>
                    <a:pt x="11235944" y="262636"/>
                  </a:cubicBezTo>
                  <a:lnTo>
                    <a:pt x="11235944" y="6986524"/>
                  </a:lnTo>
                  <a:cubicBezTo>
                    <a:pt x="11235944" y="7131558"/>
                    <a:pt x="11118342" y="7249160"/>
                    <a:pt x="10973308" y="7249160"/>
                  </a:cubicBezTo>
                  <a:lnTo>
                    <a:pt x="262636" y="7249160"/>
                  </a:lnTo>
                  <a:cubicBezTo>
                    <a:pt x="117602" y="7249160"/>
                    <a:pt x="0" y="7131558"/>
                    <a:pt x="0" y="6986524"/>
                  </a:cubicBezTo>
                  <a:close/>
                </a:path>
              </a:pathLst>
            </a:custGeom>
            <a:solidFill>
              <a:srgbClr val="FFFFFF"/>
            </a:solidFill>
            <a:ln w="19050" cap="sq">
              <a:solidFill>
                <a:srgbClr val="E1E6F0"/>
              </a:solidFill>
              <a:prstDash val="solid"/>
              <a:miter/>
            </a:ln>
          </p:spPr>
        </p:sp>
      </p:grpSp>
      <p:sp>
        <p:nvSpPr>
          <p:cNvPr name="TextBox 20" id="20"/>
          <p:cNvSpPr txBox="true"/>
          <p:nvPr/>
        </p:nvSpPr>
        <p:spPr>
          <a:xfrm rot="0">
            <a:off x="8915400" y="2928299"/>
            <a:ext cx="4800600" cy="242287"/>
          </a:xfrm>
          <a:prstGeom prst="rect">
            <a:avLst/>
          </a:prstGeom>
        </p:spPr>
        <p:txBody>
          <a:bodyPr anchor="t" rtlCol="false" tIns="0" lIns="0" bIns="0" rIns="0">
            <a:spAutoFit/>
          </a:bodyPr>
          <a:lstStyle/>
          <a:p>
            <a:pPr algn="l">
              <a:lnSpc>
                <a:spcPts val="2178"/>
              </a:lnSpc>
            </a:pPr>
            <a:r>
              <a:rPr lang="en-US" sz="1650" b="true">
                <a:solidFill>
                  <a:srgbClr val="172346"/>
                </a:solidFill>
                <a:latin typeface="Noto Sans Bold"/>
                <a:ea typeface="Noto Sans Bold"/>
                <a:cs typeface="Noto Sans Bold"/>
                <a:sym typeface="Noto Sans Bold"/>
              </a:rPr>
              <a:t>실시간 발화 내용</a:t>
            </a:r>
          </a:p>
        </p:txBody>
      </p:sp>
      <p:grpSp>
        <p:nvGrpSpPr>
          <p:cNvPr name="Group 21" id="21"/>
          <p:cNvGrpSpPr/>
          <p:nvPr/>
        </p:nvGrpSpPr>
        <p:grpSpPr>
          <a:xfrm rot="0">
            <a:off x="15471648" y="3018015"/>
            <a:ext cx="150876" cy="129559"/>
            <a:chOff x="0" y="0"/>
            <a:chExt cx="201168" cy="172745"/>
          </a:xfrm>
        </p:grpSpPr>
        <p:sp>
          <p:nvSpPr>
            <p:cNvPr name="Freeform 22" id="22"/>
            <p:cNvSpPr/>
            <p:nvPr/>
          </p:nvSpPr>
          <p:spPr>
            <a:xfrm flipH="false" flipV="false" rot="0">
              <a:off x="0" y="0"/>
              <a:ext cx="201168" cy="172720"/>
            </a:xfrm>
            <a:custGeom>
              <a:avLst/>
              <a:gdLst/>
              <a:ahLst/>
              <a:cxnLst/>
              <a:rect r="r" b="b" t="t" l="l"/>
              <a:pathLst>
                <a:path h="172720" w="201168">
                  <a:moveTo>
                    <a:pt x="0" y="86360"/>
                  </a:moveTo>
                  <a:cubicBezTo>
                    <a:pt x="0" y="38608"/>
                    <a:pt x="38608" y="0"/>
                    <a:pt x="86360" y="0"/>
                  </a:cubicBezTo>
                  <a:lnTo>
                    <a:pt x="114808" y="0"/>
                  </a:lnTo>
                  <a:cubicBezTo>
                    <a:pt x="162560" y="0"/>
                    <a:pt x="201168" y="38608"/>
                    <a:pt x="201168" y="86360"/>
                  </a:cubicBezTo>
                  <a:cubicBezTo>
                    <a:pt x="201168" y="134112"/>
                    <a:pt x="162560" y="172720"/>
                    <a:pt x="114808" y="172720"/>
                  </a:cubicBezTo>
                  <a:lnTo>
                    <a:pt x="86360" y="172720"/>
                  </a:lnTo>
                  <a:cubicBezTo>
                    <a:pt x="38608" y="172720"/>
                    <a:pt x="0" y="134112"/>
                    <a:pt x="0" y="86360"/>
                  </a:cubicBezTo>
                  <a:close/>
                </a:path>
              </a:pathLst>
            </a:custGeom>
            <a:solidFill>
              <a:srgbClr val="209E66"/>
            </a:solidFill>
          </p:spPr>
        </p:sp>
      </p:grpSp>
      <p:sp>
        <p:nvSpPr>
          <p:cNvPr name="TextBox 23" id="23"/>
          <p:cNvSpPr txBox="true"/>
          <p:nvPr/>
        </p:nvSpPr>
        <p:spPr>
          <a:xfrm rot="0">
            <a:off x="15745968" y="2937824"/>
            <a:ext cx="822960" cy="202292"/>
          </a:xfrm>
          <a:prstGeom prst="rect">
            <a:avLst/>
          </a:prstGeom>
        </p:spPr>
        <p:txBody>
          <a:bodyPr anchor="t" rtlCol="false" tIns="0" lIns="0" bIns="0" rIns="0">
            <a:spAutoFit/>
          </a:bodyPr>
          <a:lstStyle/>
          <a:p>
            <a:pPr algn="l">
              <a:lnSpc>
                <a:spcPts val="1881"/>
              </a:lnSpc>
            </a:pPr>
            <a:r>
              <a:rPr lang="en-US" sz="1425" b="true">
                <a:solidFill>
                  <a:srgbClr val="209E66"/>
                </a:solidFill>
                <a:latin typeface="Noto Sans Bold"/>
                <a:ea typeface="Noto Sans Bold"/>
                <a:cs typeface="Noto Sans Bold"/>
                <a:sym typeface="Noto Sans Bold"/>
              </a:rPr>
              <a:t>LIVE</a:t>
            </a:r>
          </a:p>
        </p:txBody>
      </p:sp>
      <p:grpSp>
        <p:nvGrpSpPr>
          <p:cNvPr name="Group 24" id="24"/>
          <p:cNvGrpSpPr/>
          <p:nvPr/>
        </p:nvGrpSpPr>
        <p:grpSpPr>
          <a:xfrm rot="0">
            <a:off x="8915400" y="3536242"/>
            <a:ext cx="7584948" cy="848011"/>
            <a:chOff x="0" y="0"/>
            <a:chExt cx="10113264" cy="1130681"/>
          </a:xfrm>
        </p:grpSpPr>
        <p:sp>
          <p:nvSpPr>
            <p:cNvPr name="Freeform 25" id="25"/>
            <p:cNvSpPr/>
            <p:nvPr/>
          </p:nvSpPr>
          <p:spPr>
            <a:xfrm flipH="false" flipV="false" rot="0">
              <a:off x="0" y="0"/>
              <a:ext cx="10113264" cy="1130681"/>
            </a:xfrm>
            <a:custGeom>
              <a:avLst/>
              <a:gdLst/>
              <a:ahLst/>
              <a:cxnLst/>
              <a:rect r="r" b="b" t="t" l="l"/>
              <a:pathLst>
                <a:path h="1130681" w="10113264">
                  <a:moveTo>
                    <a:pt x="0" y="218059"/>
                  </a:moveTo>
                  <a:cubicBezTo>
                    <a:pt x="0" y="97663"/>
                    <a:pt x="97663" y="0"/>
                    <a:pt x="218059" y="0"/>
                  </a:cubicBezTo>
                  <a:lnTo>
                    <a:pt x="9895205" y="0"/>
                  </a:lnTo>
                  <a:cubicBezTo>
                    <a:pt x="10015601" y="0"/>
                    <a:pt x="10113264" y="97663"/>
                    <a:pt x="10113264" y="218059"/>
                  </a:cubicBezTo>
                  <a:lnTo>
                    <a:pt x="10113264" y="912622"/>
                  </a:lnTo>
                  <a:cubicBezTo>
                    <a:pt x="10113264" y="1033018"/>
                    <a:pt x="10015601" y="1130681"/>
                    <a:pt x="9895205" y="1130681"/>
                  </a:cubicBezTo>
                  <a:lnTo>
                    <a:pt x="218059" y="1130681"/>
                  </a:lnTo>
                  <a:cubicBezTo>
                    <a:pt x="97663" y="1130681"/>
                    <a:pt x="0" y="1033018"/>
                    <a:pt x="0" y="912622"/>
                  </a:cubicBezTo>
                  <a:close/>
                </a:path>
              </a:pathLst>
            </a:custGeom>
            <a:solidFill>
              <a:srgbClr val="F1F3F8"/>
            </a:solidFill>
          </p:spPr>
        </p:sp>
      </p:grpSp>
      <p:sp>
        <p:nvSpPr>
          <p:cNvPr name="TextBox 26" id="26"/>
          <p:cNvSpPr txBox="true"/>
          <p:nvPr/>
        </p:nvSpPr>
        <p:spPr>
          <a:xfrm rot="0">
            <a:off x="9217152" y="3769338"/>
            <a:ext cx="6981444" cy="319926"/>
          </a:xfrm>
          <a:prstGeom prst="rect">
            <a:avLst/>
          </a:prstGeom>
        </p:spPr>
        <p:txBody>
          <a:bodyPr anchor="t" rtlCol="false" tIns="0" lIns="0" bIns="0" rIns="0">
            <a:spAutoFit/>
          </a:bodyPr>
          <a:lstStyle/>
          <a:p>
            <a:pPr algn="l">
              <a:lnSpc>
                <a:spcPts val="2700"/>
              </a:lnSpc>
            </a:pPr>
            <a:r>
              <a:rPr lang="en-US" sz="1875" b="true">
                <a:solidFill>
                  <a:srgbClr val="172346"/>
                </a:solidFill>
                <a:latin typeface="Noto Sans Bold"/>
                <a:ea typeface="Noto Sans Bold"/>
                <a:cs typeface="Noto Sans Bold"/>
                <a:sym typeface="Noto Sans Bold"/>
              </a:rPr>
              <a:t>아이보 서비스 소개 발표 시작하겠습니다.</a:t>
            </a:r>
          </a:p>
        </p:txBody>
      </p:sp>
      <p:sp>
        <p:nvSpPr>
          <p:cNvPr name="TextBox 27" id="27"/>
          <p:cNvSpPr txBox="true"/>
          <p:nvPr/>
        </p:nvSpPr>
        <p:spPr>
          <a:xfrm rot="0">
            <a:off x="9217152" y="4666402"/>
            <a:ext cx="6981444" cy="315211"/>
          </a:xfrm>
          <a:prstGeom prst="rect">
            <a:avLst/>
          </a:prstGeom>
        </p:spPr>
        <p:txBody>
          <a:bodyPr anchor="t" rtlCol="false" tIns="0" lIns="0" bIns="0" rIns="0">
            <a:spAutoFit/>
          </a:bodyPr>
          <a:lstStyle/>
          <a:p>
            <a:pPr algn="l">
              <a:lnSpc>
                <a:spcPts val="2691"/>
              </a:lnSpc>
            </a:pPr>
            <a:r>
              <a:rPr lang="en-US" sz="1725">
                <a:solidFill>
                  <a:srgbClr val="9AA3B8"/>
                </a:solidFill>
                <a:latin typeface="Noto Sans"/>
                <a:ea typeface="Noto Sans"/>
                <a:cs typeface="Noto Sans"/>
                <a:sym typeface="Noto Sans"/>
              </a:rPr>
              <a:t>문제상 서비스 목표에 대해서 말씀을 드리겠습니다.</a:t>
            </a:r>
          </a:p>
        </p:txBody>
      </p:sp>
      <p:sp>
        <p:nvSpPr>
          <p:cNvPr name="TextBox 28" id="28"/>
          <p:cNvSpPr txBox="true"/>
          <p:nvPr/>
        </p:nvSpPr>
        <p:spPr>
          <a:xfrm rot="0">
            <a:off x="9217152" y="5302406"/>
            <a:ext cx="6981444" cy="315211"/>
          </a:xfrm>
          <a:prstGeom prst="rect">
            <a:avLst/>
          </a:prstGeom>
        </p:spPr>
        <p:txBody>
          <a:bodyPr anchor="t" rtlCol="false" tIns="0" lIns="0" bIns="0" rIns="0">
            <a:spAutoFit/>
          </a:bodyPr>
          <a:lstStyle/>
          <a:p>
            <a:pPr algn="l">
              <a:lnSpc>
                <a:spcPts val="2691"/>
              </a:lnSpc>
            </a:pPr>
            <a:r>
              <a:rPr lang="en-US" sz="1725">
                <a:solidFill>
                  <a:srgbClr val="9AA3B8"/>
                </a:solidFill>
                <a:latin typeface="Noto Sans"/>
                <a:ea typeface="Noto Sans"/>
                <a:cs typeface="Noto Sans"/>
                <a:sym typeface="Noto Sans"/>
              </a:rPr>
              <a:t>이러이러한 내용들이 있습니다.</a:t>
            </a:r>
          </a:p>
        </p:txBody>
      </p:sp>
      <p:sp>
        <p:nvSpPr>
          <p:cNvPr name="TextBox 29" id="29"/>
          <p:cNvSpPr txBox="true"/>
          <p:nvPr/>
        </p:nvSpPr>
        <p:spPr>
          <a:xfrm rot="0">
            <a:off x="9217152" y="5938409"/>
            <a:ext cx="6981444" cy="315211"/>
          </a:xfrm>
          <a:prstGeom prst="rect">
            <a:avLst/>
          </a:prstGeom>
        </p:spPr>
        <p:txBody>
          <a:bodyPr anchor="t" rtlCol="false" tIns="0" lIns="0" bIns="0" rIns="0">
            <a:spAutoFit/>
          </a:bodyPr>
          <a:lstStyle/>
          <a:p>
            <a:pPr algn="l">
              <a:lnSpc>
                <a:spcPts val="2691"/>
              </a:lnSpc>
            </a:pPr>
            <a:r>
              <a:rPr lang="en-US" sz="1725">
                <a:solidFill>
                  <a:srgbClr val="9AA3B8"/>
                </a:solidFill>
                <a:latin typeface="Noto Sans"/>
                <a:ea typeface="Noto Sans"/>
                <a:cs typeface="Noto Sans"/>
                <a:sym typeface="Noto Sans"/>
              </a:rPr>
              <a:t>주기능과 사용자행동에 대해서 말씀을 드리겠습니다.</a:t>
            </a:r>
          </a:p>
        </p:txBody>
      </p:sp>
      <p:sp>
        <p:nvSpPr>
          <p:cNvPr name="TextBox 30" id="30"/>
          <p:cNvSpPr txBox="true"/>
          <p:nvPr/>
        </p:nvSpPr>
        <p:spPr>
          <a:xfrm rot="0">
            <a:off x="1371600" y="2715701"/>
            <a:ext cx="15540228" cy="2463813"/>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말한 그대로, </a:t>
            </a:r>
          </a:p>
          <a:p>
            <a:pPr algn="l">
              <a:lnSpc>
                <a:spcPts val="7246"/>
              </a:lnSpc>
            </a:pPr>
            <a:r>
              <a:rPr lang="en-US" sz="4950" b="true">
                <a:solidFill>
                  <a:srgbClr val="11131B"/>
                </a:solidFill>
                <a:latin typeface="Noto Sans Bold"/>
                <a:ea typeface="Noto Sans Bold"/>
                <a:cs typeface="Noto Sans Bold"/>
                <a:sym typeface="Noto Sans Bold"/>
              </a:rPr>
              <a:t>즉시 글자로</a:t>
            </a:r>
          </a:p>
        </p:txBody>
      </p:sp>
      <p:sp>
        <p:nvSpPr>
          <p:cNvPr name="TextBox 31" id="31"/>
          <p:cNvSpPr txBox="true"/>
          <p:nvPr/>
        </p:nvSpPr>
        <p:spPr>
          <a:xfrm rot="0">
            <a:off x="1371600" y="4633913"/>
            <a:ext cx="5421305" cy="399669"/>
          </a:xfrm>
          <a:prstGeom prst="rect">
            <a:avLst/>
          </a:prstGeom>
        </p:spPr>
        <p:txBody>
          <a:bodyPr anchor="t" rtlCol="false" tIns="0" lIns="0" bIns="0" rIns="0">
            <a:spAutoFit/>
          </a:bodyPr>
          <a:lstStyle/>
          <a:p>
            <a:pPr algn="l">
              <a:lnSpc>
                <a:spcPts val="3393"/>
              </a:lnSpc>
            </a:pPr>
            <a:r>
              <a:rPr lang="en-US" sz="1950">
                <a:solidFill>
                  <a:srgbClr val="747987"/>
                </a:solidFill>
                <a:latin typeface="Noto Sans"/>
                <a:ea typeface="Noto Sans"/>
                <a:cs typeface="Noto Sans"/>
                <a:sym typeface="Noto Sans"/>
              </a:rPr>
              <a:t>브라우저 음성 인식으로 발화가 바로 자막이 됩니다.</a:t>
            </a:r>
          </a:p>
        </p:txBody>
      </p:sp>
      <p:sp>
        <p:nvSpPr>
          <p:cNvPr name="TextBox 32" id="32"/>
          <p:cNvSpPr txBox="true"/>
          <p:nvPr/>
        </p:nvSpPr>
        <p:spPr>
          <a:xfrm rot="0">
            <a:off x="1371600" y="2057400"/>
            <a:ext cx="2194560" cy="576072"/>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01</a:t>
            </a:r>
          </a:p>
        </p:txBody>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27</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공통  02</a:t>
            </a:r>
          </a:p>
        </p:txBody>
      </p:sp>
      <p:sp>
        <p:nvSpPr>
          <p:cNvPr name="TextBox 18" id="18"/>
          <p:cNvSpPr txBox="true"/>
          <p:nvPr/>
        </p:nvSpPr>
        <p:spPr>
          <a:xfrm rot="0">
            <a:off x="1362075" y="2569845"/>
            <a:ext cx="15544343" cy="685800"/>
          </a:xfrm>
          <a:prstGeom prst="rect">
            <a:avLst/>
          </a:prstGeom>
        </p:spPr>
        <p:txBody>
          <a:bodyPr anchor="t" rtlCol="false" tIns="0" lIns="0" bIns="0" rIns="0">
            <a:spAutoFit/>
          </a:bodyPr>
          <a:lstStyle/>
          <a:p>
            <a:pPr algn="l">
              <a:lnSpc>
                <a:spcPts val="5400"/>
              </a:lnSpc>
            </a:pPr>
            <a:r>
              <a:rPr lang="en-US" sz="4500" b="true">
                <a:solidFill>
                  <a:srgbClr val="11131B"/>
                </a:solidFill>
                <a:latin typeface="Noto Sans Bold"/>
                <a:ea typeface="Noto Sans Bold"/>
                <a:cs typeface="Noto Sans Bold"/>
                <a:sym typeface="Noto Sans Bold"/>
              </a:rPr>
              <a:t>듣기 좋게 말하고 있는지,</a:t>
            </a:r>
          </a:p>
        </p:txBody>
      </p:sp>
      <p:grpSp>
        <p:nvGrpSpPr>
          <p:cNvPr name="Group 19" id="19"/>
          <p:cNvGrpSpPr/>
          <p:nvPr/>
        </p:nvGrpSpPr>
        <p:grpSpPr>
          <a:xfrm rot="0">
            <a:off x="1362075" y="3350895"/>
            <a:ext cx="15559278" cy="5162550"/>
            <a:chOff x="0" y="0"/>
            <a:chExt cx="20745704" cy="6883400"/>
          </a:xfrm>
        </p:grpSpPr>
        <p:sp>
          <p:nvSpPr>
            <p:cNvPr name="Freeform 20" id="20"/>
            <p:cNvSpPr/>
            <p:nvPr/>
          </p:nvSpPr>
          <p:spPr>
            <a:xfrm flipH="false" flipV="false" rot="0">
              <a:off x="0" y="0"/>
              <a:ext cx="20745704" cy="6883400"/>
            </a:xfrm>
            <a:custGeom>
              <a:avLst/>
              <a:gdLst/>
              <a:ahLst/>
              <a:cxnLst/>
              <a:rect r="r" b="b" t="t" l="l"/>
              <a:pathLst>
                <a:path h="6883400" w="20745704">
                  <a:moveTo>
                    <a:pt x="0" y="356870"/>
                  </a:moveTo>
                  <a:cubicBezTo>
                    <a:pt x="0" y="159766"/>
                    <a:pt x="159766" y="0"/>
                    <a:pt x="356870" y="0"/>
                  </a:cubicBezTo>
                  <a:lnTo>
                    <a:pt x="20388835" y="0"/>
                  </a:lnTo>
                  <a:cubicBezTo>
                    <a:pt x="20585939" y="0"/>
                    <a:pt x="20745704" y="159766"/>
                    <a:pt x="20745704" y="356870"/>
                  </a:cubicBezTo>
                  <a:lnTo>
                    <a:pt x="20745704" y="6526530"/>
                  </a:lnTo>
                  <a:cubicBezTo>
                    <a:pt x="20745704" y="6723635"/>
                    <a:pt x="20585939" y="6883400"/>
                    <a:pt x="20388835" y="6883400"/>
                  </a:cubicBezTo>
                  <a:lnTo>
                    <a:pt x="356870" y="6883400"/>
                  </a:lnTo>
                  <a:cubicBezTo>
                    <a:pt x="159766" y="6883400"/>
                    <a:pt x="0" y="6723634"/>
                    <a:pt x="0" y="6526530"/>
                  </a:cubicBezTo>
                  <a:close/>
                </a:path>
              </a:pathLst>
            </a:custGeom>
            <a:solidFill>
              <a:srgbClr val="FFFFFF"/>
            </a:solidFill>
            <a:ln w="19050" cap="sq">
              <a:solidFill>
                <a:srgbClr val="E1E6F0"/>
              </a:solidFill>
              <a:prstDash val="solid"/>
              <a:miter/>
            </a:ln>
          </p:spPr>
        </p:sp>
      </p:grpSp>
      <p:sp>
        <p:nvSpPr>
          <p:cNvPr name="TextBox 21" id="21"/>
          <p:cNvSpPr txBox="true"/>
          <p:nvPr/>
        </p:nvSpPr>
        <p:spPr>
          <a:xfrm rot="0">
            <a:off x="14837063" y="3684270"/>
            <a:ext cx="1759297" cy="217551"/>
          </a:xfrm>
          <a:prstGeom prst="rect">
            <a:avLst/>
          </a:prstGeom>
        </p:spPr>
        <p:txBody>
          <a:bodyPr anchor="t" rtlCol="false" tIns="0" lIns="0" bIns="0" rIns="0">
            <a:spAutoFit/>
          </a:bodyPr>
          <a:lstStyle/>
          <a:p>
            <a:pPr algn="r">
              <a:lnSpc>
                <a:spcPts val="1782"/>
              </a:lnSpc>
            </a:pPr>
            <a:r>
              <a:rPr lang="en-US" sz="1350">
                <a:solidFill>
                  <a:srgbClr val="9AA3B8"/>
                </a:solidFill>
                <a:latin typeface="Noto Sans"/>
                <a:ea typeface="Noto Sans"/>
                <a:cs typeface="Noto Sans"/>
                <a:sym typeface="Noto Sans"/>
              </a:rPr>
              <a:t>79–941 WPM 측정 범위</a:t>
            </a:r>
          </a:p>
        </p:txBody>
      </p:sp>
      <p:sp>
        <p:nvSpPr>
          <p:cNvPr name="TextBox 22" id="22"/>
          <p:cNvSpPr txBox="true"/>
          <p:nvPr/>
        </p:nvSpPr>
        <p:spPr>
          <a:xfrm rot="0">
            <a:off x="7342784" y="2874645"/>
            <a:ext cx="15544343" cy="304800"/>
          </a:xfrm>
          <a:prstGeom prst="rect">
            <a:avLst/>
          </a:prstGeom>
        </p:spPr>
        <p:txBody>
          <a:bodyPr anchor="t" rtlCol="false" tIns="0" lIns="0" bIns="0" rIns="0">
            <a:spAutoFit/>
          </a:bodyPr>
          <a:lstStyle/>
          <a:p>
            <a:pPr algn="l">
              <a:lnSpc>
                <a:spcPts val="2340"/>
              </a:lnSpc>
            </a:pPr>
            <a:r>
              <a:rPr lang="en-US" sz="1950">
                <a:solidFill>
                  <a:srgbClr val="747987"/>
                </a:solidFill>
                <a:latin typeface="Noto Sans"/>
                <a:ea typeface="Noto Sans"/>
                <a:cs typeface="Noto Sans"/>
                <a:sym typeface="Noto Sans"/>
              </a:rPr>
              <a:t>음성을 분석해 보여줍니다.</a:t>
            </a:r>
          </a:p>
        </p:txBody>
      </p:sp>
      <p:sp>
        <p:nvSpPr>
          <p:cNvPr name="AutoShape 23" id="23"/>
          <p:cNvSpPr/>
          <p:nvPr/>
        </p:nvSpPr>
        <p:spPr>
          <a:xfrm rot="5400">
            <a:off x="1840220" y="6236018"/>
            <a:ext cx="14630419" cy="0"/>
          </a:xfrm>
          <a:prstGeom prst="line">
            <a:avLst/>
          </a:prstGeom>
          <a:ln cap="rnd" w="9525">
            <a:solidFill>
              <a:srgbClr val="C3C9D8"/>
            </a:solidFill>
            <a:prstDash val="solid"/>
            <a:headEnd type="none" len="sm" w="sm"/>
            <a:tailEnd type="none" len="sm" w="sm"/>
          </a:ln>
        </p:spPr>
      </p:sp>
      <p:sp>
        <p:nvSpPr>
          <p:cNvPr name="TextBox 24" id="24"/>
          <p:cNvSpPr txBox="true"/>
          <p:nvPr/>
        </p:nvSpPr>
        <p:spPr>
          <a:xfrm rot="0">
            <a:off x="1851660" y="5833491"/>
            <a:ext cx="1655118" cy="225933"/>
          </a:xfrm>
          <a:prstGeom prst="rect">
            <a:avLst/>
          </a:prstGeom>
        </p:spPr>
        <p:txBody>
          <a:bodyPr anchor="t" rtlCol="false" tIns="0" lIns="0" bIns="0" rIns="0">
            <a:spAutoFit/>
          </a:bodyPr>
          <a:lstStyle/>
          <a:p>
            <a:pPr algn="l">
              <a:lnSpc>
                <a:spcPts val="1881"/>
              </a:lnSpc>
            </a:pPr>
            <a:r>
              <a:rPr lang="en-US" sz="1425">
                <a:solidFill>
                  <a:srgbClr val="6B7590"/>
                </a:solidFill>
                <a:latin typeface="Noto Sans"/>
                <a:ea typeface="Noto Sans"/>
                <a:cs typeface="Noto Sans"/>
                <a:sym typeface="Noto Sans"/>
              </a:rPr>
              <a:t>평균 속도 · 456 WPM</a:t>
            </a:r>
          </a:p>
        </p:txBody>
      </p:sp>
      <p:sp>
        <p:nvSpPr>
          <p:cNvPr name="TextBox 25" id="25"/>
          <p:cNvSpPr txBox="true"/>
          <p:nvPr/>
        </p:nvSpPr>
        <p:spPr>
          <a:xfrm rot="0">
            <a:off x="1851660" y="7908798"/>
            <a:ext cx="1371600" cy="231705"/>
          </a:xfrm>
          <a:prstGeom prst="rect">
            <a:avLst/>
          </a:prstGeom>
        </p:spPr>
        <p:txBody>
          <a:bodyPr anchor="t" rtlCol="false" tIns="0" lIns="0" bIns="0" rIns="0">
            <a:spAutoFit/>
          </a:bodyPr>
          <a:lstStyle/>
          <a:p>
            <a:pPr algn="l">
              <a:lnSpc>
                <a:spcPts val="1782"/>
              </a:lnSpc>
            </a:pPr>
            <a:r>
              <a:rPr lang="en-US" sz="1350">
                <a:solidFill>
                  <a:srgbClr val="9AA3B8"/>
                </a:solidFill>
                <a:latin typeface="Noto Sans"/>
                <a:ea typeface="Noto Sans"/>
                <a:cs typeface="Noto Sans"/>
                <a:sym typeface="Noto Sans"/>
              </a:rPr>
              <a:t>0:00</a:t>
            </a:r>
          </a:p>
        </p:txBody>
      </p:sp>
      <p:sp>
        <p:nvSpPr>
          <p:cNvPr name="TextBox 26" id="26"/>
          <p:cNvSpPr txBox="true"/>
          <p:nvPr/>
        </p:nvSpPr>
        <p:spPr>
          <a:xfrm rot="0">
            <a:off x="15293340" y="7908798"/>
            <a:ext cx="1165860" cy="231705"/>
          </a:xfrm>
          <a:prstGeom prst="rect">
            <a:avLst/>
          </a:prstGeom>
        </p:spPr>
        <p:txBody>
          <a:bodyPr anchor="t" rtlCol="false" tIns="0" lIns="0" bIns="0" rIns="0">
            <a:spAutoFit/>
          </a:bodyPr>
          <a:lstStyle/>
          <a:p>
            <a:pPr algn="r">
              <a:lnSpc>
                <a:spcPts val="1782"/>
              </a:lnSpc>
            </a:pPr>
            <a:r>
              <a:rPr lang="en-US" sz="1350">
                <a:solidFill>
                  <a:srgbClr val="9AA3B8"/>
                </a:solidFill>
                <a:latin typeface="Noto Sans"/>
                <a:ea typeface="Noto Sans"/>
                <a:cs typeface="Noto Sans"/>
                <a:sym typeface="Noto Sans"/>
              </a:rPr>
              <a:t>0:23</a:t>
            </a:r>
          </a:p>
        </p:txBody>
      </p:sp>
      <p:sp>
        <p:nvSpPr>
          <p:cNvPr name="TextBox 27" id="27"/>
          <p:cNvSpPr txBox="true"/>
          <p:nvPr/>
        </p:nvSpPr>
        <p:spPr>
          <a:xfrm rot="0">
            <a:off x="4526280" y="7908798"/>
            <a:ext cx="1371600" cy="231705"/>
          </a:xfrm>
          <a:prstGeom prst="rect">
            <a:avLst/>
          </a:prstGeom>
        </p:spPr>
        <p:txBody>
          <a:bodyPr anchor="t" rtlCol="false" tIns="0" lIns="0" bIns="0" rIns="0">
            <a:spAutoFit/>
          </a:bodyPr>
          <a:lstStyle/>
          <a:p>
            <a:pPr algn="l">
              <a:lnSpc>
                <a:spcPts val="1782"/>
              </a:lnSpc>
            </a:pPr>
            <a:r>
              <a:rPr lang="en-US" sz="1350">
                <a:solidFill>
                  <a:srgbClr val="9AA3B8"/>
                </a:solidFill>
                <a:latin typeface="Noto Sans"/>
                <a:ea typeface="Noto Sans"/>
                <a:cs typeface="Noto Sans"/>
                <a:sym typeface="Noto Sans"/>
              </a:rPr>
              <a:t>▲ 936</a:t>
            </a:r>
          </a:p>
        </p:txBody>
      </p:sp>
      <p:sp>
        <p:nvSpPr>
          <p:cNvPr name="TextBox 28" id="28"/>
          <p:cNvSpPr txBox="true"/>
          <p:nvPr/>
        </p:nvSpPr>
        <p:spPr>
          <a:xfrm rot="0">
            <a:off x="10287000" y="7908798"/>
            <a:ext cx="1371600" cy="231705"/>
          </a:xfrm>
          <a:prstGeom prst="rect">
            <a:avLst/>
          </a:prstGeom>
        </p:spPr>
        <p:txBody>
          <a:bodyPr anchor="t" rtlCol="false" tIns="0" lIns="0" bIns="0" rIns="0">
            <a:spAutoFit/>
          </a:bodyPr>
          <a:lstStyle/>
          <a:p>
            <a:pPr algn="l">
              <a:lnSpc>
                <a:spcPts val="1782"/>
              </a:lnSpc>
            </a:pPr>
            <a:r>
              <a:rPr lang="en-US" sz="1350">
                <a:solidFill>
                  <a:srgbClr val="9AA3B8"/>
                </a:solidFill>
                <a:latin typeface="Noto Sans"/>
                <a:ea typeface="Noto Sans"/>
                <a:cs typeface="Noto Sans"/>
                <a:sym typeface="Noto Sans"/>
              </a:rPr>
              <a:t>▼ 84</a:t>
            </a:r>
          </a:p>
        </p:txBody>
      </p:sp>
      <p:sp>
        <p:nvSpPr>
          <p:cNvPr name="AutoShape 29" id="29"/>
          <p:cNvSpPr/>
          <p:nvPr/>
        </p:nvSpPr>
        <p:spPr>
          <a:xfrm rot="31560">
            <a:off x="2102063" y="4169092"/>
            <a:ext cx="5191344" cy="0"/>
          </a:xfrm>
          <a:prstGeom prst="line">
            <a:avLst/>
          </a:prstGeom>
          <a:ln cap="rnd" w="28575">
            <a:solidFill>
              <a:srgbClr val="5968DC"/>
            </a:solidFill>
            <a:prstDash val="solid"/>
            <a:headEnd type="none" len="sm" w="sm"/>
            <a:tailEnd type="none" len="sm" w="sm"/>
          </a:ln>
        </p:spPr>
      </p:sp>
      <p:sp>
        <p:nvSpPr>
          <p:cNvPr name="AutoShape 30" id="30"/>
          <p:cNvSpPr/>
          <p:nvPr/>
        </p:nvSpPr>
        <p:spPr>
          <a:xfrm rot="5350980">
            <a:off x="5599576" y="5815012"/>
            <a:ext cx="3339808" cy="0"/>
          </a:xfrm>
          <a:prstGeom prst="line">
            <a:avLst/>
          </a:prstGeom>
          <a:ln cap="rnd" w="28575">
            <a:solidFill>
              <a:srgbClr val="5968DC"/>
            </a:solidFill>
            <a:prstDash val="solid"/>
            <a:headEnd type="none" len="sm" w="sm"/>
            <a:tailEnd type="none" len="sm" w="sm"/>
          </a:ln>
        </p:spPr>
      </p:sp>
      <p:sp>
        <p:nvSpPr>
          <p:cNvPr name="AutoShape 31" id="31"/>
          <p:cNvSpPr/>
          <p:nvPr/>
        </p:nvSpPr>
        <p:spPr>
          <a:xfrm rot="32820">
            <a:off x="7245553" y="7460932"/>
            <a:ext cx="4985614" cy="0"/>
          </a:xfrm>
          <a:prstGeom prst="line">
            <a:avLst/>
          </a:prstGeom>
          <a:ln cap="rnd" w="28575">
            <a:solidFill>
              <a:srgbClr val="5968DC"/>
            </a:solidFill>
            <a:prstDash val="solid"/>
            <a:headEnd type="none" len="sm" w="sm"/>
            <a:tailEnd type="none" len="sm" w="sm"/>
          </a:ln>
        </p:spPr>
      </p:sp>
      <p:sp>
        <p:nvSpPr>
          <p:cNvPr name="AutoShape 32" id="32"/>
          <p:cNvSpPr/>
          <p:nvPr/>
        </p:nvSpPr>
        <p:spPr>
          <a:xfrm rot="-4982820">
            <a:off x="12010530" y="7289482"/>
            <a:ext cx="393421" cy="0"/>
          </a:xfrm>
          <a:prstGeom prst="line">
            <a:avLst/>
          </a:prstGeom>
          <a:ln cap="rnd" w="28575">
            <a:solidFill>
              <a:srgbClr val="5968DC"/>
            </a:solidFill>
            <a:prstDash val="solid"/>
            <a:headEnd type="none" len="sm" w="sm"/>
            <a:tailEnd type="none" len="sm" w="sm"/>
          </a:ln>
        </p:spPr>
      </p:sp>
      <p:sp>
        <p:nvSpPr>
          <p:cNvPr name="AutoShape 33" id="33"/>
          <p:cNvSpPr/>
          <p:nvPr/>
        </p:nvSpPr>
        <p:spPr>
          <a:xfrm rot="40020">
            <a:off x="12183285" y="7118032"/>
            <a:ext cx="4094121" cy="0"/>
          </a:xfrm>
          <a:prstGeom prst="line">
            <a:avLst/>
          </a:prstGeom>
          <a:ln cap="rnd" w="28575">
            <a:solidFill>
              <a:srgbClr val="5968DC"/>
            </a:solidFill>
            <a:prstDash val="solid"/>
            <a:headEnd type="none" len="sm" w="sm"/>
            <a:tailEnd type="none" len="sm" w="sm"/>
          </a:ln>
        </p:spPr>
      </p:sp>
      <p:grpSp>
        <p:nvGrpSpPr>
          <p:cNvPr name="Group 34" id="34"/>
          <p:cNvGrpSpPr/>
          <p:nvPr/>
        </p:nvGrpSpPr>
        <p:grpSpPr>
          <a:xfrm rot="0">
            <a:off x="7085838" y="3999738"/>
            <a:ext cx="367284" cy="367284"/>
            <a:chOff x="0" y="0"/>
            <a:chExt cx="489712" cy="489712"/>
          </a:xfrm>
        </p:grpSpPr>
        <p:sp>
          <p:nvSpPr>
            <p:cNvPr name="Freeform 35" id="35"/>
            <p:cNvSpPr/>
            <p:nvPr/>
          </p:nvSpPr>
          <p:spPr>
            <a:xfrm flipH="false" flipV="false" rot="0">
              <a:off x="0" y="0"/>
              <a:ext cx="489712" cy="489712"/>
            </a:xfrm>
            <a:custGeom>
              <a:avLst/>
              <a:gdLst/>
              <a:ahLst/>
              <a:cxnLst/>
              <a:rect r="r" b="b" t="t" l="l"/>
              <a:pathLst>
                <a:path h="489712" w="489712">
                  <a:moveTo>
                    <a:pt x="0" y="244856"/>
                  </a:moveTo>
                  <a:cubicBezTo>
                    <a:pt x="0" y="109601"/>
                    <a:pt x="109601" y="0"/>
                    <a:pt x="244856" y="0"/>
                  </a:cubicBezTo>
                  <a:cubicBezTo>
                    <a:pt x="380111" y="0"/>
                    <a:pt x="489712" y="109601"/>
                    <a:pt x="489712" y="244856"/>
                  </a:cubicBezTo>
                  <a:cubicBezTo>
                    <a:pt x="489712" y="380111"/>
                    <a:pt x="380111" y="489712"/>
                    <a:pt x="244856" y="489712"/>
                  </a:cubicBezTo>
                  <a:cubicBezTo>
                    <a:pt x="109601" y="489712"/>
                    <a:pt x="0" y="380111"/>
                    <a:pt x="0" y="244856"/>
                  </a:cubicBezTo>
                  <a:close/>
                </a:path>
              </a:pathLst>
            </a:custGeom>
            <a:solidFill>
              <a:srgbClr val="FFFFFF"/>
            </a:solidFill>
            <a:ln w="38100" cap="sq">
              <a:solidFill>
                <a:srgbClr val="172346"/>
              </a:solidFill>
              <a:prstDash val="solid"/>
              <a:miter/>
            </a:ln>
          </p:spPr>
        </p:sp>
      </p:grpSp>
      <p:grpSp>
        <p:nvGrpSpPr>
          <p:cNvPr name="Group 36" id="36"/>
          <p:cNvGrpSpPr/>
          <p:nvPr/>
        </p:nvGrpSpPr>
        <p:grpSpPr>
          <a:xfrm rot="0">
            <a:off x="7161247" y="4075147"/>
            <a:ext cx="216456" cy="216456"/>
            <a:chOff x="0" y="0"/>
            <a:chExt cx="288608" cy="288608"/>
          </a:xfrm>
        </p:grpSpPr>
        <p:sp>
          <p:nvSpPr>
            <p:cNvPr name="Freeform 37" id="37"/>
            <p:cNvSpPr/>
            <p:nvPr/>
          </p:nvSpPr>
          <p:spPr>
            <a:xfrm flipH="false" flipV="false" rot="0">
              <a:off x="0" y="0"/>
              <a:ext cx="288671" cy="288671"/>
            </a:xfrm>
            <a:custGeom>
              <a:avLst/>
              <a:gdLst/>
              <a:ahLst/>
              <a:cxnLst/>
              <a:rect r="r" b="b" t="t" l="l"/>
              <a:pathLst>
                <a:path h="288671" w="288671">
                  <a:moveTo>
                    <a:pt x="0" y="144272"/>
                  </a:moveTo>
                  <a:cubicBezTo>
                    <a:pt x="0" y="64643"/>
                    <a:pt x="64643" y="0"/>
                    <a:pt x="144272" y="0"/>
                  </a:cubicBezTo>
                  <a:cubicBezTo>
                    <a:pt x="223901" y="0"/>
                    <a:pt x="288671" y="64643"/>
                    <a:pt x="288671" y="144272"/>
                  </a:cubicBezTo>
                  <a:cubicBezTo>
                    <a:pt x="288671" y="223901"/>
                    <a:pt x="224028" y="288671"/>
                    <a:pt x="144272" y="288671"/>
                  </a:cubicBezTo>
                  <a:cubicBezTo>
                    <a:pt x="64516" y="288671"/>
                    <a:pt x="0" y="224028"/>
                    <a:pt x="0" y="144272"/>
                  </a:cubicBezTo>
                  <a:close/>
                </a:path>
              </a:pathLst>
            </a:custGeom>
            <a:solidFill>
              <a:srgbClr val="A6A6A6"/>
            </a:solidFill>
          </p:spPr>
        </p:sp>
      </p:grpSp>
      <p:grpSp>
        <p:nvGrpSpPr>
          <p:cNvPr name="Group 38" id="38"/>
          <p:cNvGrpSpPr/>
          <p:nvPr/>
        </p:nvGrpSpPr>
        <p:grpSpPr>
          <a:xfrm rot="0">
            <a:off x="1362075" y="8846820"/>
            <a:ext cx="3036570" cy="773430"/>
            <a:chOff x="0" y="0"/>
            <a:chExt cx="4048760" cy="1031240"/>
          </a:xfrm>
        </p:grpSpPr>
        <p:sp>
          <p:nvSpPr>
            <p:cNvPr name="Freeform 39" id="39"/>
            <p:cNvSpPr/>
            <p:nvPr/>
          </p:nvSpPr>
          <p:spPr>
            <a:xfrm flipH="false" flipV="false" rot="0">
              <a:off x="0" y="0"/>
              <a:ext cx="4048760" cy="1031240"/>
            </a:xfrm>
            <a:custGeom>
              <a:avLst/>
              <a:gdLst/>
              <a:ahLst/>
              <a:cxnLst/>
              <a:rect r="r" b="b" t="t" l="l"/>
              <a:pathLst>
                <a:path h="1031240" w="4048760">
                  <a:moveTo>
                    <a:pt x="0" y="260477"/>
                  </a:moveTo>
                  <a:cubicBezTo>
                    <a:pt x="0" y="116586"/>
                    <a:pt x="116586" y="0"/>
                    <a:pt x="260477" y="0"/>
                  </a:cubicBezTo>
                  <a:lnTo>
                    <a:pt x="3788283" y="0"/>
                  </a:lnTo>
                  <a:cubicBezTo>
                    <a:pt x="3932047" y="0"/>
                    <a:pt x="4048760" y="116586"/>
                    <a:pt x="4048760" y="260477"/>
                  </a:cubicBezTo>
                  <a:lnTo>
                    <a:pt x="4048760" y="770763"/>
                  </a:lnTo>
                  <a:cubicBezTo>
                    <a:pt x="4048760" y="914527"/>
                    <a:pt x="3932174" y="1031240"/>
                    <a:pt x="3788283" y="1031240"/>
                  </a:cubicBezTo>
                  <a:lnTo>
                    <a:pt x="260477" y="1031240"/>
                  </a:lnTo>
                  <a:cubicBezTo>
                    <a:pt x="116586" y="1031240"/>
                    <a:pt x="0" y="914654"/>
                    <a:pt x="0" y="770763"/>
                  </a:cubicBezTo>
                  <a:close/>
                </a:path>
              </a:pathLst>
            </a:custGeom>
            <a:solidFill>
              <a:srgbClr val="FFFFFF"/>
            </a:solidFill>
            <a:ln w="19050" cap="sq">
              <a:solidFill>
                <a:srgbClr val="E1E6F0"/>
              </a:solidFill>
              <a:prstDash val="solid"/>
              <a:miter/>
            </a:ln>
          </p:spPr>
        </p:sp>
      </p:grpSp>
      <p:sp>
        <p:nvSpPr>
          <p:cNvPr name="TextBox 40" id="40"/>
          <p:cNvSpPr txBox="true"/>
          <p:nvPr/>
        </p:nvSpPr>
        <p:spPr>
          <a:xfrm rot="0">
            <a:off x="1901666" y="9114711"/>
            <a:ext cx="1957388" cy="234315"/>
          </a:xfrm>
          <a:prstGeom prst="rect">
            <a:avLst/>
          </a:prstGeom>
        </p:spPr>
        <p:txBody>
          <a:bodyPr anchor="t" rtlCol="false" tIns="0" lIns="0" bIns="0" rIns="0">
            <a:spAutoFit/>
          </a:bodyPr>
          <a:lstStyle/>
          <a:p>
            <a:pPr algn="ctr">
              <a:lnSpc>
                <a:spcPts val="1980"/>
              </a:lnSpc>
            </a:pPr>
            <a:r>
              <a:rPr lang="en-US" sz="1500" b="true">
                <a:solidFill>
                  <a:srgbClr val="45506E"/>
                </a:solidFill>
                <a:latin typeface="Noto Sans Bold"/>
                <a:ea typeface="Noto Sans Bold"/>
                <a:cs typeface="Noto Sans Bold"/>
                <a:sym typeface="Noto Sans Bold"/>
              </a:rPr>
              <a:t>추임새 158회 · 아 158회</a:t>
            </a:r>
          </a:p>
        </p:txBody>
      </p:sp>
      <p:grpSp>
        <p:nvGrpSpPr>
          <p:cNvPr name="Group 41" id="41"/>
          <p:cNvGrpSpPr/>
          <p:nvPr/>
        </p:nvGrpSpPr>
        <p:grpSpPr>
          <a:xfrm rot="0">
            <a:off x="4653915" y="8846820"/>
            <a:ext cx="2625090" cy="773430"/>
            <a:chOff x="0" y="0"/>
            <a:chExt cx="3500120" cy="1031240"/>
          </a:xfrm>
        </p:grpSpPr>
        <p:sp>
          <p:nvSpPr>
            <p:cNvPr name="Freeform 42" id="42"/>
            <p:cNvSpPr/>
            <p:nvPr/>
          </p:nvSpPr>
          <p:spPr>
            <a:xfrm flipH="false" flipV="false" rot="0">
              <a:off x="0" y="0"/>
              <a:ext cx="3500120" cy="1031240"/>
            </a:xfrm>
            <a:custGeom>
              <a:avLst/>
              <a:gdLst/>
              <a:ahLst/>
              <a:cxnLst/>
              <a:rect r="r" b="b" t="t" l="l"/>
              <a:pathLst>
                <a:path h="1031240" w="3500120">
                  <a:moveTo>
                    <a:pt x="0" y="260477"/>
                  </a:moveTo>
                  <a:cubicBezTo>
                    <a:pt x="0" y="116586"/>
                    <a:pt x="116586" y="0"/>
                    <a:pt x="260477" y="0"/>
                  </a:cubicBezTo>
                  <a:lnTo>
                    <a:pt x="3239643" y="0"/>
                  </a:lnTo>
                  <a:cubicBezTo>
                    <a:pt x="3383407" y="0"/>
                    <a:pt x="3500120" y="116586"/>
                    <a:pt x="3500120" y="260477"/>
                  </a:cubicBezTo>
                  <a:lnTo>
                    <a:pt x="3500120" y="770763"/>
                  </a:lnTo>
                  <a:cubicBezTo>
                    <a:pt x="3500120" y="914527"/>
                    <a:pt x="3383534" y="1031240"/>
                    <a:pt x="3239643" y="1031240"/>
                  </a:cubicBezTo>
                  <a:lnTo>
                    <a:pt x="260477" y="1031240"/>
                  </a:lnTo>
                  <a:cubicBezTo>
                    <a:pt x="116586" y="1031240"/>
                    <a:pt x="0" y="914654"/>
                    <a:pt x="0" y="770763"/>
                  </a:cubicBezTo>
                  <a:close/>
                </a:path>
              </a:pathLst>
            </a:custGeom>
            <a:solidFill>
              <a:srgbClr val="FFFFFF"/>
            </a:solidFill>
            <a:ln w="19050" cap="sq">
              <a:solidFill>
                <a:srgbClr val="E1E6F0"/>
              </a:solidFill>
              <a:prstDash val="solid"/>
              <a:miter/>
            </a:ln>
          </p:spPr>
        </p:sp>
      </p:grpSp>
      <p:sp>
        <p:nvSpPr>
          <p:cNvPr name="TextBox 43" id="43"/>
          <p:cNvSpPr txBox="true"/>
          <p:nvPr/>
        </p:nvSpPr>
        <p:spPr>
          <a:xfrm rot="0">
            <a:off x="4828032" y="9114711"/>
            <a:ext cx="2276856" cy="245840"/>
          </a:xfrm>
          <a:prstGeom prst="rect">
            <a:avLst/>
          </a:prstGeom>
        </p:spPr>
        <p:txBody>
          <a:bodyPr anchor="t" rtlCol="false" tIns="0" lIns="0" bIns="0" rIns="0">
            <a:spAutoFit/>
          </a:bodyPr>
          <a:lstStyle/>
          <a:p>
            <a:pPr algn="ctr">
              <a:lnSpc>
                <a:spcPts val="1980"/>
              </a:lnSpc>
            </a:pPr>
            <a:r>
              <a:rPr lang="en-US" sz="1500" b="true">
                <a:solidFill>
                  <a:srgbClr val="45506E"/>
                </a:solidFill>
                <a:latin typeface="Noto Sans Bold"/>
                <a:ea typeface="Noto Sans Bold"/>
                <a:cs typeface="Noto Sans Bold"/>
                <a:sym typeface="Noto Sans Bold"/>
              </a:rPr>
              <a:t>1초 이상 정적 0회</a:t>
            </a:r>
          </a:p>
        </p:txBody>
      </p:sp>
      <p:grpSp>
        <p:nvGrpSpPr>
          <p:cNvPr name="Group 44" id="44"/>
          <p:cNvGrpSpPr/>
          <p:nvPr/>
        </p:nvGrpSpPr>
        <p:grpSpPr>
          <a:xfrm rot="0">
            <a:off x="7534275" y="8846820"/>
            <a:ext cx="4476750" cy="773430"/>
            <a:chOff x="0" y="0"/>
            <a:chExt cx="5969000" cy="1031240"/>
          </a:xfrm>
        </p:grpSpPr>
        <p:sp>
          <p:nvSpPr>
            <p:cNvPr name="Freeform 45" id="45"/>
            <p:cNvSpPr/>
            <p:nvPr/>
          </p:nvSpPr>
          <p:spPr>
            <a:xfrm flipH="false" flipV="false" rot="0">
              <a:off x="0" y="0"/>
              <a:ext cx="5969000" cy="1031240"/>
            </a:xfrm>
            <a:custGeom>
              <a:avLst/>
              <a:gdLst/>
              <a:ahLst/>
              <a:cxnLst/>
              <a:rect r="r" b="b" t="t" l="l"/>
              <a:pathLst>
                <a:path h="1031240" w="5969000">
                  <a:moveTo>
                    <a:pt x="0" y="260477"/>
                  </a:moveTo>
                  <a:cubicBezTo>
                    <a:pt x="0" y="116586"/>
                    <a:pt x="116586" y="0"/>
                    <a:pt x="260477" y="0"/>
                  </a:cubicBezTo>
                  <a:lnTo>
                    <a:pt x="5708523" y="0"/>
                  </a:lnTo>
                  <a:cubicBezTo>
                    <a:pt x="5852414" y="0"/>
                    <a:pt x="5969000" y="116586"/>
                    <a:pt x="5969000" y="260477"/>
                  </a:cubicBezTo>
                  <a:lnTo>
                    <a:pt x="5969000" y="770763"/>
                  </a:lnTo>
                  <a:cubicBezTo>
                    <a:pt x="5969000" y="914527"/>
                    <a:pt x="5852414" y="1031240"/>
                    <a:pt x="5708523" y="1031240"/>
                  </a:cubicBezTo>
                  <a:lnTo>
                    <a:pt x="260477" y="1031240"/>
                  </a:lnTo>
                  <a:cubicBezTo>
                    <a:pt x="116586" y="1031240"/>
                    <a:pt x="0" y="914654"/>
                    <a:pt x="0" y="770763"/>
                  </a:cubicBezTo>
                  <a:close/>
                </a:path>
              </a:pathLst>
            </a:custGeom>
            <a:solidFill>
              <a:srgbClr val="FFFFFF"/>
            </a:solidFill>
            <a:ln w="19050" cap="sq">
              <a:solidFill>
                <a:srgbClr val="E1E6F0"/>
              </a:solidFill>
              <a:prstDash val="solid"/>
              <a:miter/>
            </a:ln>
          </p:spPr>
        </p:sp>
      </p:grpSp>
      <p:sp>
        <p:nvSpPr>
          <p:cNvPr name="TextBox 46" id="46"/>
          <p:cNvSpPr txBox="true"/>
          <p:nvPr/>
        </p:nvSpPr>
        <p:spPr>
          <a:xfrm rot="0">
            <a:off x="7708392" y="9114711"/>
            <a:ext cx="4128516" cy="245840"/>
          </a:xfrm>
          <a:prstGeom prst="rect">
            <a:avLst/>
          </a:prstGeom>
        </p:spPr>
        <p:txBody>
          <a:bodyPr anchor="t" rtlCol="false" tIns="0" lIns="0" bIns="0" rIns="0">
            <a:spAutoFit/>
          </a:bodyPr>
          <a:lstStyle/>
          <a:p>
            <a:pPr algn="ctr">
              <a:lnSpc>
                <a:spcPts val="1980"/>
              </a:lnSpc>
            </a:pPr>
            <a:r>
              <a:rPr lang="en-US" sz="1500" b="true">
                <a:solidFill>
                  <a:srgbClr val="45506E"/>
                </a:solidFill>
                <a:latin typeface="Noto Sans Bold"/>
                <a:ea typeface="Noto Sans Bold"/>
                <a:cs typeface="Noto Sans Bold"/>
                <a:sym typeface="Noto Sans Bold"/>
              </a:rPr>
              <a:t>▼ 가장 느린 구간 초당 1.40어절 · 0:10–0:20</a:t>
            </a:r>
          </a:p>
        </p:txBody>
      </p:sp>
      <p:grpSp>
        <p:nvGrpSpPr>
          <p:cNvPr name="Group 47" id="47"/>
          <p:cNvGrpSpPr/>
          <p:nvPr/>
        </p:nvGrpSpPr>
        <p:grpSpPr>
          <a:xfrm rot="0">
            <a:off x="12266295" y="8846820"/>
            <a:ext cx="4476750" cy="773430"/>
            <a:chOff x="0" y="0"/>
            <a:chExt cx="5969000" cy="1031240"/>
          </a:xfrm>
        </p:grpSpPr>
        <p:sp>
          <p:nvSpPr>
            <p:cNvPr name="Freeform 48" id="48"/>
            <p:cNvSpPr/>
            <p:nvPr/>
          </p:nvSpPr>
          <p:spPr>
            <a:xfrm flipH="false" flipV="false" rot="0">
              <a:off x="0" y="0"/>
              <a:ext cx="5969000" cy="1031240"/>
            </a:xfrm>
            <a:custGeom>
              <a:avLst/>
              <a:gdLst/>
              <a:ahLst/>
              <a:cxnLst/>
              <a:rect r="r" b="b" t="t" l="l"/>
              <a:pathLst>
                <a:path h="1031240" w="5969000">
                  <a:moveTo>
                    <a:pt x="0" y="260477"/>
                  </a:moveTo>
                  <a:cubicBezTo>
                    <a:pt x="0" y="116586"/>
                    <a:pt x="116586" y="0"/>
                    <a:pt x="260477" y="0"/>
                  </a:cubicBezTo>
                  <a:lnTo>
                    <a:pt x="5708523" y="0"/>
                  </a:lnTo>
                  <a:cubicBezTo>
                    <a:pt x="5852414" y="0"/>
                    <a:pt x="5969000" y="116586"/>
                    <a:pt x="5969000" y="260477"/>
                  </a:cubicBezTo>
                  <a:lnTo>
                    <a:pt x="5969000" y="770763"/>
                  </a:lnTo>
                  <a:cubicBezTo>
                    <a:pt x="5969000" y="914527"/>
                    <a:pt x="5852414" y="1031240"/>
                    <a:pt x="5708523" y="1031240"/>
                  </a:cubicBezTo>
                  <a:lnTo>
                    <a:pt x="260477" y="1031240"/>
                  </a:lnTo>
                  <a:cubicBezTo>
                    <a:pt x="116586" y="1031240"/>
                    <a:pt x="0" y="914654"/>
                    <a:pt x="0" y="770763"/>
                  </a:cubicBezTo>
                  <a:close/>
                </a:path>
              </a:pathLst>
            </a:custGeom>
            <a:solidFill>
              <a:srgbClr val="FFFFFF"/>
            </a:solidFill>
            <a:ln w="19050" cap="sq">
              <a:solidFill>
                <a:srgbClr val="E1E6F0"/>
              </a:solidFill>
              <a:prstDash val="solid"/>
              <a:miter/>
            </a:ln>
          </p:spPr>
        </p:sp>
      </p:grpSp>
      <p:sp>
        <p:nvSpPr>
          <p:cNvPr name="TextBox 49" id="49"/>
          <p:cNvSpPr txBox="true"/>
          <p:nvPr/>
        </p:nvSpPr>
        <p:spPr>
          <a:xfrm rot="0">
            <a:off x="12440412" y="9114711"/>
            <a:ext cx="4128516" cy="245840"/>
          </a:xfrm>
          <a:prstGeom prst="rect">
            <a:avLst/>
          </a:prstGeom>
        </p:spPr>
        <p:txBody>
          <a:bodyPr anchor="t" rtlCol="false" tIns="0" lIns="0" bIns="0" rIns="0">
            <a:spAutoFit/>
          </a:bodyPr>
          <a:lstStyle/>
          <a:p>
            <a:pPr algn="ctr">
              <a:lnSpc>
                <a:spcPts val="1980"/>
              </a:lnSpc>
            </a:pPr>
            <a:r>
              <a:rPr lang="en-US" sz="1500" b="true">
                <a:solidFill>
                  <a:srgbClr val="45506E"/>
                </a:solidFill>
                <a:latin typeface="Noto Sans Bold"/>
                <a:ea typeface="Noto Sans Bold"/>
                <a:cs typeface="Noto Sans Bold"/>
                <a:sym typeface="Noto Sans Bold"/>
              </a:rPr>
              <a:t>▲ 가장 빠른 구간 초당 15.60어절 · 0:00–0:10</a:t>
            </a:r>
          </a:p>
        </p:txBody>
      </p:sp>
      <p:sp>
        <p:nvSpPr>
          <p:cNvPr name="TextBox 50" id="50"/>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02</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29</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공통  03</a:t>
            </a:r>
          </a:p>
        </p:txBody>
      </p:sp>
      <p:sp>
        <p:nvSpPr>
          <p:cNvPr name="TextBox 18" id="18"/>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03</a:t>
            </a:r>
          </a:p>
        </p:txBody>
      </p:sp>
      <p:sp>
        <p:nvSpPr>
          <p:cNvPr name="TextBox 19" id="19"/>
          <p:cNvSpPr txBox="true"/>
          <p:nvPr/>
        </p:nvSpPr>
        <p:spPr>
          <a:xfrm rot="0">
            <a:off x="1371600" y="2719578"/>
            <a:ext cx="6309360" cy="2465070"/>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청중을</a:t>
            </a:r>
          </a:p>
          <a:p>
            <a:pPr algn="l">
              <a:lnSpc>
                <a:spcPts val="7246"/>
              </a:lnSpc>
            </a:pPr>
            <a:r>
              <a:rPr lang="en-US" sz="4950" b="true">
                <a:solidFill>
                  <a:srgbClr val="11131B"/>
                </a:solidFill>
                <a:latin typeface="Noto Sans Bold"/>
                <a:ea typeface="Noto Sans Bold"/>
                <a:cs typeface="Noto Sans Bold"/>
                <a:sym typeface="Noto Sans Bold"/>
              </a:rPr>
              <a:t>보고 있는지</a:t>
            </a:r>
          </a:p>
        </p:txBody>
      </p:sp>
      <p:sp>
        <p:nvSpPr>
          <p:cNvPr name="TextBox 20" id="20"/>
          <p:cNvSpPr txBox="true"/>
          <p:nvPr/>
        </p:nvSpPr>
        <p:spPr>
          <a:xfrm rot="0">
            <a:off x="1371600" y="4599670"/>
            <a:ext cx="6172200" cy="1348740"/>
          </a:xfrm>
          <a:prstGeom prst="rect">
            <a:avLst/>
          </a:prstGeom>
        </p:spPr>
        <p:txBody>
          <a:bodyPr anchor="t" rtlCol="false" tIns="0" lIns="0" bIns="0" rIns="0">
            <a:spAutoFit/>
          </a:bodyPr>
          <a:lstStyle/>
          <a:p>
            <a:pPr algn="l">
              <a:lnSpc>
                <a:spcPts val="3523"/>
              </a:lnSpc>
            </a:pPr>
            <a:r>
              <a:rPr lang="en-US" sz="2025">
                <a:solidFill>
                  <a:srgbClr val="2E313D"/>
                </a:solidFill>
                <a:latin typeface="Noto Sans"/>
                <a:ea typeface="Noto Sans"/>
                <a:cs typeface="Noto Sans"/>
                <a:sym typeface="Noto Sans"/>
              </a:rPr>
              <a:t>카메라로 시선 이탈과 자세 흐트러짐을 감지합니다.</a:t>
            </a:r>
          </a:p>
        </p:txBody>
      </p:sp>
      <p:grpSp>
        <p:nvGrpSpPr>
          <p:cNvPr name="Group 21" id="21"/>
          <p:cNvGrpSpPr/>
          <p:nvPr/>
        </p:nvGrpSpPr>
        <p:grpSpPr>
          <a:xfrm rot="0">
            <a:off x="8494395" y="2047875"/>
            <a:ext cx="8426958" cy="5711190"/>
            <a:chOff x="0" y="0"/>
            <a:chExt cx="11235944" cy="7614920"/>
          </a:xfrm>
        </p:grpSpPr>
        <p:sp>
          <p:nvSpPr>
            <p:cNvPr name="Freeform 22" id="22"/>
            <p:cNvSpPr/>
            <p:nvPr/>
          </p:nvSpPr>
          <p:spPr>
            <a:xfrm flipH="false" flipV="false" rot="0">
              <a:off x="0" y="0"/>
              <a:ext cx="11235944" cy="7614920"/>
            </a:xfrm>
            <a:custGeom>
              <a:avLst/>
              <a:gdLst/>
              <a:ahLst/>
              <a:cxnLst/>
              <a:rect r="r" b="b" t="t" l="l"/>
              <a:pathLst>
                <a:path h="7614920" w="11235944">
                  <a:moveTo>
                    <a:pt x="0" y="305816"/>
                  </a:moveTo>
                  <a:cubicBezTo>
                    <a:pt x="0" y="136906"/>
                    <a:pt x="136906" y="0"/>
                    <a:pt x="305816" y="0"/>
                  </a:cubicBezTo>
                  <a:lnTo>
                    <a:pt x="10930128" y="0"/>
                  </a:lnTo>
                  <a:cubicBezTo>
                    <a:pt x="11099038" y="0"/>
                    <a:pt x="11235944" y="136906"/>
                    <a:pt x="11235944" y="305816"/>
                  </a:cubicBezTo>
                  <a:lnTo>
                    <a:pt x="11235944" y="7309104"/>
                  </a:lnTo>
                  <a:cubicBezTo>
                    <a:pt x="11235944" y="7478014"/>
                    <a:pt x="11099038" y="7614920"/>
                    <a:pt x="10930128" y="7614920"/>
                  </a:cubicBezTo>
                  <a:lnTo>
                    <a:pt x="305816" y="7614920"/>
                  </a:lnTo>
                  <a:cubicBezTo>
                    <a:pt x="136906" y="7614920"/>
                    <a:pt x="0" y="7478014"/>
                    <a:pt x="0" y="7309104"/>
                  </a:cubicBezTo>
                  <a:close/>
                </a:path>
              </a:pathLst>
            </a:custGeom>
            <a:solidFill>
              <a:srgbClr val="FFFFFF"/>
            </a:solidFill>
            <a:ln w="19050" cap="sq">
              <a:solidFill>
                <a:srgbClr val="E1E6F0"/>
              </a:solidFill>
              <a:prstDash val="solid"/>
              <a:miter/>
            </a:ln>
          </p:spPr>
        </p:sp>
      </p:grpSp>
      <p:sp>
        <p:nvSpPr>
          <p:cNvPr name="TextBox 23" id="23"/>
          <p:cNvSpPr txBox="true"/>
          <p:nvPr/>
        </p:nvSpPr>
        <p:spPr>
          <a:xfrm rot="0">
            <a:off x="8915400" y="2394966"/>
            <a:ext cx="3429000" cy="279025"/>
          </a:xfrm>
          <a:prstGeom prst="rect">
            <a:avLst/>
          </a:prstGeom>
        </p:spPr>
        <p:txBody>
          <a:bodyPr anchor="t" rtlCol="false" tIns="0" lIns="0" bIns="0" rIns="0">
            <a:spAutoFit/>
          </a:bodyPr>
          <a:lstStyle/>
          <a:p>
            <a:pPr algn="l">
              <a:lnSpc>
                <a:spcPts val="2178"/>
              </a:lnSpc>
            </a:pPr>
            <a:r>
              <a:rPr lang="en-US" sz="1650" b="true">
                <a:solidFill>
                  <a:srgbClr val="172346"/>
                </a:solidFill>
                <a:latin typeface="Noto Sans Bold"/>
                <a:ea typeface="Noto Sans Bold"/>
                <a:cs typeface="Noto Sans Bold"/>
                <a:sym typeface="Noto Sans Bold"/>
              </a:rPr>
              <a:t>실시간 분석</a:t>
            </a:r>
          </a:p>
        </p:txBody>
      </p:sp>
      <p:sp>
        <p:nvSpPr>
          <p:cNvPr name="TextBox 24" id="24"/>
          <p:cNvSpPr txBox="true"/>
          <p:nvPr/>
        </p:nvSpPr>
        <p:spPr>
          <a:xfrm rot="0">
            <a:off x="14168628" y="2422398"/>
            <a:ext cx="2468880" cy="231705"/>
          </a:xfrm>
          <a:prstGeom prst="rect">
            <a:avLst/>
          </a:prstGeom>
        </p:spPr>
        <p:txBody>
          <a:bodyPr anchor="t" rtlCol="false" tIns="0" lIns="0" bIns="0" rIns="0">
            <a:spAutoFit/>
          </a:bodyPr>
          <a:lstStyle/>
          <a:p>
            <a:pPr algn="r">
              <a:lnSpc>
                <a:spcPts val="1782"/>
              </a:lnSpc>
            </a:pPr>
            <a:r>
              <a:rPr lang="en-US" sz="1350">
                <a:solidFill>
                  <a:srgbClr val="209E66"/>
                </a:solidFill>
                <a:latin typeface="Noto Sans"/>
                <a:ea typeface="Noto Sans"/>
                <a:cs typeface="Noto Sans"/>
                <a:sym typeface="Noto Sans"/>
              </a:rPr>
              <a:t>AI 모델 동작 중</a:t>
            </a:r>
          </a:p>
        </p:txBody>
      </p:sp>
      <p:grpSp>
        <p:nvGrpSpPr>
          <p:cNvPr name="Group 25" id="25"/>
          <p:cNvGrpSpPr/>
          <p:nvPr/>
        </p:nvGrpSpPr>
        <p:grpSpPr>
          <a:xfrm rot="0">
            <a:off x="8915400" y="3086100"/>
            <a:ext cx="3627882" cy="1947672"/>
            <a:chOff x="0" y="0"/>
            <a:chExt cx="4837176" cy="2596896"/>
          </a:xfrm>
        </p:grpSpPr>
        <p:sp>
          <p:nvSpPr>
            <p:cNvPr name="Freeform 26" id="26"/>
            <p:cNvSpPr/>
            <p:nvPr/>
          </p:nvSpPr>
          <p:spPr>
            <a:xfrm flipH="false" flipV="false" rot="0">
              <a:off x="0" y="0"/>
              <a:ext cx="4837176" cy="2596896"/>
            </a:xfrm>
            <a:custGeom>
              <a:avLst/>
              <a:gdLst/>
              <a:ahLst/>
              <a:cxnLst/>
              <a:rect r="r" b="b" t="t" l="l"/>
              <a:pathLst>
                <a:path h="2596896" w="4837176">
                  <a:moveTo>
                    <a:pt x="0" y="254000"/>
                  </a:moveTo>
                  <a:cubicBezTo>
                    <a:pt x="0" y="113665"/>
                    <a:pt x="113665" y="0"/>
                    <a:pt x="254000" y="0"/>
                  </a:cubicBezTo>
                  <a:lnTo>
                    <a:pt x="4583176" y="0"/>
                  </a:lnTo>
                  <a:cubicBezTo>
                    <a:pt x="4723511" y="0"/>
                    <a:pt x="4837176" y="113665"/>
                    <a:pt x="4837176" y="254000"/>
                  </a:cubicBezTo>
                  <a:lnTo>
                    <a:pt x="4837176" y="2342896"/>
                  </a:lnTo>
                  <a:cubicBezTo>
                    <a:pt x="4837176" y="2483231"/>
                    <a:pt x="4723511" y="2596896"/>
                    <a:pt x="4583176" y="2596896"/>
                  </a:cubicBezTo>
                  <a:lnTo>
                    <a:pt x="254000" y="2596896"/>
                  </a:lnTo>
                  <a:cubicBezTo>
                    <a:pt x="113665" y="2596896"/>
                    <a:pt x="0" y="2483231"/>
                    <a:pt x="0" y="2342896"/>
                  </a:cubicBezTo>
                  <a:close/>
                </a:path>
              </a:pathLst>
            </a:custGeom>
            <a:solidFill>
              <a:srgbClr val="F7F8FB"/>
            </a:solidFill>
          </p:spPr>
        </p:sp>
      </p:grpSp>
      <p:sp>
        <p:nvSpPr>
          <p:cNvPr name="TextBox 27" id="27"/>
          <p:cNvSpPr txBox="true"/>
          <p:nvPr/>
        </p:nvSpPr>
        <p:spPr>
          <a:xfrm rot="0">
            <a:off x="9217152" y="3451098"/>
            <a:ext cx="3024378" cy="573053"/>
          </a:xfrm>
          <a:prstGeom prst="rect">
            <a:avLst/>
          </a:prstGeom>
        </p:spPr>
        <p:txBody>
          <a:bodyPr anchor="t" rtlCol="false" tIns="0" lIns="0" bIns="0" rIns="0">
            <a:spAutoFit/>
          </a:bodyPr>
          <a:lstStyle/>
          <a:p>
            <a:pPr algn="l">
              <a:lnSpc>
                <a:spcPts val="4536"/>
              </a:lnSpc>
            </a:pPr>
            <a:r>
              <a:rPr lang="en-US" sz="3600" b="true">
                <a:solidFill>
                  <a:srgbClr val="172346"/>
                </a:solidFill>
                <a:latin typeface="Noto Sans Bold"/>
                <a:ea typeface="Noto Sans Bold"/>
                <a:cs typeface="Noto Sans Bold"/>
                <a:sym typeface="Noto Sans Bold"/>
              </a:rPr>
              <a:t>132</a:t>
            </a:r>
          </a:p>
        </p:txBody>
      </p:sp>
      <p:sp>
        <p:nvSpPr>
          <p:cNvPr name="TextBox 28" id="28"/>
          <p:cNvSpPr txBox="true"/>
          <p:nvPr/>
        </p:nvSpPr>
        <p:spPr>
          <a:xfrm rot="0">
            <a:off x="9217152" y="4370070"/>
            <a:ext cx="3024378" cy="267195"/>
          </a:xfrm>
          <a:prstGeom prst="rect">
            <a:avLst/>
          </a:prstGeom>
        </p:spPr>
        <p:txBody>
          <a:bodyPr anchor="t" rtlCol="false" tIns="0" lIns="0" bIns="0" rIns="0">
            <a:spAutoFit/>
          </a:bodyPr>
          <a:lstStyle/>
          <a:p>
            <a:pPr algn="l">
              <a:lnSpc>
                <a:spcPts val="2079"/>
              </a:lnSpc>
            </a:pPr>
            <a:r>
              <a:rPr lang="en-US" sz="1575">
                <a:solidFill>
                  <a:srgbClr val="9AA3B8"/>
                </a:solidFill>
                <a:latin typeface="Noto Sans"/>
                <a:ea typeface="Noto Sans"/>
                <a:cs typeface="Noto Sans"/>
                <a:sym typeface="Noto Sans"/>
              </a:rPr>
              <a:t>말하기 속도</a:t>
            </a:r>
          </a:p>
        </p:txBody>
      </p:sp>
      <p:grpSp>
        <p:nvGrpSpPr>
          <p:cNvPr name="Group 29" id="29"/>
          <p:cNvGrpSpPr/>
          <p:nvPr/>
        </p:nvGrpSpPr>
        <p:grpSpPr>
          <a:xfrm rot="0">
            <a:off x="12707874" y="3086100"/>
            <a:ext cx="3627882" cy="1947672"/>
            <a:chOff x="0" y="0"/>
            <a:chExt cx="4837176" cy="2596896"/>
          </a:xfrm>
        </p:grpSpPr>
        <p:sp>
          <p:nvSpPr>
            <p:cNvPr name="Freeform 30" id="30"/>
            <p:cNvSpPr/>
            <p:nvPr/>
          </p:nvSpPr>
          <p:spPr>
            <a:xfrm flipH="false" flipV="false" rot="0">
              <a:off x="0" y="0"/>
              <a:ext cx="4837176" cy="2596896"/>
            </a:xfrm>
            <a:custGeom>
              <a:avLst/>
              <a:gdLst/>
              <a:ahLst/>
              <a:cxnLst/>
              <a:rect r="r" b="b" t="t" l="l"/>
              <a:pathLst>
                <a:path h="2596896" w="4837176">
                  <a:moveTo>
                    <a:pt x="0" y="254000"/>
                  </a:moveTo>
                  <a:cubicBezTo>
                    <a:pt x="0" y="113665"/>
                    <a:pt x="113665" y="0"/>
                    <a:pt x="254000" y="0"/>
                  </a:cubicBezTo>
                  <a:lnTo>
                    <a:pt x="4583176" y="0"/>
                  </a:lnTo>
                  <a:cubicBezTo>
                    <a:pt x="4723511" y="0"/>
                    <a:pt x="4837176" y="113665"/>
                    <a:pt x="4837176" y="254000"/>
                  </a:cubicBezTo>
                  <a:lnTo>
                    <a:pt x="4837176" y="2342896"/>
                  </a:lnTo>
                  <a:cubicBezTo>
                    <a:pt x="4837176" y="2483231"/>
                    <a:pt x="4723511" y="2596896"/>
                    <a:pt x="4583176" y="2596896"/>
                  </a:cubicBezTo>
                  <a:lnTo>
                    <a:pt x="254000" y="2596896"/>
                  </a:lnTo>
                  <a:cubicBezTo>
                    <a:pt x="113665" y="2596896"/>
                    <a:pt x="0" y="2483231"/>
                    <a:pt x="0" y="2342896"/>
                  </a:cubicBezTo>
                  <a:close/>
                </a:path>
              </a:pathLst>
            </a:custGeom>
            <a:solidFill>
              <a:srgbClr val="F7F8FB"/>
            </a:solidFill>
          </p:spPr>
        </p:sp>
      </p:grpSp>
      <p:sp>
        <p:nvSpPr>
          <p:cNvPr name="TextBox 31" id="31"/>
          <p:cNvSpPr txBox="true"/>
          <p:nvPr/>
        </p:nvSpPr>
        <p:spPr>
          <a:xfrm rot="0">
            <a:off x="13009626" y="3451098"/>
            <a:ext cx="3024378" cy="573053"/>
          </a:xfrm>
          <a:prstGeom prst="rect">
            <a:avLst/>
          </a:prstGeom>
        </p:spPr>
        <p:txBody>
          <a:bodyPr anchor="t" rtlCol="false" tIns="0" lIns="0" bIns="0" rIns="0">
            <a:spAutoFit/>
          </a:bodyPr>
          <a:lstStyle/>
          <a:p>
            <a:pPr algn="l">
              <a:lnSpc>
                <a:spcPts val="4536"/>
              </a:lnSpc>
            </a:pPr>
            <a:r>
              <a:rPr lang="en-US" sz="3600" b="true">
                <a:solidFill>
                  <a:srgbClr val="172346"/>
                </a:solidFill>
                <a:latin typeface="Noto Sans Bold"/>
                <a:ea typeface="Noto Sans Bold"/>
                <a:cs typeface="Noto Sans Bold"/>
                <a:sym typeface="Noto Sans Bold"/>
              </a:rPr>
              <a:t>3회</a:t>
            </a:r>
          </a:p>
        </p:txBody>
      </p:sp>
      <p:sp>
        <p:nvSpPr>
          <p:cNvPr name="TextBox 32" id="32"/>
          <p:cNvSpPr txBox="true"/>
          <p:nvPr/>
        </p:nvSpPr>
        <p:spPr>
          <a:xfrm rot="0">
            <a:off x="13009626" y="4370070"/>
            <a:ext cx="552152" cy="252222"/>
          </a:xfrm>
          <a:prstGeom prst="rect">
            <a:avLst/>
          </a:prstGeom>
        </p:spPr>
        <p:txBody>
          <a:bodyPr anchor="t" rtlCol="false" tIns="0" lIns="0" bIns="0" rIns="0">
            <a:spAutoFit/>
          </a:bodyPr>
          <a:lstStyle/>
          <a:p>
            <a:pPr algn="l">
              <a:lnSpc>
                <a:spcPts val="2079"/>
              </a:lnSpc>
            </a:pPr>
            <a:r>
              <a:rPr lang="en-US" sz="1575">
                <a:solidFill>
                  <a:srgbClr val="9AA3B8"/>
                </a:solidFill>
                <a:latin typeface="Noto Sans"/>
                <a:ea typeface="Noto Sans"/>
                <a:cs typeface="Noto Sans"/>
                <a:sym typeface="Noto Sans"/>
              </a:rPr>
              <a:t>추임새</a:t>
            </a:r>
          </a:p>
        </p:txBody>
      </p:sp>
      <p:grpSp>
        <p:nvGrpSpPr>
          <p:cNvPr name="Group 33" id="33"/>
          <p:cNvGrpSpPr/>
          <p:nvPr/>
        </p:nvGrpSpPr>
        <p:grpSpPr>
          <a:xfrm rot="0">
            <a:off x="8915400" y="5280660"/>
            <a:ext cx="3627882" cy="1947672"/>
            <a:chOff x="0" y="0"/>
            <a:chExt cx="4837176" cy="2596896"/>
          </a:xfrm>
        </p:grpSpPr>
        <p:sp>
          <p:nvSpPr>
            <p:cNvPr name="Freeform 34" id="34"/>
            <p:cNvSpPr/>
            <p:nvPr/>
          </p:nvSpPr>
          <p:spPr>
            <a:xfrm flipH="false" flipV="false" rot="0">
              <a:off x="0" y="0"/>
              <a:ext cx="4837176" cy="2596896"/>
            </a:xfrm>
            <a:custGeom>
              <a:avLst/>
              <a:gdLst/>
              <a:ahLst/>
              <a:cxnLst/>
              <a:rect r="r" b="b" t="t" l="l"/>
              <a:pathLst>
                <a:path h="2596896" w="4837176">
                  <a:moveTo>
                    <a:pt x="0" y="254000"/>
                  </a:moveTo>
                  <a:cubicBezTo>
                    <a:pt x="0" y="113665"/>
                    <a:pt x="113665" y="0"/>
                    <a:pt x="254000" y="0"/>
                  </a:cubicBezTo>
                  <a:lnTo>
                    <a:pt x="4583176" y="0"/>
                  </a:lnTo>
                  <a:cubicBezTo>
                    <a:pt x="4723511" y="0"/>
                    <a:pt x="4837176" y="113665"/>
                    <a:pt x="4837176" y="254000"/>
                  </a:cubicBezTo>
                  <a:lnTo>
                    <a:pt x="4837176" y="2342896"/>
                  </a:lnTo>
                  <a:cubicBezTo>
                    <a:pt x="4837176" y="2483231"/>
                    <a:pt x="4723511" y="2596896"/>
                    <a:pt x="4583176" y="2596896"/>
                  </a:cubicBezTo>
                  <a:lnTo>
                    <a:pt x="254000" y="2596896"/>
                  </a:lnTo>
                  <a:cubicBezTo>
                    <a:pt x="113665" y="2596896"/>
                    <a:pt x="0" y="2483231"/>
                    <a:pt x="0" y="2342896"/>
                  </a:cubicBezTo>
                  <a:close/>
                </a:path>
              </a:pathLst>
            </a:custGeom>
            <a:solidFill>
              <a:srgbClr val="F7F8FB"/>
            </a:solidFill>
          </p:spPr>
        </p:sp>
      </p:grpSp>
      <p:sp>
        <p:nvSpPr>
          <p:cNvPr name="TextBox 35" id="35"/>
          <p:cNvSpPr txBox="true"/>
          <p:nvPr/>
        </p:nvSpPr>
        <p:spPr>
          <a:xfrm rot="0">
            <a:off x="9217152" y="5645658"/>
            <a:ext cx="3024378" cy="573053"/>
          </a:xfrm>
          <a:prstGeom prst="rect">
            <a:avLst/>
          </a:prstGeom>
        </p:spPr>
        <p:txBody>
          <a:bodyPr anchor="t" rtlCol="false" tIns="0" lIns="0" bIns="0" rIns="0">
            <a:spAutoFit/>
          </a:bodyPr>
          <a:lstStyle/>
          <a:p>
            <a:pPr algn="l">
              <a:lnSpc>
                <a:spcPts val="4536"/>
              </a:lnSpc>
            </a:pPr>
            <a:r>
              <a:rPr lang="en-US" sz="3600" b="true">
                <a:solidFill>
                  <a:srgbClr val="172346"/>
                </a:solidFill>
                <a:latin typeface="Noto Sans Bold"/>
                <a:ea typeface="Noto Sans Bold"/>
                <a:cs typeface="Noto Sans Bold"/>
                <a:sym typeface="Noto Sans Bold"/>
              </a:rPr>
              <a:t>2회</a:t>
            </a:r>
          </a:p>
        </p:txBody>
      </p:sp>
      <p:sp>
        <p:nvSpPr>
          <p:cNvPr name="TextBox 36" id="36"/>
          <p:cNvSpPr txBox="true"/>
          <p:nvPr/>
        </p:nvSpPr>
        <p:spPr>
          <a:xfrm rot="0">
            <a:off x="9217152" y="6564630"/>
            <a:ext cx="3024378" cy="267195"/>
          </a:xfrm>
          <a:prstGeom prst="rect">
            <a:avLst/>
          </a:prstGeom>
        </p:spPr>
        <p:txBody>
          <a:bodyPr anchor="t" rtlCol="false" tIns="0" lIns="0" bIns="0" rIns="0">
            <a:spAutoFit/>
          </a:bodyPr>
          <a:lstStyle/>
          <a:p>
            <a:pPr algn="l">
              <a:lnSpc>
                <a:spcPts val="2079"/>
              </a:lnSpc>
            </a:pPr>
            <a:r>
              <a:rPr lang="en-US" sz="1575">
                <a:solidFill>
                  <a:srgbClr val="9AA3B8"/>
                </a:solidFill>
                <a:latin typeface="Noto Sans"/>
                <a:ea typeface="Noto Sans"/>
                <a:cs typeface="Noto Sans"/>
                <a:sym typeface="Noto Sans"/>
              </a:rPr>
              <a:t>시선 이탈</a:t>
            </a:r>
          </a:p>
        </p:txBody>
      </p:sp>
      <p:grpSp>
        <p:nvGrpSpPr>
          <p:cNvPr name="Group 37" id="37"/>
          <p:cNvGrpSpPr/>
          <p:nvPr/>
        </p:nvGrpSpPr>
        <p:grpSpPr>
          <a:xfrm rot="0">
            <a:off x="12707874" y="5280660"/>
            <a:ext cx="3627882" cy="1947672"/>
            <a:chOff x="0" y="0"/>
            <a:chExt cx="4837176" cy="2596896"/>
          </a:xfrm>
        </p:grpSpPr>
        <p:sp>
          <p:nvSpPr>
            <p:cNvPr name="Freeform 38" id="38"/>
            <p:cNvSpPr/>
            <p:nvPr/>
          </p:nvSpPr>
          <p:spPr>
            <a:xfrm flipH="false" flipV="false" rot="0">
              <a:off x="0" y="0"/>
              <a:ext cx="4837176" cy="2596896"/>
            </a:xfrm>
            <a:custGeom>
              <a:avLst/>
              <a:gdLst/>
              <a:ahLst/>
              <a:cxnLst/>
              <a:rect r="r" b="b" t="t" l="l"/>
              <a:pathLst>
                <a:path h="2596896" w="4837176">
                  <a:moveTo>
                    <a:pt x="0" y="254000"/>
                  </a:moveTo>
                  <a:cubicBezTo>
                    <a:pt x="0" y="113665"/>
                    <a:pt x="113665" y="0"/>
                    <a:pt x="254000" y="0"/>
                  </a:cubicBezTo>
                  <a:lnTo>
                    <a:pt x="4583176" y="0"/>
                  </a:lnTo>
                  <a:cubicBezTo>
                    <a:pt x="4723511" y="0"/>
                    <a:pt x="4837176" y="113665"/>
                    <a:pt x="4837176" y="254000"/>
                  </a:cubicBezTo>
                  <a:lnTo>
                    <a:pt x="4837176" y="2342896"/>
                  </a:lnTo>
                  <a:cubicBezTo>
                    <a:pt x="4837176" y="2483231"/>
                    <a:pt x="4723511" y="2596896"/>
                    <a:pt x="4583176" y="2596896"/>
                  </a:cubicBezTo>
                  <a:lnTo>
                    <a:pt x="254000" y="2596896"/>
                  </a:lnTo>
                  <a:cubicBezTo>
                    <a:pt x="113665" y="2596896"/>
                    <a:pt x="0" y="2483231"/>
                    <a:pt x="0" y="2342896"/>
                  </a:cubicBezTo>
                  <a:close/>
                </a:path>
              </a:pathLst>
            </a:custGeom>
            <a:solidFill>
              <a:srgbClr val="F7F8FB"/>
            </a:solidFill>
          </p:spPr>
        </p:sp>
      </p:grpSp>
      <p:sp>
        <p:nvSpPr>
          <p:cNvPr name="TextBox 39" id="39"/>
          <p:cNvSpPr txBox="true"/>
          <p:nvPr/>
        </p:nvSpPr>
        <p:spPr>
          <a:xfrm rot="0">
            <a:off x="13009626" y="5645658"/>
            <a:ext cx="3024378" cy="573053"/>
          </a:xfrm>
          <a:prstGeom prst="rect">
            <a:avLst/>
          </a:prstGeom>
        </p:spPr>
        <p:txBody>
          <a:bodyPr anchor="t" rtlCol="false" tIns="0" lIns="0" bIns="0" rIns="0">
            <a:spAutoFit/>
          </a:bodyPr>
          <a:lstStyle/>
          <a:p>
            <a:pPr algn="l">
              <a:lnSpc>
                <a:spcPts val="4536"/>
              </a:lnSpc>
            </a:pPr>
            <a:r>
              <a:rPr lang="en-US" sz="3600" b="true">
                <a:solidFill>
                  <a:srgbClr val="172346"/>
                </a:solidFill>
                <a:latin typeface="Noto Sans Bold"/>
                <a:ea typeface="Noto Sans Bold"/>
                <a:cs typeface="Noto Sans Bold"/>
                <a:sym typeface="Noto Sans Bold"/>
              </a:rPr>
              <a:t>감지</a:t>
            </a:r>
          </a:p>
        </p:txBody>
      </p:sp>
      <p:sp>
        <p:nvSpPr>
          <p:cNvPr name="TextBox 40" id="40"/>
          <p:cNvSpPr txBox="true"/>
          <p:nvPr/>
        </p:nvSpPr>
        <p:spPr>
          <a:xfrm rot="0">
            <a:off x="13009626" y="6564630"/>
            <a:ext cx="3024378" cy="267195"/>
          </a:xfrm>
          <a:prstGeom prst="rect">
            <a:avLst/>
          </a:prstGeom>
        </p:spPr>
        <p:txBody>
          <a:bodyPr anchor="t" rtlCol="false" tIns="0" lIns="0" bIns="0" rIns="0">
            <a:spAutoFit/>
          </a:bodyPr>
          <a:lstStyle/>
          <a:p>
            <a:pPr algn="l">
              <a:lnSpc>
                <a:spcPts val="2079"/>
              </a:lnSpc>
            </a:pPr>
            <a:r>
              <a:rPr lang="en-US" sz="1575">
                <a:solidFill>
                  <a:srgbClr val="9AA3B8"/>
                </a:solidFill>
                <a:latin typeface="Noto Sans"/>
                <a:ea typeface="Noto Sans"/>
                <a:cs typeface="Noto Sans"/>
                <a:sym typeface="Noto Sans"/>
              </a:rPr>
              <a:t>기울어짐</a:t>
            </a:r>
          </a:p>
        </p:txBody>
      </p:sp>
      <p:grpSp>
        <p:nvGrpSpPr>
          <p:cNvPr name="Group 41" id="41"/>
          <p:cNvGrpSpPr/>
          <p:nvPr/>
        </p:nvGrpSpPr>
        <p:grpSpPr>
          <a:xfrm rot="0">
            <a:off x="8827770" y="5193030"/>
            <a:ext cx="3803142" cy="2122932"/>
            <a:chOff x="0" y="0"/>
            <a:chExt cx="5070856" cy="2830576"/>
          </a:xfrm>
        </p:grpSpPr>
        <p:sp>
          <p:nvSpPr>
            <p:cNvPr name="Freeform 42" id="42"/>
            <p:cNvSpPr/>
            <p:nvPr/>
          </p:nvSpPr>
          <p:spPr>
            <a:xfrm flipH="false" flipV="false" rot="0">
              <a:off x="0" y="0"/>
              <a:ext cx="5070856" cy="2830576"/>
            </a:xfrm>
            <a:custGeom>
              <a:avLst/>
              <a:gdLst/>
              <a:ahLst/>
              <a:cxnLst/>
              <a:rect r="r" b="b" t="t" l="l"/>
              <a:pathLst>
                <a:path h="2830576" w="5070856">
                  <a:moveTo>
                    <a:pt x="0" y="310388"/>
                  </a:moveTo>
                  <a:cubicBezTo>
                    <a:pt x="0" y="138938"/>
                    <a:pt x="138938" y="0"/>
                    <a:pt x="310388" y="0"/>
                  </a:cubicBezTo>
                  <a:lnTo>
                    <a:pt x="4760468" y="0"/>
                  </a:lnTo>
                  <a:cubicBezTo>
                    <a:pt x="4931918" y="0"/>
                    <a:pt x="5070856" y="138938"/>
                    <a:pt x="5070856" y="310388"/>
                  </a:cubicBezTo>
                  <a:lnTo>
                    <a:pt x="5070856" y="2520188"/>
                  </a:lnTo>
                  <a:cubicBezTo>
                    <a:pt x="5070856" y="2691638"/>
                    <a:pt x="4931918" y="2830576"/>
                    <a:pt x="4760468" y="2830576"/>
                  </a:cubicBezTo>
                  <a:lnTo>
                    <a:pt x="310388" y="2830576"/>
                  </a:lnTo>
                  <a:cubicBezTo>
                    <a:pt x="138938" y="2830576"/>
                    <a:pt x="0" y="2691638"/>
                    <a:pt x="0" y="2520188"/>
                  </a:cubicBezTo>
                  <a:close/>
                </a:path>
              </a:pathLst>
            </a:custGeom>
            <a:blipFill>
              <a:blip r:embed="rId3">
                <a:alphaModFix amt="0"/>
              </a:blip>
              <a:stretch>
                <a:fillRect l="-21619" t="0" r="-21619" b="0"/>
              </a:stretch>
            </a:blipFill>
            <a:ln w="38100" cap="sq">
              <a:solidFill>
                <a:srgbClr val="B4534F"/>
              </a:solidFill>
              <a:prstDash val="solid"/>
              <a:miter/>
            </a:ln>
          </p:spPr>
        </p:sp>
      </p:grpSp>
      <p:grpSp>
        <p:nvGrpSpPr>
          <p:cNvPr name="Group 43" id="43"/>
          <p:cNvGrpSpPr/>
          <p:nvPr/>
        </p:nvGrpSpPr>
        <p:grpSpPr>
          <a:xfrm rot="0">
            <a:off x="8494395" y="8014335"/>
            <a:ext cx="8426958" cy="773430"/>
            <a:chOff x="0" y="0"/>
            <a:chExt cx="11235944" cy="1031240"/>
          </a:xfrm>
        </p:grpSpPr>
        <p:sp>
          <p:nvSpPr>
            <p:cNvPr name="Freeform 44" id="44"/>
            <p:cNvSpPr/>
            <p:nvPr/>
          </p:nvSpPr>
          <p:spPr>
            <a:xfrm flipH="false" flipV="false" rot="0">
              <a:off x="0" y="0"/>
              <a:ext cx="11235944" cy="1031240"/>
            </a:xfrm>
            <a:custGeom>
              <a:avLst/>
              <a:gdLst/>
              <a:ahLst/>
              <a:cxnLst/>
              <a:rect r="r" b="b" t="t" l="l"/>
              <a:pathLst>
                <a:path h="1031240" w="11235944">
                  <a:moveTo>
                    <a:pt x="0" y="260477"/>
                  </a:moveTo>
                  <a:cubicBezTo>
                    <a:pt x="0" y="116586"/>
                    <a:pt x="116586" y="0"/>
                    <a:pt x="260477" y="0"/>
                  </a:cubicBezTo>
                  <a:lnTo>
                    <a:pt x="10975467" y="0"/>
                  </a:lnTo>
                  <a:cubicBezTo>
                    <a:pt x="11119231" y="0"/>
                    <a:pt x="11235944" y="116586"/>
                    <a:pt x="11235944" y="260477"/>
                  </a:cubicBezTo>
                  <a:lnTo>
                    <a:pt x="11235944" y="770763"/>
                  </a:lnTo>
                  <a:cubicBezTo>
                    <a:pt x="11235944" y="914527"/>
                    <a:pt x="11119358" y="1031240"/>
                    <a:pt x="10975467" y="1031240"/>
                  </a:cubicBezTo>
                  <a:lnTo>
                    <a:pt x="260477" y="1031240"/>
                  </a:lnTo>
                  <a:cubicBezTo>
                    <a:pt x="116586" y="1031240"/>
                    <a:pt x="0" y="914654"/>
                    <a:pt x="0" y="770763"/>
                  </a:cubicBezTo>
                  <a:close/>
                </a:path>
              </a:pathLst>
            </a:custGeom>
            <a:solidFill>
              <a:srgbClr val="FDF5F5"/>
            </a:solidFill>
            <a:ln w="19050" cap="sq">
              <a:solidFill>
                <a:srgbClr val="F3CFCF"/>
              </a:solidFill>
              <a:prstDash val="solid"/>
              <a:miter/>
            </a:ln>
          </p:spPr>
        </p:sp>
      </p:grpSp>
      <p:sp>
        <p:nvSpPr>
          <p:cNvPr name="TextBox 45" id="45"/>
          <p:cNvSpPr txBox="true"/>
          <p:nvPr/>
        </p:nvSpPr>
        <p:spPr>
          <a:xfrm rot="0">
            <a:off x="8887968" y="8252012"/>
            <a:ext cx="7639812" cy="279025"/>
          </a:xfrm>
          <a:prstGeom prst="rect">
            <a:avLst/>
          </a:prstGeom>
        </p:spPr>
        <p:txBody>
          <a:bodyPr anchor="t" rtlCol="false" tIns="0" lIns="0" bIns="0" rIns="0">
            <a:spAutoFit/>
          </a:bodyPr>
          <a:lstStyle/>
          <a:p>
            <a:pPr algn="l">
              <a:lnSpc>
                <a:spcPts val="2178"/>
              </a:lnSpc>
            </a:pPr>
            <a:r>
              <a:rPr lang="en-US" sz="1650" b="true">
                <a:solidFill>
                  <a:srgbClr val="B4534F"/>
                </a:solidFill>
                <a:latin typeface="Noto Sans Bold"/>
                <a:ea typeface="Noto Sans Bold"/>
                <a:cs typeface="Noto Sans Bold"/>
                <a:sym typeface="Noto Sans Bold"/>
              </a:rPr>
              <a:t>시선이 5초째 청중을 벗어나 있어요</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31</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공통  04</a:t>
            </a:r>
          </a:p>
        </p:txBody>
      </p:sp>
      <p:grpSp>
        <p:nvGrpSpPr>
          <p:cNvPr name="Group 18" id="18"/>
          <p:cNvGrpSpPr/>
          <p:nvPr/>
        </p:nvGrpSpPr>
        <p:grpSpPr>
          <a:xfrm rot="0">
            <a:off x="8503920" y="2616584"/>
            <a:ext cx="8407908" cy="4042458"/>
            <a:chOff x="0" y="0"/>
            <a:chExt cx="11210544" cy="5389944"/>
          </a:xfrm>
        </p:grpSpPr>
        <p:sp>
          <p:nvSpPr>
            <p:cNvPr name="Freeform 19" id="19"/>
            <p:cNvSpPr/>
            <p:nvPr/>
          </p:nvSpPr>
          <p:spPr>
            <a:xfrm flipH="false" flipV="false" rot="0">
              <a:off x="0" y="0"/>
              <a:ext cx="11210544" cy="5390007"/>
            </a:xfrm>
            <a:custGeom>
              <a:avLst/>
              <a:gdLst/>
              <a:ahLst/>
              <a:cxnLst/>
              <a:rect r="r" b="b" t="t" l="l"/>
              <a:pathLst>
                <a:path h="5390007" w="11210544">
                  <a:moveTo>
                    <a:pt x="0" y="352298"/>
                  </a:moveTo>
                  <a:cubicBezTo>
                    <a:pt x="0" y="157734"/>
                    <a:pt x="157734" y="0"/>
                    <a:pt x="352298" y="0"/>
                  </a:cubicBezTo>
                  <a:lnTo>
                    <a:pt x="10858246" y="0"/>
                  </a:lnTo>
                  <a:cubicBezTo>
                    <a:pt x="11052810" y="0"/>
                    <a:pt x="11210544" y="157734"/>
                    <a:pt x="11210544" y="352298"/>
                  </a:cubicBezTo>
                  <a:lnTo>
                    <a:pt x="11210544" y="5037709"/>
                  </a:lnTo>
                  <a:cubicBezTo>
                    <a:pt x="11210544" y="5232273"/>
                    <a:pt x="11052810" y="5390007"/>
                    <a:pt x="10858246" y="5390007"/>
                  </a:cubicBezTo>
                  <a:lnTo>
                    <a:pt x="352298" y="5390007"/>
                  </a:lnTo>
                  <a:cubicBezTo>
                    <a:pt x="157734" y="5390007"/>
                    <a:pt x="0" y="5232273"/>
                    <a:pt x="0" y="5037709"/>
                  </a:cubicBezTo>
                  <a:close/>
                </a:path>
              </a:pathLst>
            </a:custGeom>
            <a:solidFill>
              <a:srgbClr val="141733"/>
            </a:solidFill>
          </p:spPr>
        </p:sp>
      </p:grpSp>
      <p:grpSp>
        <p:nvGrpSpPr>
          <p:cNvPr name="Group 20" id="20"/>
          <p:cNvGrpSpPr/>
          <p:nvPr/>
        </p:nvGrpSpPr>
        <p:grpSpPr>
          <a:xfrm rot="5400000">
            <a:off x="12548673" y="4461510"/>
            <a:ext cx="466344" cy="392325"/>
            <a:chOff x="0" y="0"/>
            <a:chExt cx="621792" cy="523100"/>
          </a:xfrm>
        </p:grpSpPr>
        <p:sp>
          <p:nvSpPr>
            <p:cNvPr name="Freeform 21" id="21"/>
            <p:cNvSpPr/>
            <p:nvPr/>
          </p:nvSpPr>
          <p:spPr>
            <a:xfrm flipH="false" flipV="false" rot="0">
              <a:off x="0" y="0"/>
              <a:ext cx="621792" cy="523113"/>
            </a:xfrm>
            <a:custGeom>
              <a:avLst/>
              <a:gdLst/>
              <a:ahLst/>
              <a:cxnLst/>
              <a:rect r="r" b="b" t="t" l="l"/>
              <a:pathLst>
                <a:path h="523113" w="621792">
                  <a:moveTo>
                    <a:pt x="0" y="523113"/>
                  </a:moveTo>
                  <a:lnTo>
                    <a:pt x="310896" y="0"/>
                  </a:lnTo>
                  <a:lnTo>
                    <a:pt x="621792" y="523113"/>
                  </a:lnTo>
                  <a:close/>
                </a:path>
              </a:pathLst>
            </a:custGeom>
            <a:solidFill>
              <a:srgbClr val="FFFFFF"/>
            </a:solidFill>
          </p:spPr>
        </p:sp>
      </p:grpSp>
      <p:grpSp>
        <p:nvGrpSpPr>
          <p:cNvPr name="Group 22" id="22"/>
          <p:cNvGrpSpPr/>
          <p:nvPr/>
        </p:nvGrpSpPr>
        <p:grpSpPr>
          <a:xfrm rot="0">
            <a:off x="8487251" y="6886013"/>
            <a:ext cx="1295209" cy="805529"/>
            <a:chOff x="0" y="0"/>
            <a:chExt cx="1726946" cy="1074039"/>
          </a:xfrm>
        </p:grpSpPr>
        <p:sp>
          <p:nvSpPr>
            <p:cNvPr name="Freeform 23" id="23"/>
            <p:cNvSpPr/>
            <p:nvPr/>
          </p:nvSpPr>
          <p:spPr>
            <a:xfrm flipH="false" flipV="false" rot="0">
              <a:off x="0" y="0"/>
              <a:ext cx="1726946" cy="1074039"/>
            </a:xfrm>
            <a:custGeom>
              <a:avLst/>
              <a:gdLst/>
              <a:ahLst/>
              <a:cxnLst/>
              <a:rect r="r" b="b" t="t" l="l"/>
              <a:pathLst>
                <a:path h="1074039" w="1726946">
                  <a:moveTo>
                    <a:pt x="0" y="144399"/>
                  </a:moveTo>
                  <a:cubicBezTo>
                    <a:pt x="0" y="64643"/>
                    <a:pt x="64643" y="0"/>
                    <a:pt x="144399" y="0"/>
                  </a:cubicBezTo>
                  <a:lnTo>
                    <a:pt x="1582547" y="0"/>
                  </a:lnTo>
                  <a:cubicBezTo>
                    <a:pt x="1662303" y="0"/>
                    <a:pt x="1726946" y="64643"/>
                    <a:pt x="1726946" y="144399"/>
                  </a:cubicBezTo>
                  <a:lnTo>
                    <a:pt x="1726946" y="929640"/>
                  </a:lnTo>
                  <a:cubicBezTo>
                    <a:pt x="1726946" y="1009396"/>
                    <a:pt x="1662303" y="1074039"/>
                    <a:pt x="1582547" y="1074039"/>
                  </a:cubicBezTo>
                  <a:lnTo>
                    <a:pt x="144399" y="1074039"/>
                  </a:lnTo>
                  <a:cubicBezTo>
                    <a:pt x="64643" y="1074039"/>
                    <a:pt x="0" y="1009396"/>
                    <a:pt x="0" y="929640"/>
                  </a:cubicBezTo>
                  <a:close/>
                </a:path>
              </a:pathLst>
            </a:custGeom>
            <a:solidFill>
              <a:srgbClr val="FFFFFF"/>
            </a:solidFill>
            <a:ln w="33338" cap="sq">
              <a:solidFill>
                <a:srgbClr val="5968DC"/>
              </a:solidFill>
              <a:prstDash val="solid"/>
              <a:miter/>
            </a:ln>
          </p:spPr>
        </p:sp>
      </p:grpSp>
      <p:grpSp>
        <p:nvGrpSpPr>
          <p:cNvPr name="Group 24" id="24"/>
          <p:cNvGrpSpPr/>
          <p:nvPr/>
        </p:nvGrpSpPr>
        <p:grpSpPr>
          <a:xfrm rot="0">
            <a:off x="9920859" y="6893157"/>
            <a:ext cx="1280922" cy="791242"/>
            <a:chOff x="0" y="0"/>
            <a:chExt cx="1707896" cy="1054989"/>
          </a:xfrm>
        </p:grpSpPr>
        <p:sp>
          <p:nvSpPr>
            <p:cNvPr name="Freeform 25" id="25"/>
            <p:cNvSpPr/>
            <p:nvPr/>
          </p:nvSpPr>
          <p:spPr>
            <a:xfrm flipH="false" flipV="false" rot="0">
              <a:off x="0" y="0"/>
              <a:ext cx="1707896" cy="1054989"/>
            </a:xfrm>
            <a:custGeom>
              <a:avLst/>
              <a:gdLst/>
              <a:ahLst/>
              <a:cxnLst/>
              <a:rect r="r" b="b" t="t" l="l"/>
              <a:pathLst>
                <a:path h="1054989" w="1707896">
                  <a:moveTo>
                    <a:pt x="0" y="141859"/>
                  </a:moveTo>
                  <a:cubicBezTo>
                    <a:pt x="0" y="63500"/>
                    <a:pt x="63500" y="0"/>
                    <a:pt x="141859" y="0"/>
                  </a:cubicBezTo>
                  <a:lnTo>
                    <a:pt x="1566037" y="0"/>
                  </a:lnTo>
                  <a:cubicBezTo>
                    <a:pt x="1644396" y="0"/>
                    <a:pt x="1707896" y="63500"/>
                    <a:pt x="1707896" y="141859"/>
                  </a:cubicBezTo>
                  <a:lnTo>
                    <a:pt x="1707896" y="913130"/>
                  </a:lnTo>
                  <a:cubicBezTo>
                    <a:pt x="1707896" y="991489"/>
                    <a:pt x="1644396" y="1054989"/>
                    <a:pt x="1566037" y="1054989"/>
                  </a:cubicBezTo>
                  <a:lnTo>
                    <a:pt x="141859" y="1054989"/>
                  </a:lnTo>
                  <a:cubicBezTo>
                    <a:pt x="63500" y="1054989"/>
                    <a:pt x="0" y="991489"/>
                    <a:pt x="0" y="913130"/>
                  </a:cubicBezTo>
                  <a:close/>
                </a:path>
              </a:pathLst>
            </a:custGeom>
            <a:solidFill>
              <a:srgbClr val="FFFFFF"/>
            </a:solidFill>
            <a:ln w="19050" cap="sq">
              <a:solidFill>
                <a:srgbClr val="E1E6F0"/>
              </a:solidFill>
              <a:prstDash val="solid"/>
              <a:miter/>
            </a:ln>
          </p:spPr>
        </p:sp>
      </p:grpSp>
      <p:grpSp>
        <p:nvGrpSpPr>
          <p:cNvPr name="Group 26" id="26"/>
          <p:cNvGrpSpPr/>
          <p:nvPr/>
        </p:nvGrpSpPr>
        <p:grpSpPr>
          <a:xfrm rot="0">
            <a:off x="11347323" y="6893157"/>
            <a:ext cx="1280922" cy="791242"/>
            <a:chOff x="0" y="0"/>
            <a:chExt cx="1707896" cy="1054989"/>
          </a:xfrm>
        </p:grpSpPr>
        <p:sp>
          <p:nvSpPr>
            <p:cNvPr name="Freeform 27" id="27"/>
            <p:cNvSpPr/>
            <p:nvPr/>
          </p:nvSpPr>
          <p:spPr>
            <a:xfrm flipH="false" flipV="false" rot="0">
              <a:off x="0" y="0"/>
              <a:ext cx="1707896" cy="1054989"/>
            </a:xfrm>
            <a:custGeom>
              <a:avLst/>
              <a:gdLst/>
              <a:ahLst/>
              <a:cxnLst/>
              <a:rect r="r" b="b" t="t" l="l"/>
              <a:pathLst>
                <a:path h="1054989" w="1707896">
                  <a:moveTo>
                    <a:pt x="0" y="141859"/>
                  </a:moveTo>
                  <a:cubicBezTo>
                    <a:pt x="0" y="63500"/>
                    <a:pt x="63500" y="0"/>
                    <a:pt x="141859" y="0"/>
                  </a:cubicBezTo>
                  <a:lnTo>
                    <a:pt x="1566037" y="0"/>
                  </a:lnTo>
                  <a:cubicBezTo>
                    <a:pt x="1644396" y="0"/>
                    <a:pt x="1707896" y="63500"/>
                    <a:pt x="1707896" y="141859"/>
                  </a:cubicBezTo>
                  <a:lnTo>
                    <a:pt x="1707896" y="913130"/>
                  </a:lnTo>
                  <a:cubicBezTo>
                    <a:pt x="1707896" y="991489"/>
                    <a:pt x="1644396" y="1054989"/>
                    <a:pt x="1566037" y="1054989"/>
                  </a:cubicBezTo>
                  <a:lnTo>
                    <a:pt x="141859" y="1054989"/>
                  </a:lnTo>
                  <a:cubicBezTo>
                    <a:pt x="63500" y="1054989"/>
                    <a:pt x="0" y="991489"/>
                    <a:pt x="0" y="913130"/>
                  </a:cubicBezTo>
                  <a:close/>
                </a:path>
              </a:pathLst>
            </a:custGeom>
            <a:solidFill>
              <a:srgbClr val="FFFFFF"/>
            </a:solidFill>
            <a:ln w="19050" cap="sq">
              <a:solidFill>
                <a:srgbClr val="E1E6F0"/>
              </a:solidFill>
              <a:prstDash val="solid"/>
              <a:miter/>
            </a:ln>
          </p:spPr>
        </p:sp>
      </p:grpSp>
      <p:grpSp>
        <p:nvGrpSpPr>
          <p:cNvPr name="Group 28" id="28"/>
          <p:cNvGrpSpPr/>
          <p:nvPr/>
        </p:nvGrpSpPr>
        <p:grpSpPr>
          <a:xfrm rot="0">
            <a:off x="12773787" y="6893157"/>
            <a:ext cx="1280922" cy="791242"/>
            <a:chOff x="0" y="0"/>
            <a:chExt cx="1707896" cy="1054989"/>
          </a:xfrm>
        </p:grpSpPr>
        <p:sp>
          <p:nvSpPr>
            <p:cNvPr name="Freeform 29" id="29"/>
            <p:cNvSpPr/>
            <p:nvPr/>
          </p:nvSpPr>
          <p:spPr>
            <a:xfrm flipH="false" flipV="false" rot="0">
              <a:off x="0" y="0"/>
              <a:ext cx="1707896" cy="1054989"/>
            </a:xfrm>
            <a:custGeom>
              <a:avLst/>
              <a:gdLst/>
              <a:ahLst/>
              <a:cxnLst/>
              <a:rect r="r" b="b" t="t" l="l"/>
              <a:pathLst>
                <a:path h="1054989" w="1707896">
                  <a:moveTo>
                    <a:pt x="0" y="141859"/>
                  </a:moveTo>
                  <a:cubicBezTo>
                    <a:pt x="0" y="63500"/>
                    <a:pt x="63500" y="0"/>
                    <a:pt x="141859" y="0"/>
                  </a:cubicBezTo>
                  <a:lnTo>
                    <a:pt x="1566037" y="0"/>
                  </a:lnTo>
                  <a:cubicBezTo>
                    <a:pt x="1644396" y="0"/>
                    <a:pt x="1707896" y="63500"/>
                    <a:pt x="1707896" y="141859"/>
                  </a:cubicBezTo>
                  <a:lnTo>
                    <a:pt x="1707896" y="913130"/>
                  </a:lnTo>
                  <a:cubicBezTo>
                    <a:pt x="1707896" y="991489"/>
                    <a:pt x="1644396" y="1054989"/>
                    <a:pt x="1566037" y="1054989"/>
                  </a:cubicBezTo>
                  <a:lnTo>
                    <a:pt x="141859" y="1054989"/>
                  </a:lnTo>
                  <a:cubicBezTo>
                    <a:pt x="63500" y="1054989"/>
                    <a:pt x="0" y="991489"/>
                    <a:pt x="0" y="913130"/>
                  </a:cubicBezTo>
                  <a:close/>
                </a:path>
              </a:pathLst>
            </a:custGeom>
            <a:solidFill>
              <a:srgbClr val="FFFFFF"/>
            </a:solidFill>
            <a:ln w="19050" cap="sq">
              <a:solidFill>
                <a:srgbClr val="E1E6F0"/>
              </a:solidFill>
              <a:prstDash val="solid"/>
              <a:miter/>
            </a:ln>
          </p:spPr>
        </p:sp>
      </p:grpSp>
      <p:grpSp>
        <p:nvGrpSpPr>
          <p:cNvPr name="Group 30" id="30"/>
          <p:cNvGrpSpPr/>
          <p:nvPr/>
        </p:nvGrpSpPr>
        <p:grpSpPr>
          <a:xfrm rot="0">
            <a:off x="14200251" y="6893157"/>
            <a:ext cx="1280922" cy="791242"/>
            <a:chOff x="0" y="0"/>
            <a:chExt cx="1707896" cy="1054989"/>
          </a:xfrm>
        </p:grpSpPr>
        <p:sp>
          <p:nvSpPr>
            <p:cNvPr name="Freeform 31" id="31"/>
            <p:cNvSpPr/>
            <p:nvPr/>
          </p:nvSpPr>
          <p:spPr>
            <a:xfrm flipH="false" flipV="false" rot="0">
              <a:off x="0" y="0"/>
              <a:ext cx="1707896" cy="1054989"/>
            </a:xfrm>
            <a:custGeom>
              <a:avLst/>
              <a:gdLst/>
              <a:ahLst/>
              <a:cxnLst/>
              <a:rect r="r" b="b" t="t" l="l"/>
              <a:pathLst>
                <a:path h="1054989" w="1707896">
                  <a:moveTo>
                    <a:pt x="0" y="141859"/>
                  </a:moveTo>
                  <a:cubicBezTo>
                    <a:pt x="0" y="63500"/>
                    <a:pt x="63500" y="0"/>
                    <a:pt x="141859" y="0"/>
                  </a:cubicBezTo>
                  <a:lnTo>
                    <a:pt x="1566037" y="0"/>
                  </a:lnTo>
                  <a:cubicBezTo>
                    <a:pt x="1644396" y="0"/>
                    <a:pt x="1707896" y="63500"/>
                    <a:pt x="1707896" y="141859"/>
                  </a:cubicBezTo>
                  <a:lnTo>
                    <a:pt x="1707896" y="913130"/>
                  </a:lnTo>
                  <a:cubicBezTo>
                    <a:pt x="1707896" y="991489"/>
                    <a:pt x="1644396" y="1054989"/>
                    <a:pt x="1566037" y="1054989"/>
                  </a:cubicBezTo>
                  <a:lnTo>
                    <a:pt x="141859" y="1054989"/>
                  </a:lnTo>
                  <a:cubicBezTo>
                    <a:pt x="63500" y="1054989"/>
                    <a:pt x="0" y="991489"/>
                    <a:pt x="0" y="913130"/>
                  </a:cubicBezTo>
                  <a:close/>
                </a:path>
              </a:pathLst>
            </a:custGeom>
            <a:solidFill>
              <a:srgbClr val="FFFFFF"/>
            </a:solidFill>
            <a:ln w="19050" cap="sq">
              <a:solidFill>
                <a:srgbClr val="E1E6F0"/>
              </a:solidFill>
              <a:prstDash val="solid"/>
              <a:miter/>
            </a:ln>
          </p:spPr>
        </p:sp>
      </p:grpSp>
      <p:grpSp>
        <p:nvGrpSpPr>
          <p:cNvPr name="Group 32" id="32"/>
          <p:cNvGrpSpPr/>
          <p:nvPr/>
        </p:nvGrpSpPr>
        <p:grpSpPr>
          <a:xfrm rot="0">
            <a:off x="15626715" y="6893157"/>
            <a:ext cx="1280922" cy="791242"/>
            <a:chOff x="0" y="0"/>
            <a:chExt cx="1707896" cy="1054989"/>
          </a:xfrm>
        </p:grpSpPr>
        <p:sp>
          <p:nvSpPr>
            <p:cNvPr name="Freeform 33" id="33"/>
            <p:cNvSpPr/>
            <p:nvPr/>
          </p:nvSpPr>
          <p:spPr>
            <a:xfrm flipH="false" flipV="false" rot="0">
              <a:off x="0" y="0"/>
              <a:ext cx="1707896" cy="1054989"/>
            </a:xfrm>
            <a:custGeom>
              <a:avLst/>
              <a:gdLst/>
              <a:ahLst/>
              <a:cxnLst/>
              <a:rect r="r" b="b" t="t" l="l"/>
              <a:pathLst>
                <a:path h="1054989" w="1707896">
                  <a:moveTo>
                    <a:pt x="0" y="141859"/>
                  </a:moveTo>
                  <a:cubicBezTo>
                    <a:pt x="0" y="63500"/>
                    <a:pt x="63500" y="0"/>
                    <a:pt x="141859" y="0"/>
                  </a:cubicBezTo>
                  <a:lnTo>
                    <a:pt x="1566037" y="0"/>
                  </a:lnTo>
                  <a:cubicBezTo>
                    <a:pt x="1644396" y="0"/>
                    <a:pt x="1707896" y="63500"/>
                    <a:pt x="1707896" y="141859"/>
                  </a:cubicBezTo>
                  <a:lnTo>
                    <a:pt x="1707896" y="913130"/>
                  </a:lnTo>
                  <a:cubicBezTo>
                    <a:pt x="1707896" y="991489"/>
                    <a:pt x="1644396" y="1054989"/>
                    <a:pt x="1566037" y="1054989"/>
                  </a:cubicBezTo>
                  <a:lnTo>
                    <a:pt x="141859" y="1054989"/>
                  </a:lnTo>
                  <a:cubicBezTo>
                    <a:pt x="63500" y="1054989"/>
                    <a:pt x="0" y="991489"/>
                    <a:pt x="0" y="913130"/>
                  </a:cubicBezTo>
                  <a:close/>
                </a:path>
              </a:pathLst>
            </a:custGeom>
            <a:solidFill>
              <a:srgbClr val="FFFFFF"/>
            </a:solidFill>
            <a:ln w="19050" cap="sq">
              <a:solidFill>
                <a:srgbClr val="E1E6F0"/>
              </a:solidFill>
              <a:prstDash val="solid"/>
              <a:miter/>
            </a:ln>
          </p:spPr>
        </p:sp>
      </p:grpSp>
      <p:grpSp>
        <p:nvGrpSpPr>
          <p:cNvPr name="Group 34" id="34"/>
          <p:cNvGrpSpPr/>
          <p:nvPr/>
        </p:nvGrpSpPr>
        <p:grpSpPr>
          <a:xfrm rot="0">
            <a:off x="11278172" y="6829044"/>
            <a:ext cx="1419225" cy="919458"/>
            <a:chOff x="0" y="0"/>
            <a:chExt cx="1892300" cy="1225944"/>
          </a:xfrm>
        </p:grpSpPr>
        <p:sp>
          <p:nvSpPr>
            <p:cNvPr name="Freeform 35" id="35"/>
            <p:cNvSpPr/>
            <p:nvPr/>
          </p:nvSpPr>
          <p:spPr>
            <a:xfrm flipH="false" flipV="false" rot="0">
              <a:off x="0" y="0"/>
              <a:ext cx="1892300" cy="1225931"/>
            </a:xfrm>
            <a:custGeom>
              <a:avLst/>
              <a:gdLst/>
              <a:ahLst/>
              <a:cxnLst/>
              <a:rect r="r" b="b" t="t" l="l"/>
              <a:pathLst>
                <a:path h="1225931" w="1892300">
                  <a:moveTo>
                    <a:pt x="0" y="194564"/>
                  </a:moveTo>
                  <a:cubicBezTo>
                    <a:pt x="0" y="87122"/>
                    <a:pt x="87122" y="0"/>
                    <a:pt x="194564" y="0"/>
                  </a:cubicBezTo>
                  <a:lnTo>
                    <a:pt x="1697736" y="0"/>
                  </a:lnTo>
                  <a:cubicBezTo>
                    <a:pt x="1805178" y="0"/>
                    <a:pt x="1892300" y="87122"/>
                    <a:pt x="1892300" y="194564"/>
                  </a:cubicBezTo>
                  <a:lnTo>
                    <a:pt x="1892300" y="1031367"/>
                  </a:lnTo>
                  <a:cubicBezTo>
                    <a:pt x="1892300" y="1138809"/>
                    <a:pt x="1805178" y="1225931"/>
                    <a:pt x="1697736" y="1225931"/>
                  </a:cubicBezTo>
                  <a:lnTo>
                    <a:pt x="194564" y="1225931"/>
                  </a:lnTo>
                  <a:cubicBezTo>
                    <a:pt x="87122" y="1225931"/>
                    <a:pt x="0" y="1138809"/>
                    <a:pt x="0" y="1031367"/>
                  </a:cubicBezTo>
                  <a:close/>
                </a:path>
              </a:pathLst>
            </a:custGeom>
            <a:blipFill>
              <a:blip r:embed="rId3">
                <a:alphaModFix amt="0"/>
              </a:blip>
              <a:stretch>
                <a:fillRect l="-33122" t="0" r="-33122" b="-1"/>
              </a:stretch>
            </a:blipFill>
            <a:ln w="47625" cap="sq">
              <a:solidFill>
                <a:srgbClr val="5968DC"/>
              </a:solidFill>
              <a:prstDash val="solid"/>
              <a:miter/>
            </a:ln>
          </p:spPr>
        </p:sp>
      </p:grpSp>
      <p:grpSp>
        <p:nvGrpSpPr>
          <p:cNvPr name="Group 36" id="36"/>
          <p:cNvGrpSpPr/>
          <p:nvPr/>
        </p:nvGrpSpPr>
        <p:grpSpPr>
          <a:xfrm rot="0">
            <a:off x="8494395" y="7859173"/>
            <a:ext cx="515845" cy="517236"/>
            <a:chOff x="0" y="0"/>
            <a:chExt cx="687794" cy="689648"/>
          </a:xfrm>
        </p:grpSpPr>
        <p:sp>
          <p:nvSpPr>
            <p:cNvPr name="Freeform 37" id="37"/>
            <p:cNvSpPr/>
            <p:nvPr/>
          </p:nvSpPr>
          <p:spPr>
            <a:xfrm flipH="false" flipV="false" rot="0">
              <a:off x="0" y="0"/>
              <a:ext cx="687832" cy="689737"/>
            </a:xfrm>
            <a:custGeom>
              <a:avLst/>
              <a:gdLst/>
              <a:ahLst/>
              <a:cxnLst/>
              <a:rect r="r" b="b" t="t" l="l"/>
              <a:pathLst>
                <a:path h="689737" w="687832">
                  <a:moveTo>
                    <a:pt x="0" y="343916"/>
                  </a:moveTo>
                  <a:cubicBezTo>
                    <a:pt x="0" y="153924"/>
                    <a:pt x="153924" y="0"/>
                    <a:pt x="343916" y="0"/>
                  </a:cubicBezTo>
                  <a:cubicBezTo>
                    <a:pt x="533908" y="0"/>
                    <a:pt x="687832" y="153924"/>
                    <a:pt x="687832" y="343916"/>
                  </a:cubicBezTo>
                  <a:lnTo>
                    <a:pt x="687832" y="345821"/>
                  </a:lnTo>
                  <a:cubicBezTo>
                    <a:pt x="687832" y="535813"/>
                    <a:pt x="533908" y="689737"/>
                    <a:pt x="343916" y="689737"/>
                  </a:cubicBezTo>
                  <a:cubicBezTo>
                    <a:pt x="153924" y="689737"/>
                    <a:pt x="0" y="535686"/>
                    <a:pt x="0" y="345694"/>
                  </a:cubicBezTo>
                  <a:close/>
                </a:path>
              </a:pathLst>
            </a:custGeom>
            <a:solidFill>
              <a:srgbClr val="FFFFFF"/>
            </a:solidFill>
            <a:ln w="19050" cap="sq">
              <a:solidFill>
                <a:srgbClr val="E1E6F0"/>
              </a:solidFill>
              <a:prstDash val="solid"/>
              <a:miter/>
            </a:ln>
          </p:spPr>
        </p:sp>
      </p:grpSp>
      <p:grpSp>
        <p:nvGrpSpPr>
          <p:cNvPr name="Group 38" id="38"/>
          <p:cNvGrpSpPr/>
          <p:nvPr/>
        </p:nvGrpSpPr>
        <p:grpSpPr>
          <a:xfrm rot="0">
            <a:off x="9354312" y="8080429"/>
            <a:ext cx="7543800" cy="74733"/>
            <a:chOff x="0" y="0"/>
            <a:chExt cx="10058400" cy="99644"/>
          </a:xfrm>
        </p:grpSpPr>
        <p:sp>
          <p:nvSpPr>
            <p:cNvPr name="Freeform 39" id="39"/>
            <p:cNvSpPr/>
            <p:nvPr/>
          </p:nvSpPr>
          <p:spPr>
            <a:xfrm flipH="false" flipV="false" rot="0">
              <a:off x="0" y="0"/>
              <a:ext cx="10058400" cy="99569"/>
            </a:xfrm>
            <a:custGeom>
              <a:avLst/>
              <a:gdLst/>
              <a:ahLst/>
              <a:cxnLst/>
              <a:rect r="r" b="b" t="t" l="l"/>
              <a:pathLst>
                <a:path h="99569" w="10058400">
                  <a:moveTo>
                    <a:pt x="0" y="49784"/>
                  </a:moveTo>
                  <a:cubicBezTo>
                    <a:pt x="0" y="22352"/>
                    <a:pt x="22352" y="0"/>
                    <a:pt x="49784" y="0"/>
                  </a:cubicBezTo>
                  <a:lnTo>
                    <a:pt x="10008616" y="0"/>
                  </a:lnTo>
                  <a:cubicBezTo>
                    <a:pt x="10036048" y="0"/>
                    <a:pt x="10058400" y="22352"/>
                    <a:pt x="10058400" y="49784"/>
                  </a:cubicBezTo>
                  <a:cubicBezTo>
                    <a:pt x="10058400" y="77216"/>
                    <a:pt x="10036048" y="99568"/>
                    <a:pt x="10008616" y="99568"/>
                  </a:cubicBezTo>
                  <a:lnTo>
                    <a:pt x="49784" y="99568"/>
                  </a:lnTo>
                  <a:cubicBezTo>
                    <a:pt x="22352" y="99695"/>
                    <a:pt x="0" y="77343"/>
                    <a:pt x="0" y="49784"/>
                  </a:cubicBezTo>
                  <a:close/>
                </a:path>
              </a:pathLst>
            </a:custGeom>
            <a:solidFill>
              <a:srgbClr val="E5E8F0"/>
            </a:solidFill>
          </p:spPr>
        </p:sp>
      </p:grpSp>
      <p:grpSp>
        <p:nvGrpSpPr>
          <p:cNvPr name="Group 40" id="40"/>
          <p:cNvGrpSpPr/>
          <p:nvPr/>
        </p:nvGrpSpPr>
        <p:grpSpPr>
          <a:xfrm rot="0">
            <a:off x="9354312" y="8080429"/>
            <a:ext cx="3291840" cy="74733"/>
            <a:chOff x="0" y="0"/>
            <a:chExt cx="4389120" cy="99644"/>
          </a:xfrm>
        </p:grpSpPr>
        <p:sp>
          <p:nvSpPr>
            <p:cNvPr name="Freeform 41" id="41"/>
            <p:cNvSpPr/>
            <p:nvPr/>
          </p:nvSpPr>
          <p:spPr>
            <a:xfrm flipH="false" flipV="false" rot="0">
              <a:off x="0" y="0"/>
              <a:ext cx="4389120" cy="99569"/>
            </a:xfrm>
            <a:custGeom>
              <a:avLst/>
              <a:gdLst/>
              <a:ahLst/>
              <a:cxnLst/>
              <a:rect r="r" b="b" t="t" l="l"/>
              <a:pathLst>
                <a:path h="99569" w="4389120">
                  <a:moveTo>
                    <a:pt x="0" y="49784"/>
                  </a:moveTo>
                  <a:cubicBezTo>
                    <a:pt x="0" y="22352"/>
                    <a:pt x="22352" y="0"/>
                    <a:pt x="49784" y="0"/>
                  </a:cubicBezTo>
                  <a:lnTo>
                    <a:pt x="4339336" y="0"/>
                  </a:lnTo>
                  <a:cubicBezTo>
                    <a:pt x="4366895" y="0"/>
                    <a:pt x="4389120" y="22352"/>
                    <a:pt x="4389120" y="49784"/>
                  </a:cubicBezTo>
                  <a:cubicBezTo>
                    <a:pt x="4389120" y="77216"/>
                    <a:pt x="4366768" y="99568"/>
                    <a:pt x="4339336" y="99568"/>
                  </a:cubicBezTo>
                  <a:lnTo>
                    <a:pt x="49784" y="99568"/>
                  </a:lnTo>
                  <a:cubicBezTo>
                    <a:pt x="22352" y="99695"/>
                    <a:pt x="0" y="77343"/>
                    <a:pt x="0" y="49784"/>
                  </a:cubicBezTo>
                  <a:close/>
                </a:path>
              </a:pathLst>
            </a:custGeom>
            <a:solidFill>
              <a:srgbClr val="5968DC"/>
            </a:solidFill>
          </p:spPr>
        </p:sp>
      </p:grpSp>
      <p:grpSp>
        <p:nvGrpSpPr>
          <p:cNvPr name="Group 42" id="42"/>
          <p:cNvGrpSpPr/>
          <p:nvPr/>
        </p:nvGrpSpPr>
        <p:grpSpPr>
          <a:xfrm rot="0">
            <a:off x="12548464" y="7978959"/>
            <a:ext cx="277673" cy="277673"/>
            <a:chOff x="0" y="0"/>
            <a:chExt cx="370230" cy="370230"/>
          </a:xfrm>
        </p:grpSpPr>
        <p:sp>
          <p:nvSpPr>
            <p:cNvPr name="Freeform 43" id="43"/>
            <p:cNvSpPr/>
            <p:nvPr/>
          </p:nvSpPr>
          <p:spPr>
            <a:xfrm flipH="false" flipV="false" rot="0">
              <a:off x="0" y="0"/>
              <a:ext cx="370205" cy="370205"/>
            </a:xfrm>
            <a:custGeom>
              <a:avLst/>
              <a:gdLst/>
              <a:ahLst/>
              <a:cxnLst/>
              <a:rect r="r" b="b" t="t" l="l"/>
              <a:pathLst>
                <a:path h="370205" w="370205">
                  <a:moveTo>
                    <a:pt x="0" y="185166"/>
                  </a:moveTo>
                  <a:cubicBezTo>
                    <a:pt x="0" y="82931"/>
                    <a:pt x="82931" y="0"/>
                    <a:pt x="185166" y="0"/>
                  </a:cubicBezTo>
                  <a:cubicBezTo>
                    <a:pt x="287401" y="0"/>
                    <a:pt x="370205" y="82931"/>
                    <a:pt x="370205" y="185166"/>
                  </a:cubicBezTo>
                  <a:cubicBezTo>
                    <a:pt x="370205" y="287401"/>
                    <a:pt x="287401" y="370205"/>
                    <a:pt x="185166" y="370205"/>
                  </a:cubicBezTo>
                  <a:cubicBezTo>
                    <a:pt x="82931" y="370205"/>
                    <a:pt x="0" y="287401"/>
                    <a:pt x="0" y="185166"/>
                  </a:cubicBezTo>
                  <a:close/>
                </a:path>
              </a:pathLst>
            </a:custGeom>
            <a:solidFill>
              <a:srgbClr val="5968DC"/>
            </a:solidFill>
            <a:ln w="28575" cap="sq">
              <a:solidFill>
                <a:srgbClr val="FFFFFF"/>
              </a:solidFill>
              <a:prstDash val="solid"/>
              <a:miter/>
            </a:ln>
          </p:spPr>
        </p:sp>
      </p:grpSp>
      <p:sp>
        <p:nvSpPr>
          <p:cNvPr name="TextBox 44" id="44"/>
          <p:cNvSpPr txBox="true"/>
          <p:nvPr/>
        </p:nvSpPr>
        <p:spPr>
          <a:xfrm rot="0">
            <a:off x="15334488" y="8260651"/>
            <a:ext cx="1577340" cy="212150"/>
          </a:xfrm>
          <a:prstGeom prst="rect">
            <a:avLst/>
          </a:prstGeom>
        </p:spPr>
        <p:txBody>
          <a:bodyPr anchor="t" rtlCol="false" tIns="0" lIns="0" bIns="0" rIns="0">
            <a:spAutoFit/>
          </a:bodyPr>
          <a:lstStyle/>
          <a:p>
            <a:pPr algn="r">
              <a:lnSpc>
                <a:spcPts val="1782"/>
              </a:lnSpc>
            </a:pPr>
            <a:r>
              <a:rPr lang="en-US" sz="1350">
                <a:solidFill>
                  <a:srgbClr val="9AA3B8"/>
                </a:solidFill>
                <a:latin typeface="Noto Sans"/>
                <a:ea typeface="Noto Sans"/>
                <a:cs typeface="Noto Sans"/>
                <a:sym typeface="Noto Sans"/>
              </a:rPr>
              <a:t>0:29 / 1:07</a:t>
            </a:r>
          </a:p>
        </p:txBody>
      </p:sp>
      <p:sp>
        <p:nvSpPr>
          <p:cNvPr name="TextBox 45" id="45"/>
          <p:cNvSpPr txBox="true"/>
          <p:nvPr/>
        </p:nvSpPr>
        <p:spPr>
          <a:xfrm rot="0">
            <a:off x="8590683" y="7967739"/>
            <a:ext cx="356616" cy="247707"/>
          </a:xfrm>
          <a:prstGeom prst="rect">
            <a:avLst/>
          </a:prstGeom>
        </p:spPr>
        <p:txBody>
          <a:bodyPr anchor="t" rtlCol="false" tIns="0" lIns="0" bIns="0" rIns="0">
            <a:spAutoFit/>
          </a:bodyPr>
          <a:lstStyle/>
          <a:p>
            <a:pPr algn="ctr">
              <a:lnSpc>
                <a:spcPts val="1800"/>
              </a:lnSpc>
            </a:pPr>
            <a:r>
              <a:rPr lang="en-US" sz="1500">
                <a:solidFill>
                  <a:srgbClr val="45506E"/>
                </a:solidFill>
                <a:latin typeface="Calibri (MS)"/>
                <a:ea typeface="Calibri (MS)"/>
                <a:cs typeface="Calibri (MS)"/>
                <a:sym typeface="Calibri (MS)"/>
              </a:rPr>
              <a:t>▶</a:t>
            </a:r>
          </a:p>
        </p:txBody>
      </p:sp>
      <p:sp>
        <p:nvSpPr>
          <p:cNvPr name="TextBox 46" id="46"/>
          <p:cNvSpPr txBox="true"/>
          <p:nvPr/>
        </p:nvSpPr>
        <p:spPr>
          <a:xfrm rot="0">
            <a:off x="1357884" y="2722978"/>
            <a:ext cx="15540228" cy="983742"/>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그 순간부터 다시 보기</a:t>
            </a:r>
          </a:p>
        </p:txBody>
      </p:sp>
      <p:sp>
        <p:nvSpPr>
          <p:cNvPr name="TextBox 47" id="47"/>
          <p:cNvSpPr txBox="true"/>
          <p:nvPr/>
        </p:nvSpPr>
        <p:spPr>
          <a:xfrm rot="0">
            <a:off x="1357884" y="3854196"/>
            <a:ext cx="15540228" cy="625983"/>
          </a:xfrm>
          <a:prstGeom prst="rect">
            <a:avLst/>
          </a:prstGeom>
        </p:spPr>
        <p:txBody>
          <a:bodyPr anchor="t" rtlCol="false" tIns="0" lIns="0" bIns="0" rIns="0">
            <a:spAutoFit/>
          </a:bodyPr>
          <a:lstStyle/>
          <a:p>
            <a:pPr algn="l">
              <a:lnSpc>
                <a:spcPts val="3393"/>
              </a:lnSpc>
            </a:pPr>
            <a:r>
              <a:rPr lang="en-US" sz="1950">
                <a:solidFill>
                  <a:srgbClr val="747987"/>
                </a:solidFill>
                <a:latin typeface="Noto Sans"/>
                <a:ea typeface="Noto Sans"/>
                <a:cs typeface="Noto Sans"/>
                <a:sym typeface="Noto Sans"/>
              </a:rPr>
              <a:t>문제 구간을 클릭하면 녹화가 그 지점부터 재생됩니다.</a:t>
            </a:r>
          </a:p>
        </p:txBody>
      </p:sp>
      <p:sp>
        <p:nvSpPr>
          <p:cNvPr name="TextBox 48" id="48"/>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04</a:t>
            </a: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37</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공통  05</a:t>
            </a:r>
          </a:p>
        </p:txBody>
      </p:sp>
      <p:sp>
        <p:nvSpPr>
          <p:cNvPr name="TextBox 18" id="18"/>
          <p:cNvSpPr txBox="true"/>
          <p:nvPr/>
        </p:nvSpPr>
        <p:spPr>
          <a:xfrm rot="0">
            <a:off x="1371600" y="2715578"/>
            <a:ext cx="15540228" cy="983742"/>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시도마다 점수가 </a:t>
            </a:r>
          </a:p>
          <a:p>
            <a:pPr algn="l">
              <a:lnSpc>
                <a:spcPts val="7246"/>
              </a:lnSpc>
            </a:pPr>
            <a:r>
              <a:rPr lang="en-US" sz="4950" b="true">
                <a:solidFill>
                  <a:srgbClr val="11131B"/>
                </a:solidFill>
                <a:latin typeface="Noto Sans Bold"/>
                <a:ea typeface="Noto Sans Bold"/>
                <a:cs typeface="Noto Sans Bold"/>
                <a:sym typeface="Noto Sans Bold"/>
              </a:rPr>
              <a:t>그대로 남습니다</a:t>
            </a:r>
          </a:p>
        </p:txBody>
      </p:sp>
      <p:sp>
        <p:nvSpPr>
          <p:cNvPr name="TextBox 19" id="19"/>
          <p:cNvSpPr txBox="true"/>
          <p:nvPr/>
        </p:nvSpPr>
        <p:spPr>
          <a:xfrm rot="0">
            <a:off x="1371600" y="4699483"/>
            <a:ext cx="15540228" cy="625983"/>
          </a:xfrm>
          <a:prstGeom prst="rect">
            <a:avLst/>
          </a:prstGeom>
        </p:spPr>
        <p:txBody>
          <a:bodyPr anchor="t" rtlCol="false" tIns="0" lIns="0" bIns="0" rIns="0">
            <a:spAutoFit/>
          </a:bodyPr>
          <a:lstStyle/>
          <a:p>
            <a:pPr algn="l">
              <a:lnSpc>
                <a:spcPts val="3393"/>
              </a:lnSpc>
            </a:pPr>
            <a:r>
              <a:rPr lang="en-US" sz="1950">
                <a:solidFill>
                  <a:srgbClr val="747987"/>
                </a:solidFill>
                <a:latin typeface="Noto Sans"/>
                <a:ea typeface="Noto Sans"/>
                <a:cs typeface="Noto Sans"/>
                <a:sym typeface="Noto Sans"/>
              </a:rPr>
              <a:t>생성된 리포트의 실제 점수만 이어서 보여주기 때문에,</a:t>
            </a:r>
          </a:p>
          <a:p>
            <a:pPr algn="l">
              <a:lnSpc>
                <a:spcPts val="3393"/>
              </a:lnSpc>
            </a:pPr>
            <a:r>
              <a:rPr lang="en-US" sz="1950">
                <a:solidFill>
                  <a:srgbClr val="747987"/>
                </a:solidFill>
                <a:latin typeface="Noto Sans"/>
                <a:ea typeface="Noto Sans"/>
                <a:cs typeface="Noto Sans"/>
                <a:sym typeface="Noto Sans"/>
              </a:rPr>
              <a:t>올랐는지 떨어졌는지를 그대로 확인할 수 있습니다.</a:t>
            </a:r>
          </a:p>
        </p:txBody>
      </p:sp>
      <p:grpSp>
        <p:nvGrpSpPr>
          <p:cNvPr name="Group 20" id="20"/>
          <p:cNvGrpSpPr/>
          <p:nvPr/>
        </p:nvGrpSpPr>
        <p:grpSpPr>
          <a:xfrm rot="0">
            <a:off x="8482965" y="2571540"/>
            <a:ext cx="8838438" cy="5436870"/>
            <a:chOff x="0" y="0"/>
            <a:chExt cx="11784584" cy="7249160"/>
          </a:xfrm>
        </p:grpSpPr>
        <p:sp>
          <p:nvSpPr>
            <p:cNvPr name="Freeform 21" id="21"/>
            <p:cNvSpPr/>
            <p:nvPr/>
          </p:nvSpPr>
          <p:spPr>
            <a:xfrm flipH="false" flipV="false" rot="0">
              <a:off x="0" y="0"/>
              <a:ext cx="11784584" cy="7249160"/>
            </a:xfrm>
            <a:custGeom>
              <a:avLst/>
              <a:gdLst/>
              <a:ahLst/>
              <a:cxnLst/>
              <a:rect r="r" b="b" t="t" l="l"/>
              <a:pathLst>
                <a:path h="7249160" w="11784584">
                  <a:moveTo>
                    <a:pt x="0" y="327787"/>
                  </a:moveTo>
                  <a:cubicBezTo>
                    <a:pt x="0" y="146812"/>
                    <a:pt x="146812" y="0"/>
                    <a:pt x="327787" y="0"/>
                  </a:cubicBezTo>
                  <a:lnTo>
                    <a:pt x="11456797" y="0"/>
                  </a:lnTo>
                  <a:cubicBezTo>
                    <a:pt x="11637899" y="0"/>
                    <a:pt x="11784584" y="146812"/>
                    <a:pt x="11784584" y="327787"/>
                  </a:cubicBezTo>
                  <a:lnTo>
                    <a:pt x="11784584" y="6921373"/>
                  </a:lnTo>
                  <a:cubicBezTo>
                    <a:pt x="11784584" y="7102475"/>
                    <a:pt x="11637772" y="7249160"/>
                    <a:pt x="11456797" y="7249160"/>
                  </a:cubicBezTo>
                  <a:lnTo>
                    <a:pt x="327787" y="7249160"/>
                  </a:lnTo>
                  <a:cubicBezTo>
                    <a:pt x="146812" y="7249160"/>
                    <a:pt x="0" y="7102348"/>
                    <a:pt x="0" y="6921373"/>
                  </a:cubicBezTo>
                  <a:close/>
                </a:path>
              </a:pathLst>
            </a:custGeom>
            <a:solidFill>
              <a:srgbClr val="FFFFFF"/>
            </a:solidFill>
            <a:ln w="19050" cap="sq">
              <a:solidFill>
                <a:srgbClr val="E1E6F0"/>
              </a:solidFill>
              <a:prstDash val="solid"/>
              <a:miter/>
            </a:ln>
          </p:spPr>
        </p:sp>
      </p:grpSp>
      <p:sp>
        <p:nvSpPr>
          <p:cNvPr name="TextBox 22" id="22"/>
          <p:cNvSpPr txBox="true"/>
          <p:nvPr/>
        </p:nvSpPr>
        <p:spPr>
          <a:xfrm rot="0">
            <a:off x="8972550" y="2940006"/>
            <a:ext cx="4800600" cy="322983"/>
          </a:xfrm>
          <a:prstGeom prst="rect">
            <a:avLst/>
          </a:prstGeom>
        </p:spPr>
        <p:txBody>
          <a:bodyPr anchor="t" rtlCol="false" tIns="0" lIns="0" bIns="0" rIns="0">
            <a:spAutoFit/>
          </a:bodyPr>
          <a:lstStyle/>
          <a:p>
            <a:pPr algn="l">
              <a:lnSpc>
                <a:spcPts val="2772"/>
              </a:lnSpc>
            </a:pPr>
            <a:r>
              <a:rPr lang="en-US" sz="2100" b="true">
                <a:solidFill>
                  <a:srgbClr val="172346"/>
                </a:solidFill>
                <a:latin typeface="Noto Sans Bold"/>
                <a:ea typeface="Noto Sans Bold"/>
                <a:cs typeface="Noto Sans Bold"/>
                <a:sym typeface="Noto Sans Bold"/>
              </a:rPr>
              <a:t>내 성장 추이</a:t>
            </a:r>
          </a:p>
        </p:txBody>
      </p:sp>
      <p:sp>
        <p:nvSpPr>
          <p:cNvPr name="TextBox 23" id="23"/>
          <p:cNvSpPr txBox="true"/>
          <p:nvPr/>
        </p:nvSpPr>
        <p:spPr>
          <a:xfrm rot="0">
            <a:off x="8972550" y="3469186"/>
            <a:ext cx="7859268" cy="244078"/>
          </a:xfrm>
          <a:prstGeom prst="rect">
            <a:avLst/>
          </a:prstGeom>
        </p:spPr>
        <p:txBody>
          <a:bodyPr anchor="t" rtlCol="false" tIns="0" lIns="0" bIns="0" rIns="0">
            <a:spAutoFit/>
          </a:bodyPr>
          <a:lstStyle/>
          <a:p>
            <a:pPr algn="l">
              <a:lnSpc>
                <a:spcPts val="2070"/>
              </a:lnSpc>
            </a:pPr>
            <a:r>
              <a:rPr lang="en-US" sz="1500">
                <a:solidFill>
                  <a:srgbClr val="9AA3B8"/>
                </a:solidFill>
                <a:latin typeface="Noto Sans"/>
                <a:ea typeface="Noto Sans"/>
                <a:cs typeface="Noto Sans"/>
                <a:sym typeface="Noto Sans"/>
              </a:rPr>
              <a:t>생성된 리포트의 실제 점수만 표시합니다.</a:t>
            </a:r>
          </a:p>
        </p:txBody>
      </p:sp>
      <p:sp>
        <p:nvSpPr>
          <p:cNvPr name="AutoShape 24" id="24"/>
          <p:cNvSpPr/>
          <p:nvPr/>
        </p:nvSpPr>
        <p:spPr>
          <a:xfrm rot="-2026320">
            <a:off x="9527067" y="5779675"/>
            <a:ext cx="3712131" cy="0"/>
          </a:xfrm>
          <a:prstGeom prst="line">
            <a:avLst/>
          </a:prstGeom>
          <a:ln cap="rnd" w="28575">
            <a:solidFill>
              <a:srgbClr val="5968DC"/>
            </a:solidFill>
            <a:prstDash val="solid"/>
            <a:headEnd type="none" len="sm" w="sm"/>
            <a:tailEnd type="none" len="sm" w="sm"/>
          </a:ln>
        </p:spPr>
      </p:sp>
      <p:sp>
        <p:nvSpPr>
          <p:cNvPr name="AutoShape 25" id="25"/>
          <p:cNvSpPr/>
          <p:nvPr/>
        </p:nvSpPr>
        <p:spPr>
          <a:xfrm rot="743100">
            <a:off x="12841615" y="5086693"/>
            <a:ext cx="3159242" cy="0"/>
          </a:xfrm>
          <a:prstGeom prst="line">
            <a:avLst/>
          </a:prstGeom>
          <a:ln cap="rnd" w="28575">
            <a:solidFill>
              <a:srgbClr val="5968DC"/>
            </a:solidFill>
            <a:prstDash val="solid"/>
            <a:headEnd type="none" len="sm" w="sm"/>
            <a:tailEnd type="none" len="sm" w="sm"/>
          </a:ln>
        </p:spPr>
      </p:sp>
      <p:grpSp>
        <p:nvGrpSpPr>
          <p:cNvPr name="Group 26" id="26"/>
          <p:cNvGrpSpPr/>
          <p:nvPr/>
        </p:nvGrpSpPr>
        <p:grpSpPr>
          <a:xfrm rot="0">
            <a:off x="9731645" y="6669481"/>
            <a:ext cx="264890" cy="264890"/>
            <a:chOff x="0" y="0"/>
            <a:chExt cx="353187" cy="353187"/>
          </a:xfrm>
        </p:grpSpPr>
        <p:sp>
          <p:nvSpPr>
            <p:cNvPr name="Freeform 27" id="27"/>
            <p:cNvSpPr/>
            <p:nvPr/>
          </p:nvSpPr>
          <p:spPr>
            <a:xfrm flipH="false" flipV="false" rot="0">
              <a:off x="0" y="0"/>
              <a:ext cx="353187" cy="353187"/>
            </a:xfrm>
            <a:custGeom>
              <a:avLst/>
              <a:gdLst/>
              <a:ahLst/>
              <a:cxnLst/>
              <a:rect r="r" b="b" t="t" l="l"/>
              <a:pathLst>
                <a:path h="353187" w="353187">
                  <a:moveTo>
                    <a:pt x="0" y="176657"/>
                  </a:moveTo>
                  <a:cubicBezTo>
                    <a:pt x="0" y="79121"/>
                    <a:pt x="79121" y="0"/>
                    <a:pt x="176657" y="0"/>
                  </a:cubicBezTo>
                  <a:cubicBezTo>
                    <a:pt x="274193" y="0"/>
                    <a:pt x="353187" y="79121"/>
                    <a:pt x="353187" y="176657"/>
                  </a:cubicBezTo>
                  <a:cubicBezTo>
                    <a:pt x="353187" y="274193"/>
                    <a:pt x="274066" y="353187"/>
                    <a:pt x="176657" y="353187"/>
                  </a:cubicBezTo>
                  <a:cubicBezTo>
                    <a:pt x="79248" y="353187"/>
                    <a:pt x="0" y="274066"/>
                    <a:pt x="0" y="176657"/>
                  </a:cubicBezTo>
                  <a:close/>
                </a:path>
              </a:pathLst>
            </a:custGeom>
            <a:solidFill>
              <a:srgbClr val="FFFFFF"/>
            </a:solidFill>
            <a:ln w="38100" cap="sq">
              <a:solidFill>
                <a:srgbClr val="5968DC"/>
              </a:solidFill>
              <a:prstDash val="solid"/>
              <a:miter/>
            </a:ln>
          </p:spPr>
        </p:sp>
      </p:grpSp>
      <p:sp>
        <p:nvSpPr>
          <p:cNvPr name="TextBox 28" id="28"/>
          <p:cNvSpPr txBox="true"/>
          <p:nvPr/>
        </p:nvSpPr>
        <p:spPr>
          <a:xfrm rot="0">
            <a:off x="9178290" y="6244476"/>
            <a:ext cx="1371600" cy="234325"/>
          </a:xfrm>
          <a:prstGeom prst="rect">
            <a:avLst/>
          </a:prstGeom>
        </p:spPr>
        <p:txBody>
          <a:bodyPr anchor="t" rtlCol="false" tIns="0" lIns="0" bIns="0" rIns="0">
            <a:spAutoFit/>
          </a:bodyPr>
          <a:lstStyle/>
          <a:p>
            <a:pPr algn="ctr">
              <a:lnSpc>
                <a:spcPts val="2070"/>
              </a:lnSpc>
            </a:pPr>
            <a:r>
              <a:rPr lang="en-US" sz="1725" b="true">
                <a:solidFill>
                  <a:srgbClr val="5968DC"/>
                </a:solidFill>
                <a:latin typeface="Noto Sans Bold"/>
                <a:ea typeface="Noto Sans Bold"/>
                <a:cs typeface="Noto Sans Bold"/>
                <a:sym typeface="Noto Sans Bold"/>
              </a:rPr>
              <a:t>44점</a:t>
            </a:r>
          </a:p>
        </p:txBody>
      </p:sp>
      <p:sp>
        <p:nvSpPr>
          <p:cNvPr name="TextBox 29" id="29"/>
          <p:cNvSpPr txBox="true"/>
          <p:nvPr/>
        </p:nvSpPr>
        <p:spPr>
          <a:xfrm rot="0">
            <a:off x="9178290" y="7003523"/>
            <a:ext cx="1371600" cy="201444"/>
          </a:xfrm>
          <a:prstGeom prst="rect">
            <a:avLst/>
          </a:prstGeom>
        </p:spPr>
        <p:txBody>
          <a:bodyPr anchor="t" rtlCol="false" tIns="0" lIns="0" bIns="0" rIns="0">
            <a:spAutoFit/>
          </a:bodyPr>
          <a:lstStyle/>
          <a:p>
            <a:pPr algn="ctr">
              <a:lnSpc>
                <a:spcPts val="1709"/>
              </a:lnSpc>
            </a:pPr>
            <a:r>
              <a:rPr lang="en-US" sz="1425">
                <a:solidFill>
                  <a:srgbClr val="9AA3B8"/>
                </a:solidFill>
                <a:latin typeface="Noto Sans"/>
                <a:ea typeface="Noto Sans"/>
                <a:cs typeface="Noto Sans"/>
                <a:sym typeface="Noto Sans"/>
              </a:rPr>
              <a:t>1회</a:t>
            </a:r>
          </a:p>
        </p:txBody>
      </p:sp>
      <p:grpSp>
        <p:nvGrpSpPr>
          <p:cNvPr name="Group 30" id="30"/>
          <p:cNvGrpSpPr/>
          <p:nvPr/>
        </p:nvGrpSpPr>
        <p:grpSpPr>
          <a:xfrm rot="0">
            <a:off x="12769739" y="4653544"/>
            <a:ext cx="264890" cy="264890"/>
            <a:chOff x="0" y="0"/>
            <a:chExt cx="353187" cy="353187"/>
          </a:xfrm>
        </p:grpSpPr>
        <p:sp>
          <p:nvSpPr>
            <p:cNvPr name="Freeform 31" id="31"/>
            <p:cNvSpPr/>
            <p:nvPr/>
          </p:nvSpPr>
          <p:spPr>
            <a:xfrm flipH="false" flipV="false" rot="0">
              <a:off x="0" y="0"/>
              <a:ext cx="353187" cy="353187"/>
            </a:xfrm>
            <a:custGeom>
              <a:avLst/>
              <a:gdLst/>
              <a:ahLst/>
              <a:cxnLst/>
              <a:rect r="r" b="b" t="t" l="l"/>
              <a:pathLst>
                <a:path h="353187" w="353187">
                  <a:moveTo>
                    <a:pt x="0" y="176657"/>
                  </a:moveTo>
                  <a:cubicBezTo>
                    <a:pt x="0" y="79121"/>
                    <a:pt x="79121" y="0"/>
                    <a:pt x="176657" y="0"/>
                  </a:cubicBezTo>
                  <a:cubicBezTo>
                    <a:pt x="274193" y="0"/>
                    <a:pt x="353187" y="79121"/>
                    <a:pt x="353187" y="176657"/>
                  </a:cubicBezTo>
                  <a:cubicBezTo>
                    <a:pt x="353187" y="274193"/>
                    <a:pt x="274066" y="353187"/>
                    <a:pt x="176657" y="353187"/>
                  </a:cubicBezTo>
                  <a:cubicBezTo>
                    <a:pt x="79248" y="353187"/>
                    <a:pt x="0" y="274066"/>
                    <a:pt x="0" y="176657"/>
                  </a:cubicBezTo>
                  <a:close/>
                </a:path>
              </a:pathLst>
            </a:custGeom>
            <a:solidFill>
              <a:srgbClr val="FFFFFF"/>
            </a:solidFill>
            <a:ln w="38100" cap="sq">
              <a:solidFill>
                <a:srgbClr val="5968DC"/>
              </a:solidFill>
              <a:prstDash val="solid"/>
              <a:miter/>
            </a:ln>
          </p:spPr>
        </p:sp>
      </p:grpSp>
      <p:sp>
        <p:nvSpPr>
          <p:cNvPr name="TextBox 32" id="32"/>
          <p:cNvSpPr txBox="true"/>
          <p:nvPr/>
        </p:nvSpPr>
        <p:spPr>
          <a:xfrm rot="0">
            <a:off x="12216384" y="4228538"/>
            <a:ext cx="1371600" cy="234325"/>
          </a:xfrm>
          <a:prstGeom prst="rect">
            <a:avLst/>
          </a:prstGeom>
        </p:spPr>
        <p:txBody>
          <a:bodyPr anchor="t" rtlCol="false" tIns="0" lIns="0" bIns="0" rIns="0">
            <a:spAutoFit/>
          </a:bodyPr>
          <a:lstStyle/>
          <a:p>
            <a:pPr algn="ctr">
              <a:lnSpc>
                <a:spcPts val="2070"/>
              </a:lnSpc>
            </a:pPr>
            <a:r>
              <a:rPr lang="en-US" sz="1725" b="true">
                <a:solidFill>
                  <a:srgbClr val="5968DC"/>
                </a:solidFill>
                <a:latin typeface="Noto Sans Bold"/>
                <a:ea typeface="Noto Sans Bold"/>
                <a:cs typeface="Noto Sans Bold"/>
                <a:sym typeface="Noto Sans Bold"/>
              </a:rPr>
              <a:t>54점</a:t>
            </a:r>
          </a:p>
        </p:txBody>
      </p:sp>
      <p:sp>
        <p:nvSpPr>
          <p:cNvPr name="TextBox 33" id="33"/>
          <p:cNvSpPr txBox="true"/>
          <p:nvPr/>
        </p:nvSpPr>
        <p:spPr>
          <a:xfrm rot="0">
            <a:off x="12216384" y="4987585"/>
            <a:ext cx="1371600" cy="201444"/>
          </a:xfrm>
          <a:prstGeom prst="rect">
            <a:avLst/>
          </a:prstGeom>
        </p:spPr>
        <p:txBody>
          <a:bodyPr anchor="t" rtlCol="false" tIns="0" lIns="0" bIns="0" rIns="0">
            <a:spAutoFit/>
          </a:bodyPr>
          <a:lstStyle/>
          <a:p>
            <a:pPr algn="ctr">
              <a:lnSpc>
                <a:spcPts val="1709"/>
              </a:lnSpc>
            </a:pPr>
            <a:r>
              <a:rPr lang="en-US" sz="1425">
                <a:solidFill>
                  <a:srgbClr val="9AA3B8"/>
                </a:solidFill>
                <a:latin typeface="Noto Sans"/>
                <a:ea typeface="Noto Sans"/>
                <a:cs typeface="Noto Sans"/>
                <a:sym typeface="Noto Sans"/>
              </a:rPr>
              <a:t>2회</a:t>
            </a:r>
          </a:p>
        </p:txBody>
      </p:sp>
      <p:grpSp>
        <p:nvGrpSpPr>
          <p:cNvPr name="Group 34" id="34"/>
          <p:cNvGrpSpPr/>
          <p:nvPr/>
        </p:nvGrpSpPr>
        <p:grpSpPr>
          <a:xfrm rot="0">
            <a:off x="15807833" y="5283527"/>
            <a:ext cx="264890" cy="264890"/>
            <a:chOff x="0" y="0"/>
            <a:chExt cx="353187" cy="353187"/>
          </a:xfrm>
        </p:grpSpPr>
        <p:sp>
          <p:nvSpPr>
            <p:cNvPr name="Freeform 35" id="35"/>
            <p:cNvSpPr/>
            <p:nvPr/>
          </p:nvSpPr>
          <p:spPr>
            <a:xfrm flipH="false" flipV="false" rot="0">
              <a:off x="0" y="0"/>
              <a:ext cx="353187" cy="353187"/>
            </a:xfrm>
            <a:custGeom>
              <a:avLst/>
              <a:gdLst/>
              <a:ahLst/>
              <a:cxnLst/>
              <a:rect r="r" b="b" t="t" l="l"/>
              <a:pathLst>
                <a:path h="353187" w="353187">
                  <a:moveTo>
                    <a:pt x="0" y="176657"/>
                  </a:moveTo>
                  <a:cubicBezTo>
                    <a:pt x="0" y="79121"/>
                    <a:pt x="79121" y="0"/>
                    <a:pt x="176657" y="0"/>
                  </a:cubicBezTo>
                  <a:cubicBezTo>
                    <a:pt x="274193" y="0"/>
                    <a:pt x="353187" y="79121"/>
                    <a:pt x="353187" y="176657"/>
                  </a:cubicBezTo>
                  <a:cubicBezTo>
                    <a:pt x="353187" y="274193"/>
                    <a:pt x="274066" y="353187"/>
                    <a:pt x="176657" y="353187"/>
                  </a:cubicBezTo>
                  <a:cubicBezTo>
                    <a:pt x="79248" y="353187"/>
                    <a:pt x="0" y="274066"/>
                    <a:pt x="0" y="176657"/>
                  </a:cubicBezTo>
                  <a:close/>
                </a:path>
              </a:pathLst>
            </a:custGeom>
            <a:solidFill>
              <a:srgbClr val="5968DC"/>
            </a:solidFill>
            <a:ln w="38100" cap="sq">
              <a:solidFill>
                <a:srgbClr val="5968DC"/>
              </a:solidFill>
              <a:prstDash val="solid"/>
              <a:miter/>
            </a:ln>
          </p:spPr>
        </p:sp>
      </p:grpSp>
      <p:sp>
        <p:nvSpPr>
          <p:cNvPr name="TextBox 36" id="36"/>
          <p:cNvSpPr txBox="true"/>
          <p:nvPr/>
        </p:nvSpPr>
        <p:spPr>
          <a:xfrm rot="0">
            <a:off x="15254478" y="4858522"/>
            <a:ext cx="1371600" cy="234325"/>
          </a:xfrm>
          <a:prstGeom prst="rect">
            <a:avLst/>
          </a:prstGeom>
        </p:spPr>
        <p:txBody>
          <a:bodyPr anchor="t" rtlCol="false" tIns="0" lIns="0" bIns="0" rIns="0">
            <a:spAutoFit/>
          </a:bodyPr>
          <a:lstStyle/>
          <a:p>
            <a:pPr algn="ctr">
              <a:lnSpc>
                <a:spcPts val="2070"/>
              </a:lnSpc>
            </a:pPr>
            <a:r>
              <a:rPr lang="en-US" sz="1725" b="true">
                <a:solidFill>
                  <a:srgbClr val="5968DC"/>
                </a:solidFill>
                <a:latin typeface="Noto Sans Bold"/>
                <a:ea typeface="Noto Sans Bold"/>
                <a:cs typeface="Noto Sans Bold"/>
                <a:sym typeface="Noto Sans Bold"/>
              </a:rPr>
              <a:t>51점</a:t>
            </a:r>
          </a:p>
        </p:txBody>
      </p:sp>
      <p:sp>
        <p:nvSpPr>
          <p:cNvPr name="TextBox 37" id="37"/>
          <p:cNvSpPr txBox="true"/>
          <p:nvPr/>
        </p:nvSpPr>
        <p:spPr>
          <a:xfrm rot="0">
            <a:off x="15254478" y="5617569"/>
            <a:ext cx="1371600" cy="201444"/>
          </a:xfrm>
          <a:prstGeom prst="rect">
            <a:avLst/>
          </a:prstGeom>
        </p:spPr>
        <p:txBody>
          <a:bodyPr anchor="t" rtlCol="false" tIns="0" lIns="0" bIns="0" rIns="0">
            <a:spAutoFit/>
          </a:bodyPr>
          <a:lstStyle/>
          <a:p>
            <a:pPr algn="ctr">
              <a:lnSpc>
                <a:spcPts val="1709"/>
              </a:lnSpc>
            </a:pPr>
            <a:r>
              <a:rPr lang="en-US" sz="1425">
                <a:solidFill>
                  <a:srgbClr val="9AA3B8"/>
                </a:solidFill>
                <a:latin typeface="Noto Sans"/>
                <a:ea typeface="Noto Sans"/>
                <a:cs typeface="Noto Sans"/>
                <a:sym typeface="Noto Sans"/>
              </a:rPr>
              <a:t>3회</a:t>
            </a:r>
          </a:p>
        </p:txBody>
      </p:sp>
      <p:sp>
        <p:nvSpPr>
          <p:cNvPr name="TextBox 38" id="38"/>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05</a:t>
            </a: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462103"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914731"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367359"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819987"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272615"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725243"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30</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발표  01</a:t>
            </a:r>
          </a:p>
        </p:txBody>
      </p:sp>
      <p:sp>
        <p:nvSpPr>
          <p:cNvPr name="TextBox 18" id="18"/>
          <p:cNvSpPr txBox="true"/>
          <p:nvPr/>
        </p:nvSpPr>
        <p:spPr>
          <a:xfrm rot="0">
            <a:off x="1368733" y="2847238"/>
            <a:ext cx="15544343" cy="762000"/>
          </a:xfrm>
          <a:prstGeom prst="rect">
            <a:avLst/>
          </a:prstGeom>
        </p:spPr>
        <p:txBody>
          <a:bodyPr anchor="t" rtlCol="false" tIns="0" lIns="0" bIns="0" rIns="0">
            <a:spAutoFit/>
          </a:bodyPr>
          <a:lstStyle/>
          <a:p>
            <a:pPr algn="l">
              <a:lnSpc>
                <a:spcPts val="5940"/>
              </a:lnSpc>
            </a:pPr>
            <a:r>
              <a:rPr lang="en-US" sz="4950" b="true">
                <a:solidFill>
                  <a:srgbClr val="11131B"/>
                </a:solidFill>
                <a:latin typeface="Noto Sans Bold"/>
                <a:ea typeface="Noto Sans Bold"/>
                <a:cs typeface="Noto Sans Bold"/>
                <a:sym typeface="Noto Sans Bold"/>
              </a:rPr>
              <a:t>슬라이드</a:t>
            </a:r>
            <a:r>
              <a:rPr lang="en-US" sz="4950" b="true">
                <a:solidFill>
                  <a:srgbClr val="11131B"/>
                </a:solidFill>
                <a:latin typeface="Noto Sans Bold"/>
                <a:ea typeface="Noto Sans Bold"/>
                <a:cs typeface="Noto Sans Bold"/>
                <a:sym typeface="Noto Sans Bold"/>
              </a:rPr>
              <a:t> 핵심 내용 추출,</a:t>
            </a:r>
          </a:p>
        </p:txBody>
      </p:sp>
      <p:sp>
        <p:nvSpPr>
          <p:cNvPr name="TextBox 19" id="19"/>
          <p:cNvSpPr txBox="true"/>
          <p:nvPr/>
        </p:nvSpPr>
        <p:spPr>
          <a:xfrm rot="0">
            <a:off x="1368733" y="3944518"/>
            <a:ext cx="15544343" cy="304800"/>
          </a:xfrm>
          <a:prstGeom prst="rect">
            <a:avLst/>
          </a:prstGeom>
        </p:spPr>
        <p:txBody>
          <a:bodyPr anchor="t" rtlCol="false" tIns="0" lIns="0" bIns="0" rIns="0">
            <a:spAutoFit/>
          </a:bodyPr>
          <a:lstStyle/>
          <a:p>
            <a:pPr algn="l">
              <a:lnSpc>
                <a:spcPts val="2340"/>
              </a:lnSpc>
            </a:pPr>
            <a:r>
              <a:rPr lang="en-US" sz="1950">
                <a:solidFill>
                  <a:srgbClr val="747987"/>
                </a:solidFill>
                <a:latin typeface="Noto Sans"/>
                <a:ea typeface="Noto Sans"/>
                <a:cs typeface="Noto Sans"/>
                <a:sym typeface="Noto Sans"/>
              </a:rPr>
              <a:t>슬라이드별 말하고자 하는 내용을 AI가 추론합니다.</a:t>
            </a:r>
          </a:p>
        </p:txBody>
      </p:sp>
      <p:sp>
        <p:nvSpPr>
          <p:cNvPr name="TextBox 20" id="20"/>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01</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462103"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914731"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367359"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819987"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272615"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725243"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30</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발표  02</a:t>
            </a:r>
          </a:p>
        </p:txBody>
      </p:sp>
      <p:sp>
        <p:nvSpPr>
          <p:cNvPr name="TextBox 18" id="18"/>
          <p:cNvSpPr txBox="true"/>
          <p:nvPr/>
        </p:nvSpPr>
        <p:spPr>
          <a:xfrm rot="0">
            <a:off x="1371600" y="4837769"/>
            <a:ext cx="15540228" cy="867670"/>
          </a:xfrm>
          <a:prstGeom prst="rect">
            <a:avLst/>
          </a:prstGeom>
        </p:spPr>
        <p:txBody>
          <a:bodyPr anchor="t" rtlCol="false" tIns="0" lIns="0" bIns="0" rIns="0">
            <a:spAutoFit/>
          </a:bodyPr>
          <a:lstStyle/>
          <a:p>
            <a:pPr algn="l">
              <a:lnSpc>
                <a:spcPts val="3207"/>
              </a:lnSpc>
            </a:pPr>
            <a:r>
              <a:rPr lang="en-US" sz="2025" b="true">
                <a:solidFill>
                  <a:srgbClr val="172346"/>
                </a:solidFill>
                <a:latin typeface="Noto Sans Bold"/>
                <a:ea typeface="Noto Sans Bold"/>
                <a:cs typeface="Noto Sans Bold"/>
                <a:sym typeface="Noto Sans Bold"/>
              </a:rPr>
              <a:t>슬라이드 1. 이 서비스는 발표 자료와 사용자의 음성·영상을 함께 분석해 발표와 면접 연습을 돕는 AI 기반 도구다. 혼자서도 반복 연습이 가능하고, 발표 습관과 태도까지 분석해 구체적인 개선 피드백을 제공한다.</a:t>
            </a:r>
          </a:p>
        </p:txBody>
      </p:sp>
      <p:grpSp>
        <p:nvGrpSpPr>
          <p:cNvPr name="Group 19" id="19"/>
          <p:cNvGrpSpPr/>
          <p:nvPr/>
        </p:nvGrpSpPr>
        <p:grpSpPr>
          <a:xfrm rot="0">
            <a:off x="1362075" y="5876889"/>
            <a:ext cx="15559278" cy="1418082"/>
            <a:chOff x="0" y="0"/>
            <a:chExt cx="20745704" cy="1890776"/>
          </a:xfrm>
        </p:grpSpPr>
        <p:sp>
          <p:nvSpPr>
            <p:cNvPr name="Freeform 20" id="20"/>
            <p:cNvSpPr/>
            <p:nvPr/>
          </p:nvSpPr>
          <p:spPr>
            <a:xfrm flipH="false" flipV="false" rot="0">
              <a:off x="0" y="0"/>
              <a:ext cx="20745704" cy="1890776"/>
            </a:xfrm>
            <a:custGeom>
              <a:avLst/>
              <a:gdLst/>
              <a:ahLst/>
              <a:cxnLst/>
              <a:rect r="r" b="b" t="t" l="l"/>
              <a:pathLst>
                <a:path h="1890776" w="20745704">
                  <a:moveTo>
                    <a:pt x="0" y="231775"/>
                  </a:moveTo>
                  <a:cubicBezTo>
                    <a:pt x="0" y="103759"/>
                    <a:pt x="103759" y="0"/>
                    <a:pt x="231775" y="0"/>
                  </a:cubicBezTo>
                  <a:lnTo>
                    <a:pt x="20513929" y="0"/>
                  </a:lnTo>
                  <a:cubicBezTo>
                    <a:pt x="20641945" y="0"/>
                    <a:pt x="20745704" y="103759"/>
                    <a:pt x="20745704" y="231775"/>
                  </a:cubicBezTo>
                  <a:lnTo>
                    <a:pt x="20745704" y="1659001"/>
                  </a:lnTo>
                  <a:cubicBezTo>
                    <a:pt x="20745704" y="1787017"/>
                    <a:pt x="20641945" y="1890776"/>
                    <a:pt x="20513929" y="1890776"/>
                  </a:cubicBezTo>
                  <a:lnTo>
                    <a:pt x="231775" y="1890776"/>
                  </a:lnTo>
                  <a:cubicBezTo>
                    <a:pt x="103759" y="1890776"/>
                    <a:pt x="0" y="1787017"/>
                    <a:pt x="0" y="1659001"/>
                  </a:cubicBezTo>
                  <a:close/>
                </a:path>
              </a:pathLst>
            </a:custGeom>
            <a:solidFill>
              <a:srgbClr val="F7F8FB"/>
            </a:solidFill>
            <a:ln w="19050" cap="sq">
              <a:solidFill>
                <a:srgbClr val="E1E6F0"/>
              </a:solidFill>
              <a:prstDash val="solid"/>
              <a:miter/>
            </a:ln>
          </p:spPr>
        </p:sp>
      </p:grpSp>
      <p:sp>
        <p:nvSpPr>
          <p:cNvPr name="TextBox 21" id="21"/>
          <p:cNvSpPr txBox="true"/>
          <p:nvPr/>
        </p:nvSpPr>
        <p:spPr>
          <a:xfrm rot="0">
            <a:off x="1618488" y="6068913"/>
            <a:ext cx="15046452" cy="245840"/>
          </a:xfrm>
          <a:prstGeom prst="rect">
            <a:avLst/>
          </a:prstGeom>
        </p:spPr>
        <p:txBody>
          <a:bodyPr anchor="t" rtlCol="false" tIns="0" lIns="0" bIns="0" rIns="0">
            <a:spAutoFit/>
          </a:bodyPr>
          <a:lstStyle/>
          <a:p>
            <a:pPr algn="l">
              <a:lnSpc>
                <a:spcPts val="1980"/>
              </a:lnSpc>
            </a:pPr>
            <a:r>
              <a:rPr lang="en-US" sz="1500" b="true">
                <a:solidFill>
                  <a:srgbClr val="7D879E"/>
                </a:solidFill>
                <a:latin typeface="Noto Sans Bold"/>
                <a:ea typeface="Noto Sans Bold"/>
                <a:cs typeface="Noto Sans Bold"/>
                <a:sym typeface="Noto Sans Bold"/>
              </a:rPr>
              <a:t>내가 말한 내용</a:t>
            </a:r>
          </a:p>
        </p:txBody>
      </p:sp>
      <p:sp>
        <p:nvSpPr>
          <p:cNvPr name="TextBox 22" id="22"/>
          <p:cNvSpPr txBox="true"/>
          <p:nvPr/>
        </p:nvSpPr>
        <p:spPr>
          <a:xfrm rot="0">
            <a:off x="1618488" y="6423243"/>
            <a:ext cx="15046452" cy="405422"/>
          </a:xfrm>
          <a:prstGeom prst="rect">
            <a:avLst/>
          </a:prstGeom>
        </p:spPr>
        <p:txBody>
          <a:bodyPr anchor="t" rtlCol="false" tIns="0" lIns="0" bIns="0" rIns="0">
            <a:spAutoFit/>
          </a:bodyPr>
          <a:lstStyle/>
          <a:p>
            <a:pPr algn="l">
              <a:lnSpc>
                <a:spcPts val="2925"/>
              </a:lnSpc>
            </a:pPr>
            <a:r>
              <a:rPr lang="en-US" sz="1875">
                <a:solidFill>
                  <a:srgbClr val="3F4A63"/>
                </a:solidFill>
                <a:latin typeface="Noto Sans"/>
                <a:ea typeface="Noto Sans"/>
                <a:cs typeface="Noto Sans"/>
                <a:sym typeface="Noto Sans"/>
              </a:rPr>
              <a:t>아이돔 서비스 소개 발표 시작하겠습니다. 문제상 서비스 목표에 대해서 말씀을 드리겠습니다.</a:t>
            </a:r>
          </a:p>
        </p:txBody>
      </p:sp>
      <p:grpSp>
        <p:nvGrpSpPr>
          <p:cNvPr name="Group 23" id="23"/>
          <p:cNvGrpSpPr/>
          <p:nvPr/>
        </p:nvGrpSpPr>
        <p:grpSpPr>
          <a:xfrm rot="0">
            <a:off x="1362075" y="7467945"/>
            <a:ext cx="15559278" cy="2241042"/>
            <a:chOff x="0" y="0"/>
            <a:chExt cx="20745704" cy="2988056"/>
          </a:xfrm>
        </p:grpSpPr>
        <p:sp>
          <p:nvSpPr>
            <p:cNvPr name="Freeform 24" id="24"/>
            <p:cNvSpPr/>
            <p:nvPr/>
          </p:nvSpPr>
          <p:spPr>
            <a:xfrm flipH="false" flipV="false" rot="0">
              <a:off x="0" y="0"/>
              <a:ext cx="20745704" cy="2988056"/>
            </a:xfrm>
            <a:custGeom>
              <a:avLst/>
              <a:gdLst/>
              <a:ahLst/>
              <a:cxnLst/>
              <a:rect r="r" b="b" t="t" l="l"/>
              <a:pathLst>
                <a:path h="2988056" w="20745704">
                  <a:moveTo>
                    <a:pt x="0" y="230505"/>
                  </a:moveTo>
                  <a:cubicBezTo>
                    <a:pt x="0" y="103251"/>
                    <a:pt x="103251" y="0"/>
                    <a:pt x="230505" y="0"/>
                  </a:cubicBezTo>
                  <a:lnTo>
                    <a:pt x="20515199" y="0"/>
                  </a:lnTo>
                  <a:cubicBezTo>
                    <a:pt x="20642580" y="0"/>
                    <a:pt x="20745704" y="103251"/>
                    <a:pt x="20745704" y="230505"/>
                  </a:cubicBezTo>
                  <a:lnTo>
                    <a:pt x="20745704" y="2757551"/>
                  </a:lnTo>
                  <a:cubicBezTo>
                    <a:pt x="20745704" y="2884932"/>
                    <a:pt x="20642453" y="2988056"/>
                    <a:pt x="20515199" y="2988056"/>
                  </a:cubicBezTo>
                  <a:lnTo>
                    <a:pt x="230505" y="2988056"/>
                  </a:lnTo>
                  <a:cubicBezTo>
                    <a:pt x="103251" y="2988056"/>
                    <a:pt x="0" y="2884805"/>
                    <a:pt x="0" y="2757551"/>
                  </a:cubicBezTo>
                  <a:close/>
                </a:path>
              </a:pathLst>
            </a:custGeom>
            <a:solidFill>
              <a:srgbClr val="FDF5F5"/>
            </a:solidFill>
            <a:ln w="19050" cap="sq">
              <a:solidFill>
                <a:srgbClr val="F3CFCF"/>
              </a:solidFill>
              <a:prstDash val="solid"/>
              <a:miter/>
            </a:ln>
          </p:spPr>
        </p:sp>
      </p:grpSp>
      <p:sp>
        <p:nvSpPr>
          <p:cNvPr name="TextBox 25" id="25"/>
          <p:cNvSpPr txBox="true"/>
          <p:nvPr/>
        </p:nvSpPr>
        <p:spPr>
          <a:xfrm rot="0">
            <a:off x="1618488" y="7659969"/>
            <a:ext cx="15046452" cy="245840"/>
          </a:xfrm>
          <a:prstGeom prst="rect">
            <a:avLst/>
          </a:prstGeom>
        </p:spPr>
        <p:txBody>
          <a:bodyPr anchor="t" rtlCol="false" tIns="0" lIns="0" bIns="0" rIns="0">
            <a:spAutoFit/>
          </a:bodyPr>
          <a:lstStyle/>
          <a:p>
            <a:pPr algn="l">
              <a:lnSpc>
                <a:spcPts val="1980"/>
              </a:lnSpc>
            </a:pPr>
            <a:r>
              <a:rPr lang="en-US" sz="1500" b="true">
                <a:solidFill>
                  <a:srgbClr val="B4534F"/>
                </a:solidFill>
                <a:latin typeface="Noto Sans Bold"/>
                <a:ea typeface="Noto Sans Bold"/>
                <a:cs typeface="Noto Sans Bold"/>
                <a:sym typeface="Noto Sans Bold"/>
              </a:rPr>
              <a:t>AI 피드백</a:t>
            </a:r>
          </a:p>
        </p:txBody>
      </p:sp>
      <p:sp>
        <p:nvSpPr>
          <p:cNvPr name="TextBox 26" id="26"/>
          <p:cNvSpPr txBox="true"/>
          <p:nvPr/>
        </p:nvSpPr>
        <p:spPr>
          <a:xfrm rot="0">
            <a:off x="1618488" y="8023824"/>
            <a:ext cx="15046452" cy="1117921"/>
          </a:xfrm>
          <a:prstGeom prst="rect">
            <a:avLst/>
          </a:prstGeom>
        </p:spPr>
        <p:txBody>
          <a:bodyPr anchor="t" rtlCol="false" tIns="0" lIns="0" bIns="0" rIns="0">
            <a:spAutoFit/>
          </a:bodyPr>
          <a:lstStyle/>
          <a:p>
            <a:pPr algn="l">
              <a:lnSpc>
                <a:spcPts val="2851"/>
              </a:lnSpc>
            </a:pPr>
            <a:r>
              <a:rPr lang="en-US" sz="1800">
                <a:solidFill>
                  <a:srgbClr val="7A4340"/>
                </a:solidFill>
                <a:latin typeface="Noto Sans"/>
                <a:ea typeface="Noto Sans"/>
                <a:cs typeface="Noto Sans"/>
                <a:sym typeface="Noto Sans"/>
              </a:rPr>
              <a:t>발화는 발표 시작과 서비스 목표를 언급하는 수준에 그쳐, 이 서비스가 발표 자료와 음성·영상을 함께 분석하는 AI 도구라는 핵심과 혼자 반복 연습, 발표 습관·태도 분석, 구체적 피드백 제공 같은 중요한 내용을 거의 설명하지 못했습니다. 슬라이드의 핵심 기능과 차별점을 구체적으로 풀어 설명하고, 왜 이 서비스가 발표와 면접 연습에 도움이 되는지까지 연결해 주면 훨씬 좋아집니다.</a:t>
            </a:r>
          </a:p>
        </p:txBody>
      </p:sp>
      <p:sp>
        <p:nvSpPr>
          <p:cNvPr name="TextBox 27" id="27"/>
          <p:cNvSpPr txBox="true"/>
          <p:nvPr/>
        </p:nvSpPr>
        <p:spPr>
          <a:xfrm rot="0">
            <a:off x="1368733" y="2847238"/>
            <a:ext cx="15544343" cy="762000"/>
          </a:xfrm>
          <a:prstGeom prst="rect">
            <a:avLst/>
          </a:prstGeom>
        </p:spPr>
        <p:txBody>
          <a:bodyPr anchor="t" rtlCol="false" tIns="0" lIns="0" bIns="0" rIns="0">
            <a:spAutoFit/>
          </a:bodyPr>
          <a:lstStyle/>
          <a:p>
            <a:pPr algn="l">
              <a:lnSpc>
                <a:spcPts val="5940"/>
              </a:lnSpc>
            </a:pPr>
            <a:r>
              <a:rPr lang="en-US" sz="4950" b="true">
                <a:solidFill>
                  <a:srgbClr val="11131B"/>
                </a:solidFill>
                <a:latin typeface="Noto Sans Bold"/>
                <a:ea typeface="Noto Sans Bold"/>
                <a:cs typeface="Noto Sans Bold"/>
                <a:sym typeface="Noto Sans Bold"/>
              </a:rPr>
              <a:t>슬라이드별 리포트</a:t>
            </a:r>
          </a:p>
        </p:txBody>
      </p:sp>
      <p:sp>
        <p:nvSpPr>
          <p:cNvPr name="TextBox 28" id="28"/>
          <p:cNvSpPr txBox="true"/>
          <p:nvPr/>
        </p:nvSpPr>
        <p:spPr>
          <a:xfrm rot="0">
            <a:off x="1368733" y="3944518"/>
            <a:ext cx="15544343" cy="304800"/>
          </a:xfrm>
          <a:prstGeom prst="rect">
            <a:avLst/>
          </a:prstGeom>
        </p:spPr>
        <p:txBody>
          <a:bodyPr anchor="t" rtlCol="false" tIns="0" lIns="0" bIns="0" rIns="0">
            <a:spAutoFit/>
          </a:bodyPr>
          <a:lstStyle/>
          <a:p>
            <a:pPr algn="l">
              <a:lnSpc>
                <a:spcPts val="2340"/>
              </a:lnSpc>
            </a:pPr>
            <a:r>
              <a:rPr lang="en-US" sz="1950">
                <a:solidFill>
                  <a:srgbClr val="747987"/>
                </a:solidFill>
                <a:latin typeface="Noto Sans"/>
                <a:ea typeface="Noto Sans"/>
                <a:cs typeface="Noto Sans"/>
                <a:sym typeface="Noto Sans"/>
              </a:rPr>
              <a:t>슬라이드별 발표 내용을 바탕으로 AI가 피드백을 제공합니다.</a:t>
            </a:r>
          </a:p>
        </p:txBody>
      </p:sp>
      <p:sp>
        <p:nvSpPr>
          <p:cNvPr name="TextBox 29" id="29"/>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02</a:t>
            </a: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34</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발표  03</a:t>
            </a:r>
          </a:p>
        </p:txBody>
      </p:sp>
      <p:grpSp>
        <p:nvGrpSpPr>
          <p:cNvPr name="Group 18" id="18"/>
          <p:cNvGrpSpPr/>
          <p:nvPr/>
        </p:nvGrpSpPr>
        <p:grpSpPr>
          <a:xfrm rot="0">
            <a:off x="8988095" y="2924293"/>
            <a:ext cx="7927848" cy="5108483"/>
            <a:chOff x="0" y="0"/>
            <a:chExt cx="11210544" cy="7223760"/>
          </a:xfrm>
        </p:grpSpPr>
        <p:sp>
          <p:nvSpPr>
            <p:cNvPr name="Freeform 19" id="19"/>
            <p:cNvSpPr/>
            <p:nvPr/>
          </p:nvSpPr>
          <p:spPr>
            <a:xfrm flipH="false" flipV="false" rot="0">
              <a:off x="0" y="0"/>
              <a:ext cx="11210544" cy="7223760"/>
            </a:xfrm>
            <a:custGeom>
              <a:avLst/>
              <a:gdLst/>
              <a:ahLst/>
              <a:cxnLst/>
              <a:rect r="r" b="b" t="t" l="l"/>
              <a:pathLst>
                <a:path h="7223760" w="11210544">
                  <a:moveTo>
                    <a:pt x="0" y="261747"/>
                  </a:moveTo>
                  <a:cubicBezTo>
                    <a:pt x="0" y="117221"/>
                    <a:pt x="117221" y="0"/>
                    <a:pt x="261747" y="0"/>
                  </a:cubicBezTo>
                  <a:lnTo>
                    <a:pt x="10948797" y="0"/>
                  </a:lnTo>
                  <a:cubicBezTo>
                    <a:pt x="11093323" y="0"/>
                    <a:pt x="11210544" y="117221"/>
                    <a:pt x="11210544" y="261747"/>
                  </a:cubicBezTo>
                  <a:lnTo>
                    <a:pt x="11210544" y="6962013"/>
                  </a:lnTo>
                  <a:cubicBezTo>
                    <a:pt x="11210544" y="7106539"/>
                    <a:pt x="11093323" y="7223760"/>
                    <a:pt x="10948797" y="7223760"/>
                  </a:cubicBezTo>
                  <a:lnTo>
                    <a:pt x="261747" y="7223760"/>
                  </a:lnTo>
                  <a:cubicBezTo>
                    <a:pt x="117221" y="7223760"/>
                    <a:pt x="0" y="7106539"/>
                    <a:pt x="0" y="6962013"/>
                  </a:cubicBezTo>
                  <a:close/>
                </a:path>
              </a:pathLst>
            </a:custGeom>
            <a:solidFill>
              <a:srgbClr val="141733"/>
            </a:solidFill>
          </p:spPr>
        </p:sp>
      </p:grpSp>
      <p:grpSp>
        <p:nvGrpSpPr>
          <p:cNvPr name="Group 20" id="20"/>
          <p:cNvGrpSpPr/>
          <p:nvPr/>
        </p:nvGrpSpPr>
        <p:grpSpPr>
          <a:xfrm rot="0">
            <a:off x="9228125" y="3146460"/>
            <a:ext cx="7447788" cy="730225"/>
            <a:chOff x="0" y="0"/>
            <a:chExt cx="9930384" cy="973633"/>
          </a:xfrm>
        </p:grpSpPr>
        <p:sp>
          <p:nvSpPr>
            <p:cNvPr name="Freeform 21" id="21"/>
            <p:cNvSpPr/>
            <p:nvPr/>
          </p:nvSpPr>
          <p:spPr>
            <a:xfrm flipH="false" flipV="false" rot="0">
              <a:off x="0" y="0"/>
              <a:ext cx="9930384" cy="973582"/>
            </a:xfrm>
            <a:custGeom>
              <a:avLst/>
              <a:gdLst/>
              <a:ahLst/>
              <a:cxnLst/>
              <a:rect r="r" b="b" t="t" l="l"/>
              <a:pathLst>
                <a:path h="973582" w="9930384">
                  <a:moveTo>
                    <a:pt x="0" y="218059"/>
                  </a:moveTo>
                  <a:cubicBezTo>
                    <a:pt x="0" y="97663"/>
                    <a:pt x="97663" y="0"/>
                    <a:pt x="218059" y="0"/>
                  </a:cubicBezTo>
                  <a:lnTo>
                    <a:pt x="9712325" y="0"/>
                  </a:lnTo>
                  <a:cubicBezTo>
                    <a:pt x="9832721" y="0"/>
                    <a:pt x="9930384" y="97663"/>
                    <a:pt x="9930384" y="218059"/>
                  </a:cubicBezTo>
                  <a:lnTo>
                    <a:pt x="9930384" y="755523"/>
                  </a:lnTo>
                  <a:cubicBezTo>
                    <a:pt x="9930384" y="875919"/>
                    <a:pt x="9832721" y="973582"/>
                    <a:pt x="9712325" y="973582"/>
                  </a:cubicBezTo>
                  <a:lnTo>
                    <a:pt x="218059" y="973582"/>
                  </a:lnTo>
                  <a:cubicBezTo>
                    <a:pt x="97663" y="973582"/>
                    <a:pt x="0" y="876046"/>
                    <a:pt x="0" y="755523"/>
                  </a:cubicBezTo>
                  <a:close/>
                </a:path>
              </a:pathLst>
            </a:custGeom>
            <a:solidFill>
              <a:srgbClr val="FFFFFF"/>
            </a:solidFill>
          </p:spPr>
        </p:sp>
      </p:grpSp>
      <p:sp>
        <p:nvSpPr>
          <p:cNvPr name="TextBox 22" id="22"/>
          <p:cNvSpPr txBox="true"/>
          <p:nvPr/>
        </p:nvSpPr>
        <p:spPr>
          <a:xfrm rot="0">
            <a:off x="9436777" y="3340160"/>
            <a:ext cx="6761988" cy="271529"/>
          </a:xfrm>
          <a:prstGeom prst="rect">
            <a:avLst/>
          </a:prstGeom>
        </p:spPr>
        <p:txBody>
          <a:bodyPr anchor="t" rtlCol="false" tIns="0" lIns="0" bIns="0" rIns="0">
            <a:spAutoFit/>
          </a:bodyPr>
          <a:lstStyle/>
          <a:p>
            <a:pPr algn="l">
              <a:lnSpc>
                <a:spcPts val="2483"/>
              </a:lnSpc>
            </a:pPr>
            <a:r>
              <a:rPr lang="en-US" sz="1800" b="true">
                <a:solidFill>
                  <a:srgbClr val="172346"/>
                </a:solidFill>
                <a:latin typeface="Noto Sans Bold"/>
                <a:ea typeface="Noto Sans Bold"/>
                <a:cs typeface="Noto Sans Bold"/>
                <a:sym typeface="Noto Sans Bold"/>
              </a:rPr>
              <a:t>Q. 본인을 간단히 소개해 주세요.</a:t>
            </a:r>
          </a:p>
        </p:txBody>
      </p:sp>
      <p:grpSp>
        <p:nvGrpSpPr>
          <p:cNvPr name="Group 23" id="23"/>
          <p:cNvGrpSpPr/>
          <p:nvPr/>
        </p:nvGrpSpPr>
        <p:grpSpPr>
          <a:xfrm rot="0">
            <a:off x="11800513" y="4529728"/>
            <a:ext cx="1822952" cy="1823828"/>
            <a:chOff x="0" y="0"/>
            <a:chExt cx="2430602" cy="2431771"/>
          </a:xfrm>
        </p:grpSpPr>
        <p:sp>
          <p:nvSpPr>
            <p:cNvPr name="Freeform 24" id="24"/>
            <p:cNvSpPr/>
            <p:nvPr/>
          </p:nvSpPr>
          <p:spPr>
            <a:xfrm flipH="false" flipV="false" rot="0">
              <a:off x="0" y="0"/>
              <a:ext cx="2430526" cy="2431796"/>
            </a:xfrm>
            <a:custGeom>
              <a:avLst/>
              <a:gdLst/>
              <a:ahLst/>
              <a:cxnLst/>
              <a:rect r="r" b="b" t="t" l="l"/>
              <a:pathLst>
                <a:path h="2431796" w="2430526">
                  <a:moveTo>
                    <a:pt x="0" y="1215898"/>
                  </a:moveTo>
                  <a:cubicBezTo>
                    <a:pt x="0" y="544322"/>
                    <a:pt x="544068" y="0"/>
                    <a:pt x="1215263" y="0"/>
                  </a:cubicBezTo>
                  <a:cubicBezTo>
                    <a:pt x="1886458" y="0"/>
                    <a:pt x="2430526" y="544322"/>
                    <a:pt x="2430526" y="1215898"/>
                  </a:cubicBezTo>
                  <a:cubicBezTo>
                    <a:pt x="2430526" y="1887474"/>
                    <a:pt x="1886458" y="2431796"/>
                    <a:pt x="1215263" y="2431796"/>
                  </a:cubicBezTo>
                  <a:cubicBezTo>
                    <a:pt x="544068" y="2431796"/>
                    <a:pt x="0" y="1887347"/>
                    <a:pt x="0" y="1215898"/>
                  </a:cubicBezTo>
                  <a:close/>
                </a:path>
              </a:pathLst>
            </a:custGeom>
            <a:blipFill>
              <a:blip r:embed="rId3">
                <a:alphaModFix amt="0"/>
              </a:blip>
              <a:stretch>
                <a:fillRect l="-78367" t="0" r="-78370" b="1"/>
              </a:stretch>
            </a:blipFill>
            <a:ln w="57150" cap="sq">
              <a:solidFill>
                <a:srgbClr val="FFFFFF"/>
              </a:solidFill>
              <a:prstDash val="solid"/>
              <a:miter/>
            </a:ln>
          </p:spPr>
        </p:sp>
      </p:grpSp>
      <p:sp>
        <p:nvSpPr>
          <p:cNvPr name="TextBox 25" id="25"/>
          <p:cNvSpPr txBox="true"/>
          <p:nvPr/>
        </p:nvSpPr>
        <p:spPr>
          <a:xfrm rot="0">
            <a:off x="12472718" y="4941580"/>
            <a:ext cx="479301" cy="1000125"/>
          </a:xfrm>
          <a:prstGeom prst="rect">
            <a:avLst/>
          </a:prstGeom>
        </p:spPr>
        <p:txBody>
          <a:bodyPr anchor="t" rtlCol="false" tIns="0" lIns="0" bIns="0" rIns="0">
            <a:spAutoFit/>
          </a:bodyPr>
          <a:lstStyle/>
          <a:p>
            <a:pPr algn="l">
              <a:lnSpc>
                <a:spcPts val="7920"/>
              </a:lnSpc>
            </a:pPr>
            <a:r>
              <a:rPr lang="en-US" sz="6600" b="true">
                <a:solidFill>
                  <a:srgbClr val="FFFFFF"/>
                </a:solidFill>
                <a:latin typeface="Noto Sans Bold"/>
                <a:ea typeface="Noto Sans Bold"/>
                <a:cs typeface="Noto Sans Bold"/>
                <a:sym typeface="Noto Sans Bold"/>
              </a:rPr>
              <a:t>5</a:t>
            </a:r>
          </a:p>
        </p:txBody>
      </p:sp>
      <p:sp>
        <p:nvSpPr>
          <p:cNvPr name="TextBox 26" id="26"/>
          <p:cNvSpPr txBox="true"/>
          <p:nvPr/>
        </p:nvSpPr>
        <p:spPr>
          <a:xfrm rot="0">
            <a:off x="8919515" y="6786572"/>
            <a:ext cx="7584948" cy="253079"/>
          </a:xfrm>
          <a:prstGeom prst="rect">
            <a:avLst/>
          </a:prstGeom>
        </p:spPr>
        <p:txBody>
          <a:bodyPr anchor="t" rtlCol="false" tIns="0" lIns="0" bIns="0" rIns="0">
            <a:spAutoFit/>
          </a:bodyPr>
          <a:lstStyle/>
          <a:p>
            <a:pPr algn="ctr">
              <a:lnSpc>
                <a:spcPts val="2376"/>
              </a:lnSpc>
            </a:pPr>
            <a:r>
              <a:rPr lang="en-US" sz="1800">
                <a:solidFill>
                  <a:srgbClr val="8FA9F5"/>
                </a:solidFill>
                <a:latin typeface="Noto Sans"/>
                <a:ea typeface="Noto Sans"/>
                <a:cs typeface="Noto Sans"/>
                <a:sym typeface="Noto Sans"/>
              </a:rPr>
              <a:t>답변 준비 시간</a:t>
            </a:r>
          </a:p>
        </p:txBody>
      </p:sp>
      <p:sp>
        <p:nvSpPr>
          <p:cNvPr name="TextBox 27" id="27"/>
          <p:cNvSpPr txBox="true"/>
          <p:nvPr/>
        </p:nvSpPr>
        <p:spPr>
          <a:xfrm rot="0">
            <a:off x="1371600" y="2729903"/>
            <a:ext cx="7308449" cy="881786"/>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슬라이드별 강점/약점 분석</a:t>
            </a:r>
          </a:p>
        </p:txBody>
      </p:sp>
      <p:sp>
        <p:nvSpPr>
          <p:cNvPr name="TextBox 28" id="28"/>
          <p:cNvSpPr txBox="true"/>
          <p:nvPr/>
        </p:nvSpPr>
        <p:spPr>
          <a:xfrm rot="0">
            <a:off x="1371600" y="3771910"/>
            <a:ext cx="15540228" cy="399669"/>
          </a:xfrm>
          <a:prstGeom prst="rect">
            <a:avLst/>
          </a:prstGeom>
        </p:spPr>
        <p:txBody>
          <a:bodyPr anchor="t" rtlCol="false" tIns="0" lIns="0" bIns="0" rIns="0">
            <a:spAutoFit/>
          </a:bodyPr>
          <a:lstStyle/>
          <a:p>
            <a:pPr algn="l">
              <a:lnSpc>
                <a:spcPts val="3393"/>
              </a:lnSpc>
            </a:pPr>
            <a:r>
              <a:rPr lang="en-US" sz="1950">
                <a:solidFill>
                  <a:srgbClr val="747987"/>
                </a:solidFill>
                <a:latin typeface="Noto Sans"/>
                <a:ea typeface="Noto Sans"/>
                <a:cs typeface="Noto Sans"/>
                <a:sym typeface="Noto Sans"/>
              </a:rPr>
              <a:t>슬라이드별 발표 내용의 강점과 약점을 발화 단위로 표시합니다.</a:t>
            </a:r>
          </a:p>
        </p:txBody>
      </p:sp>
      <p:sp>
        <p:nvSpPr>
          <p:cNvPr name="TextBox 29" id="29"/>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03</a:t>
            </a:r>
          </a:p>
        </p:txBody>
      </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32</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발표  04</a:t>
            </a:r>
          </a:p>
        </p:txBody>
      </p:sp>
      <p:sp>
        <p:nvSpPr>
          <p:cNvPr name="TextBox 18" id="18"/>
          <p:cNvSpPr txBox="true"/>
          <p:nvPr/>
        </p:nvSpPr>
        <p:spPr>
          <a:xfrm rot="0">
            <a:off x="1371600" y="2729903"/>
            <a:ext cx="15540228" cy="983742"/>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발표가 끝나면 </a:t>
            </a:r>
          </a:p>
          <a:p>
            <a:pPr algn="l">
              <a:lnSpc>
                <a:spcPts val="7246"/>
              </a:lnSpc>
            </a:pPr>
            <a:r>
              <a:rPr lang="en-US" sz="4950" b="true">
                <a:solidFill>
                  <a:srgbClr val="11131B"/>
                </a:solidFill>
                <a:latin typeface="Noto Sans Bold"/>
                <a:ea typeface="Noto Sans Bold"/>
                <a:cs typeface="Noto Sans Bold"/>
                <a:sym typeface="Noto Sans Bold"/>
              </a:rPr>
              <a:t>질문이 옵니다</a:t>
            </a:r>
          </a:p>
        </p:txBody>
      </p:sp>
      <p:sp>
        <p:nvSpPr>
          <p:cNvPr name="TextBox 19" id="19"/>
          <p:cNvSpPr txBox="true"/>
          <p:nvPr/>
        </p:nvSpPr>
        <p:spPr>
          <a:xfrm rot="0">
            <a:off x="1371600" y="4677004"/>
            <a:ext cx="15540228" cy="625983"/>
          </a:xfrm>
          <a:prstGeom prst="rect">
            <a:avLst/>
          </a:prstGeom>
        </p:spPr>
        <p:txBody>
          <a:bodyPr anchor="t" rtlCol="false" tIns="0" lIns="0" bIns="0" rIns="0">
            <a:spAutoFit/>
          </a:bodyPr>
          <a:lstStyle/>
          <a:p>
            <a:pPr algn="l">
              <a:lnSpc>
                <a:spcPts val="3393"/>
              </a:lnSpc>
            </a:pPr>
            <a:r>
              <a:rPr lang="en-US" sz="1950">
                <a:solidFill>
                  <a:srgbClr val="747987"/>
                </a:solidFill>
                <a:latin typeface="Noto Sans"/>
                <a:ea typeface="Noto Sans"/>
                <a:cs typeface="Noto Sans"/>
                <a:sym typeface="Noto Sans"/>
              </a:rPr>
              <a:t>발표 맥락을 바탕으로 청중 예상 질문을 만듭니다.</a:t>
            </a:r>
          </a:p>
        </p:txBody>
      </p:sp>
      <p:grpSp>
        <p:nvGrpSpPr>
          <p:cNvPr name="Group 20" id="20"/>
          <p:cNvGrpSpPr/>
          <p:nvPr/>
        </p:nvGrpSpPr>
        <p:grpSpPr>
          <a:xfrm rot="0">
            <a:off x="8494395" y="2584552"/>
            <a:ext cx="8426958" cy="5436870"/>
            <a:chOff x="0" y="0"/>
            <a:chExt cx="11235944" cy="7249160"/>
          </a:xfrm>
        </p:grpSpPr>
        <p:sp>
          <p:nvSpPr>
            <p:cNvPr name="Freeform 21" id="21"/>
            <p:cNvSpPr/>
            <p:nvPr/>
          </p:nvSpPr>
          <p:spPr>
            <a:xfrm flipH="false" flipV="false" rot="0">
              <a:off x="0" y="0"/>
              <a:ext cx="11235944" cy="7249160"/>
            </a:xfrm>
            <a:custGeom>
              <a:avLst/>
              <a:gdLst/>
              <a:ahLst/>
              <a:cxnLst/>
              <a:rect r="r" b="b" t="t" l="l"/>
              <a:pathLst>
                <a:path h="7249160" w="11235944">
                  <a:moveTo>
                    <a:pt x="0" y="262636"/>
                  </a:moveTo>
                  <a:cubicBezTo>
                    <a:pt x="0" y="117602"/>
                    <a:pt x="117602" y="0"/>
                    <a:pt x="262636" y="0"/>
                  </a:cubicBezTo>
                  <a:lnTo>
                    <a:pt x="10973308" y="0"/>
                  </a:lnTo>
                  <a:cubicBezTo>
                    <a:pt x="11118342" y="0"/>
                    <a:pt x="11235944" y="117602"/>
                    <a:pt x="11235944" y="262636"/>
                  </a:cubicBezTo>
                  <a:lnTo>
                    <a:pt x="11235944" y="6986524"/>
                  </a:lnTo>
                  <a:cubicBezTo>
                    <a:pt x="11235944" y="7131558"/>
                    <a:pt x="11118342" y="7249160"/>
                    <a:pt x="10973308" y="7249160"/>
                  </a:cubicBezTo>
                  <a:lnTo>
                    <a:pt x="262636" y="7249160"/>
                  </a:lnTo>
                  <a:cubicBezTo>
                    <a:pt x="117602" y="7249160"/>
                    <a:pt x="0" y="7131558"/>
                    <a:pt x="0" y="6986524"/>
                  </a:cubicBezTo>
                  <a:close/>
                </a:path>
              </a:pathLst>
            </a:custGeom>
            <a:solidFill>
              <a:srgbClr val="FFFFFF"/>
            </a:solidFill>
            <a:ln w="19050" cap="sq">
              <a:solidFill>
                <a:srgbClr val="E1E6F0"/>
              </a:solidFill>
              <a:prstDash val="solid"/>
              <a:miter/>
            </a:ln>
          </p:spPr>
        </p:sp>
      </p:grpSp>
      <p:sp>
        <p:nvSpPr>
          <p:cNvPr name="TextBox 22" id="22"/>
          <p:cNvSpPr txBox="true"/>
          <p:nvPr/>
        </p:nvSpPr>
        <p:spPr>
          <a:xfrm rot="0">
            <a:off x="8915400" y="2895286"/>
            <a:ext cx="1175742" cy="773811"/>
          </a:xfrm>
          <a:prstGeom prst="rect">
            <a:avLst/>
          </a:prstGeom>
        </p:spPr>
        <p:txBody>
          <a:bodyPr anchor="t" rtlCol="false" tIns="0" lIns="0" bIns="0" rIns="0">
            <a:spAutoFit/>
          </a:bodyPr>
          <a:lstStyle/>
          <a:p>
            <a:pPr algn="l">
              <a:lnSpc>
                <a:spcPts val="3101"/>
              </a:lnSpc>
            </a:pPr>
            <a:r>
              <a:rPr lang="en-US" sz="2349" b="true">
                <a:solidFill>
                  <a:srgbClr val="172346"/>
                </a:solidFill>
                <a:latin typeface="Noto Sans Bold"/>
                <a:ea typeface="Noto Sans Bold"/>
                <a:cs typeface="Noto Sans Bold"/>
                <a:sym typeface="Noto Sans Bold"/>
              </a:rPr>
              <a:t>질의 응답</a:t>
            </a:r>
          </a:p>
          <a:p>
            <a:pPr algn="l">
              <a:lnSpc>
                <a:spcPts val="3101"/>
              </a:lnSpc>
            </a:pPr>
          </a:p>
        </p:txBody>
      </p:sp>
      <p:grpSp>
        <p:nvGrpSpPr>
          <p:cNvPr name="Group 23" id="23"/>
          <p:cNvGrpSpPr/>
          <p:nvPr/>
        </p:nvGrpSpPr>
        <p:grpSpPr>
          <a:xfrm rot="0">
            <a:off x="8905875" y="3526784"/>
            <a:ext cx="7603998" cy="1255728"/>
            <a:chOff x="0" y="0"/>
            <a:chExt cx="10138664" cy="1674304"/>
          </a:xfrm>
        </p:grpSpPr>
        <p:sp>
          <p:nvSpPr>
            <p:cNvPr name="Freeform 24" id="24"/>
            <p:cNvSpPr/>
            <p:nvPr/>
          </p:nvSpPr>
          <p:spPr>
            <a:xfrm flipH="false" flipV="false" rot="0">
              <a:off x="0" y="0"/>
              <a:ext cx="10138664" cy="1674368"/>
            </a:xfrm>
            <a:custGeom>
              <a:avLst/>
              <a:gdLst/>
              <a:ahLst/>
              <a:cxnLst/>
              <a:rect r="r" b="b" t="t" l="l"/>
              <a:pathLst>
                <a:path h="1674368" w="10138664">
                  <a:moveTo>
                    <a:pt x="0" y="221488"/>
                  </a:moveTo>
                  <a:cubicBezTo>
                    <a:pt x="0" y="99187"/>
                    <a:pt x="99187" y="0"/>
                    <a:pt x="221488" y="0"/>
                  </a:cubicBezTo>
                  <a:lnTo>
                    <a:pt x="9917176" y="0"/>
                  </a:lnTo>
                  <a:cubicBezTo>
                    <a:pt x="10039477" y="0"/>
                    <a:pt x="10138664" y="99187"/>
                    <a:pt x="10138664" y="221488"/>
                  </a:cubicBezTo>
                  <a:lnTo>
                    <a:pt x="10138664" y="1452880"/>
                  </a:lnTo>
                  <a:cubicBezTo>
                    <a:pt x="10138664" y="1575181"/>
                    <a:pt x="10039477" y="1674368"/>
                    <a:pt x="9917176" y="1674368"/>
                  </a:cubicBezTo>
                  <a:lnTo>
                    <a:pt x="221488" y="1674368"/>
                  </a:lnTo>
                  <a:cubicBezTo>
                    <a:pt x="99187" y="1674241"/>
                    <a:pt x="0" y="1575181"/>
                    <a:pt x="0" y="1452880"/>
                  </a:cubicBezTo>
                  <a:close/>
                </a:path>
              </a:pathLst>
            </a:custGeom>
            <a:solidFill>
              <a:srgbClr val="F7F8FB"/>
            </a:solidFill>
            <a:ln w="19050" cap="sq">
              <a:solidFill>
                <a:srgbClr val="E1E6F0"/>
              </a:solidFill>
              <a:prstDash val="solid"/>
              <a:miter/>
            </a:ln>
          </p:spPr>
        </p:sp>
      </p:grpSp>
      <p:sp>
        <p:nvSpPr>
          <p:cNvPr name="TextBox 25" id="25"/>
          <p:cNvSpPr txBox="true"/>
          <p:nvPr/>
        </p:nvSpPr>
        <p:spPr>
          <a:xfrm rot="0">
            <a:off x="9217152" y="3918153"/>
            <a:ext cx="419398" cy="382303"/>
          </a:xfrm>
          <a:prstGeom prst="rect">
            <a:avLst/>
          </a:prstGeom>
        </p:spPr>
        <p:txBody>
          <a:bodyPr anchor="t" rtlCol="false" tIns="0" lIns="0" bIns="0" rIns="0">
            <a:spAutoFit/>
          </a:bodyPr>
          <a:lstStyle/>
          <a:p>
            <a:pPr algn="l">
              <a:lnSpc>
                <a:spcPts val="3187"/>
              </a:lnSpc>
            </a:pPr>
            <a:r>
              <a:rPr lang="en-US" sz="2414" b="true">
                <a:solidFill>
                  <a:srgbClr val="5968DC"/>
                </a:solidFill>
                <a:latin typeface="Noto Sans Bold"/>
                <a:ea typeface="Noto Sans Bold"/>
                <a:cs typeface="Noto Sans Bold"/>
                <a:sym typeface="Noto Sans Bold"/>
              </a:rPr>
              <a:t>Q1</a:t>
            </a:r>
          </a:p>
        </p:txBody>
      </p:sp>
      <p:sp>
        <p:nvSpPr>
          <p:cNvPr name="TextBox 26" id="26"/>
          <p:cNvSpPr txBox="true"/>
          <p:nvPr/>
        </p:nvSpPr>
        <p:spPr>
          <a:xfrm rot="0">
            <a:off x="9944100" y="3672107"/>
            <a:ext cx="5952306" cy="817245"/>
          </a:xfrm>
          <a:prstGeom prst="rect">
            <a:avLst/>
          </a:prstGeom>
        </p:spPr>
        <p:txBody>
          <a:bodyPr anchor="t" rtlCol="false" tIns="0" lIns="0" bIns="0" rIns="0">
            <a:spAutoFit/>
          </a:bodyPr>
          <a:lstStyle/>
          <a:p>
            <a:pPr algn="l">
              <a:lnSpc>
                <a:spcPts val="3314"/>
              </a:lnSpc>
            </a:pPr>
            <a:r>
              <a:rPr lang="en-US" sz="2124">
                <a:solidFill>
                  <a:srgbClr val="45506E"/>
                </a:solidFill>
                <a:latin typeface="Noto Sans"/>
                <a:ea typeface="Noto Sans"/>
                <a:cs typeface="Noto Sans"/>
                <a:sym typeface="Noto Sans"/>
              </a:rPr>
              <a:t>발표 자료와 발화를 슬라이드 단위로 연결하는 기준은 </a:t>
            </a:r>
          </a:p>
          <a:p>
            <a:pPr algn="l">
              <a:lnSpc>
                <a:spcPts val="3314"/>
              </a:lnSpc>
            </a:pPr>
            <a:r>
              <a:rPr lang="en-US" sz="2124">
                <a:solidFill>
                  <a:srgbClr val="45506E"/>
                </a:solidFill>
                <a:latin typeface="Noto Sans"/>
                <a:ea typeface="Noto Sans"/>
                <a:cs typeface="Noto Sans"/>
                <a:sym typeface="Noto Sans"/>
              </a:rPr>
              <a:t>무엇인가요?</a:t>
            </a:r>
          </a:p>
        </p:txBody>
      </p:sp>
      <p:grpSp>
        <p:nvGrpSpPr>
          <p:cNvPr name="Group 27" id="27"/>
          <p:cNvGrpSpPr/>
          <p:nvPr/>
        </p:nvGrpSpPr>
        <p:grpSpPr>
          <a:xfrm rot="0">
            <a:off x="8905875" y="4963687"/>
            <a:ext cx="7603998" cy="1255728"/>
            <a:chOff x="0" y="0"/>
            <a:chExt cx="10138664" cy="1674304"/>
          </a:xfrm>
        </p:grpSpPr>
        <p:sp>
          <p:nvSpPr>
            <p:cNvPr name="Freeform 28" id="28"/>
            <p:cNvSpPr/>
            <p:nvPr/>
          </p:nvSpPr>
          <p:spPr>
            <a:xfrm flipH="false" flipV="false" rot="0">
              <a:off x="0" y="0"/>
              <a:ext cx="10138664" cy="1674368"/>
            </a:xfrm>
            <a:custGeom>
              <a:avLst/>
              <a:gdLst/>
              <a:ahLst/>
              <a:cxnLst/>
              <a:rect r="r" b="b" t="t" l="l"/>
              <a:pathLst>
                <a:path h="1674368" w="10138664">
                  <a:moveTo>
                    <a:pt x="0" y="221488"/>
                  </a:moveTo>
                  <a:cubicBezTo>
                    <a:pt x="0" y="99187"/>
                    <a:pt x="99187" y="0"/>
                    <a:pt x="221488" y="0"/>
                  </a:cubicBezTo>
                  <a:lnTo>
                    <a:pt x="9917176" y="0"/>
                  </a:lnTo>
                  <a:cubicBezTo>
                    <a:pt x="10039477" y="0"/>
                    <a:pt x="10138664" y="99187"/>
                    <a:pt x="10138664" y="221488"/>
                  </a:cubicBezTo>
                  <a:lnTo>
                    <a:pt x="10138664" y="1452880"/>
                  </a:lnTo>
                  <a:cubicBezTo>
                    <a:pt x="10138664" y="1575181"/>
                    <a:pt x="10039477" y="1674368"/>
                    <a:pt x="9917176" y="1674368"/>
                  </a:cubicBezTo>
                  <a:lnTo>
                    <a:pt x="221488" y="1674368"/>
                  </a:lnTo>
                  <a:cubicBezTo>
                    <a:pt x="99187" y="1674241"/>
                    <a:pt x="0" y="1575181"/>
                    <a:pt x="0" y="1452880"/>
                  </a:cubicBezTo>
                  <a:close/>
                </a:path>
              </a:pathLst>
            </a:custGeom>
            <a:solidFill>
              <a:srgbClr val="F7F8FB"/>
            </a:solidFill>
            <a:ln w="19050" cap="sq">
              <a:solidFill>
                <a:srgbClr val="E1E6F0"/>
              </a:solidFill>
              <a:prstDash val="solid"/>
              <a:miter/>
            </a:ln>
          </p:spPr>
        </p:sp>
      </p:grpSp>
      <p:sp>
        <p:nvSpPr>
          <p:cNvPr name="TextBox 29" id="29"/>
          <p:cNvSpPr txBox="true"/>
          <p:nvPr/>
        </p:nvSpPr>
        <p:spPr>
          <a:xfrm rot="0">
            <a:off x="9217152" y="5390875"/>
            <a:ext cx="419398" cy="382303"/>
          </a:xfrm>
          <a:prstGeom prst="rect">
            <a:avLst/>
          </a:prstGeom>
        </p:spPr>
        <p:txBody>
          <a:bodyPr anchor="t" rtlCol="false" tIns="0" lIns="0" bIns="0" rIns="0">
            <a:spAutoFit/>
          </a:bodyPr>
          <a:lstStyle/>
          <a:p>
            <a:pPr algn="l">
              <a:lnSpc>
                <a:spcPts val="3187"/>
              </a:lnSpc>
            </a:pPr>
            <a:r>
              <a:rPr lang="en-US" sz="2414" b="true">
                <a:solidFill>
                  <a:srgbClr val="5968DC"/>
                </a:solidFill>
                <a:latin typeface="Noto Sans Bold"/>
                <a:ea typeface="Noto Sans Bold"/>
                <a:cs typeface="Noto Sans Bold"/>
                <a:sym typeface="Noto Sans Bold"/>
              </a:rPr>
              <a:t>Q2</a:t>
            </a:r>
          </a:p>
        </p:txBody>
      </p:sp>
      <p:sp>
        <p:nvSpPr>
          <p:cNvPr name="TextBox 30" id="30"/>
          <p:cNvSpPr txBox="true"/>
          <p:nvPr/>
        </p:nvSpPr>
        <p:spPr>
          <a:xfrm rot="0">
            <a:off x="9971532" y="5354379"/>
            <a:ext cx="5751091" cy="398145"/>
          </a:xfrm>
          <a:prstGeom prst="rect">
            <a:avLst/>
          </a:prstGeom>
        </p:spPr>
        <p:txBody>
          <a:bodyPr anchor="t" rtlCol="false" tIns="0" lIns="0" bIns="0" rIns="0">
            <a:spAutoFit/>
          </a:bodyPr>
          <a:lstStyle/>
          <a:p>
            <a:pPr algn="l">
              <a:lnSpc>
                <a:spcPts val="3314"/>
              </a:lnSpc>
            </a:pPr>
            <a:r>
              <a:rPr lang="en-US" sz="2124">
                <a:solidFill>
                  <a:srgbClr val="45506E"/>
                </a:solidFill>
                <a:latin typeface="Noto Sans"/>
                <a:ea typeface="Noto Sans"/>
                <a:cs typeface="Noto Sans"/>
                <a:sym typeface="Noto Sans"/>
              </a:rPr>
              <a:t>실시간 분석과 서버 분석의 역할은 어떻게 나뉘나요?</a:t>
            </a:r>
          </a:p>
        </p:txBody>
      </p:sp>
      <p:grpSp>
        <p:nvGrpSpPr>
          <p:cNvPr name="Group 31" id="31"/>
          <p:cNvGrpSpPr/>
          <p:nvPr/>
        </p:nvGrpSpPr>
        <p:grpSpPr>
          <a:xfrm rot="0">
            <a:off x="8905875" y="6400581"/>
            <a:ext cx="7603998" cy="1255728"/>
            <a:chOff x="0" y="0"/>
            <a:chExt cx="10138664" cy="1674304"/>
          </a:xfrm>
        </p:grpSpPr>
        <p:sp>
          <p:nvSpPr>
            <p:cNvPr name="Freeform 32" id="32"/>
            <p:cNvSpPr/>
            <p:nvPr/>
          </p:nvSpPr>
          <p:spPr>
            <a:xfrm flipH="false" flipV="false" rot="0">
              <a:off x="0" y="0"/>
              <a:ext cx="10138664" cy="1674368"/>
            </a:xfrm>
            <a:custGeom>
              <a:avLst/>
              <a:gdLst/>
              <a:ahLst/>
              <a:cxnLst/>
              <a:rect r="r" b="b" t="t" l="l"/>
              <a:pathLst>
                <a:path h="1674368" w="10138664">
                  <a:moveTo>
                    <a:pt x="0" y="221488"/>
                  </a:moveTo>
                  <a:cubicBezTo>
                    <a:pt x="0" y="99187"/>
                    <a:pt x="99187" y="0"/>
                    <a:pt x="221488" y="0"/>
                  </a:cubicBezTo>
                  <a:lnTo>
                    <a:pt x="9917176" y="0"/>
                  </a:lnTo>
                  <a:cubicBezTo>
                    <a:pt x="10039477" y="0"/>
                    <a:pt x="10138664" y="99187"/>
                    <a:pt x="10138664" y="221488"/>
                  </a:cubicBezTo>
                  <a:lnTo>
                    <a:pt x="10138664" y="1452880"/>
                  </a:lnTo>
                  <a:cubicBezTo>
                    <a:pt x="10138664" y="1575181"/>
                    <a:pt x="10039477" y="1674368"/>
                    <a:pt x="9917176" y="1674368"/>
                  </a:cubicBezTo>
                  <a:lnTo>
                    <a:pt x="221488" y="1674368"/>
                  </a:lnTo>
                  <a:cubicBezTo>
                    <a:pt x="99187" y="1674241"/>
                    <a:pt x="0" y="1575181"/>
                    <a:pt x="0" y="1452880"/>
                  </a:cubicBezTo>
                  <a:close/>
                </a:path>
              </a:pathLst>
            </a:custGeom>
            <a:solidFill>
              <a:srgbClr val="F7F8FB"/>
            </a:solidFill>
            <a:ln w="19050" cap="sq">
              <a:solidFill>
                <a:srgbClr val="E1E6F0"/>
              </a:solidFill>
              <a:prstDash val="solid"/>
              <a:miter/>
            </a:ln>
          </p:spPr>
        </p:sp>
      </p:grpSp>
      <p:sp>
        <p:nvSpPr>
          <p:cNvPr name="TextBox 33" id="33"/>
          <p:cNvSpPr txBox="true"/>
          <p:nvPr/>
        </p:nvSpPr>
        <p:spPr>
          <a:xfrm rot="0">
            <a:off x="9217152" y="6833698"/>
            <a:ext cx="419398" cy="382303"/>
          </a:xfrm>
          <a:prstGeom prst="rect">
            <a:avLst/>
          </a:prstGeom>
        </p:spPr>
        <p:txBody>
          <a:bodyPr anchor="t" rtlCol="false" tIns="0" lIns="0" bIns="0" rIns="0">
            <a:spAutoFit/>
          </a:bodyPr>
          <a:lstStyle/>
          <a:p>
            <a:pPr algn="l">
              <a:lnSpc>
                <a:spcPts val="3187"/>
              </a:lnSpc>
            </a:pPr>
            <a:r>
              <a:rPr lang="en-US" sz="2414" b="true">
                <a:solidFill>
                  <a:srgbClr val="5968DC"/>
                </a:solidFill>
                <a:latin typeface="Noto Sans Bold"/>
                <a:ea typeface="Noto Sans Bold"/>
                <a:cs typeface="Noto Sans Bold"/>
                <a:sym typeface="Noto Sans Bold"/>
              </a:rPr>
              <a:t>Q3</a:t>
            </a:r>
          </a:p>
        </p:txBody>
      </p:sp>
      <p:sp>
        <p:nvSpPr>
          <p:cNvPr name="TextBox 34" id="34"/>
          <p:cNvSpPr txBox="true"/>
          <p:nvPr/>
        </p:nvSpPr>
        <p:spPr>
          <a:xfrm rot="0">
            <a:off x="9971532" y="6791272"/>
            <a:ext cx="6177558" cy="398145"/>
          </a:xfrm>
          <a:prstGeom prst="rect">
            <a:avLst/>
          </a:prstGeom>
        </p:spPr>
        <p:txBody>
          <a:bodyPr anchor="t" rtlCol="false" tIns="0" lIns="0" bIns="0" rIns="0">
            <a:spAutoFit/>
          </a:bodyPr>
          <a:lstStyle/>
          <a:p>
            <a:pPr algn="l">
              <a:lnSpc>
                <a:spcPts val="3314"/>
              </a:lnSpc>
            </a:pPr>
            <a:r>
              <a:rPr lang="en-US" sz="2124">
                <a:solidFill>
                  <a:srgbClr val="45506E"/>
                </a:solidFill>
                <a:latin typeface="Noto Sans"/>
                <a:ea typeface="Noto Sans"/>
                <a:cs typeface="Noto Sans"/>
                <a:sym typeface="Noto Sans"/>
              </a:rPr>
              <a:t>인식이 불안정한 환경에서는 지표를 어떻게 보정하나요?</a:t>
            </a:r>
          </a:p>
        </p:txBody>
      </p:sp>
      <p:sp>
        <p:nvSpPr>
          <p:cNvPr name="TextBox 35" id="35"/>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04</a:t>
            </a:r>
          </a:p>
        </p:txBody>
      </p:sp>
    </p:spTree>
  </p:cSld>
  <p:clrMapOvr>
    <a:masterClrMapping/>
  </p:clrMapOvr>
  <p:transition spd="fast">
    <p:fade/>
  </p:transition>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658474"/>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35</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면접  01</a:t>
            </a:r>
          </a:p>
        </p:txBody>
      </p:sp>
      <p:sp>
        <p:nvSpPr>
          <p:cNvPr name="TextBox 18" id="18"/>
          <p:cNvSpPr txBox="true"/>
          <p:nvPr/>
        </p:nvSpPr>
        <p:spPr>
          <a:xfrm rot="0">
            <a:off x="1371600" y="2729903"/>
            <a:ext cx="15540228" cy="1796186"/>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특정 기업에 특화된</a:t>
            </a:r>
          </a:p>
          <a:p>
            <a:pPr algn="l">
              <a:lnSpc>
                <a:spcPts val="7246"/>
              </a:lnSpc>
            </a:pPr>
            <a:r>
              <a:rPr lang="en-US" sz="4950" b="true">
                <a:solidFill>
                  <a:srgbClr val="11131B"/>
                </a:solidFill>
                <a:latin typeface="Noto Sans Bold"/>
                <a:ea typeface="Noto Sans Bold"/>
                <a:cs typeface="Noto Sans Bold"/>
                <a:sym typeface="Noto Sans Bold"/>
              </a:rPr>
              <a:t>질문 생성</a:t>
            </a:r>
          </a:p>
        </p:txBody>
      </p:sp>
      <p:sp>
        <p:nvSpPr>
          <p:cNvPr name="TextBox 19" id="19"/>
          <p:cNvSpPr txBox="true"/>
          <p:nvPr/>
        </p:nvSpPr>
        <p:spPr>
          <a:xfrm rot="0">
            <a:off x="1371600" y="4677004"/>
            <a:ext cx="15540228" cy="399669"/>
          </a:xfrm>
          <a:prstGeom prst="rect">
            <a:avLst/>
          </a:prstGeom>
        </p:spPr>
        <p:txBody>
          <a:bodyPr anchor="t" rtlCol="false" tIns="0" lIns="0" bIns="0" rIns="0">
            <a:spAutoFit/>
          </a:bodyPr>
          <a:lstStyle/>
          <a:p>
            <a:pPr algn="l">
              <a:lnSpc>
                <a:spcPts val="3393"/>
              </a:lnSpc>
            </a:pPr>
            <a:r>
              <a:rPr lang="en-US" sz="1950">
                <a:solidFill>
                  <a:srgbClr val="747987"/>
                </a:solidFill>
                <a:latin typeface="Noto Sans"/>
                <a:ea typeface="Noto Sans"/>
                <a:cs typeface="Noto Sans"/>
                <a:sym typeface="Noto Sans"/>
              </a:rPr>
              <a:t>해당 기업의 인재상 / 직군에 맞는 질문을 생성합니다.</a:t>
            </a:r>
          </a:p>
        </p:txBody>
      </p:sp>
      <p:sp>
        <p:nvSpPr>
          <p:cNvPr name="TextBox 20" id="20"/>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01</a:t>
            </a:r>
          </a:p>
        </p:txBody>
      </p:sp>
      <p:grpSp>
        <p:nvGrpSpPr>
          <p:cNvPr name="Group 21" id="21"/>
          <p:cNvGrpSpPr/>
          <p:nvPr/>
        </p:nvGrpSpPr>
        <p:grpSpPr>
          <a:xfrm rot="0">
            <a:off x="8988095" y="2924293"/>
            <a:ext cx="7927848" cy="5108483"/>
            <a:chOff x="0" y="0"/>
            <a:chExt cx="11210544" cy="7223760"/>
          </a:xfrm>
        </p:grpSpPr>
        <p:sp>
          <p:nvSpPr>
            <p:cNvPr name="Freeform 22" id="22"/>
            <p:cNvSpPr/>
            <p:nvPr/>
          </p:nvSpPr>
          <p:spPr>
            <a:xfrm flipH="false" flipV="false" rot="0">
              <a:off x="0" y="0"/>
              <a:ext cx="11210544" cy="7223760"/>
            </a:xfrm>
            <a:custGeom>
              <a:avLst/>
              <a:gdLst/>
              <a:ahLst/>
              <a:cxnLst/>
              <a:rect r="r" b="b" t="t" l="l"/>
              <a:pathLst>
                <a:path h="7223760" w="11210544">
                  <a:moveTo>
                    <a:pt x="0" y="261747"/>
                  </a:moveTo>
                  <a:cubicBezTo>
                    <a:pt x="0" y="117221"/>
                    <a:pt x="117221" y="0"/>
                    <a:pt x="261747" y="0"/>
                  </a:cubicBezTo>
                  <a:lnTo>
                    <a:pt x="10948797" y="0"/>
                  </a:lnTo>
                  <a:cubicBezTo>
                    <a:pt x="11093323" y="0"/>
                    <a:pt x="11210544" y="117221"/>
                    <a:pt x="11210544" y="261747"/>
                  </a:cubicBezTo>
                  <a:lnTo>
                    <a:pt x="11210544" y="6962013"/>
                  </a:lnTo>
                  <a:cubicBezTo>
                    <a:pt x="11210544" y="7106539"/>
                    <a:pt x="11093323" y="7223760"/>
                    <a:pt x="10948797" y="7223760"/>
                  </a:cubicBezTo>
                  <a:lnTo>
                    <a:pt x="261747" y="7223760"/>
                  </a:lnTo>
                  <a:cubicBezTo>
                    <a:pt x="117221" y="7223760"/>
                    <a:pt x="0" y="7106539"/>
                    <a:pt x="0" y="6962013"/>
                  </a:cubicBezTo>
                  <a:close/>
                </a:path>
              </a:pathLst>
            </a:custGeom>
            <a:solidFill>
              <a:srgbClr val="141733"/>
            </a:solidFill>
          </p:spPr>
        </p:sp>
      </p:grpSp>
    </p:spTree>
  </p:cSld>
  <p:clrMapOvr>
    <a:masterClrMapping/>
  </p:clrMapOvr>
  <p:transition spd="fast">
    <p:fade/>
  </p:transition>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658474"/>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35</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면접  02</a:t>
            </a:r>
          </a:p>
        </p:txBody>
      </p:sp>
      <p:sp>
        <p:nvSpPr>
          <p:cNvPr name="TextBox 18" id="18"/>
          <p:cNvSpPr txBox="true"/>
          <p:nvPr/>
        </p:nvSpPr>
        <p:spPr>
          <a:xfrm rot="0">
            <a:off x="1371600" y="2729903"/>
            <a:ext cx="15540228" cy="881786"/>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질문별 리포트</a:t>
            </a:r>
          </a:p>
        </p:txBody>
      </p:sp>
      <p:sp>
        <p:nvSpPr>
          <p:cNvPr name="TextBox 19" id="19"/>
          <p:cNvSpPr txBox="true"/>
          <p:nvPr/>
        </p:nvSpPr>
        <p:spPr>
          <a:xfrm rot="0">
            <a:off x="1371600" y="3766993"/>
            <a:ext cx="15540228" cy="399669"/>
          </a:xfrm>
          <a:prstGeom prst="rect">
            <a:avLst/>
          </a:prstGeom>
        </p:spPr>
        <p:txBody>
          <a:bodyPr anchor="t" rtlCol="false" tIns="0" lIns="0" bIns="0" rIns="0">
            <a:spAutoFit/>
          </a:bodyPr>
          <a:lstStyle/>
          <a:p>
            <a:pPr algn="l">
              <a:lnSpc>
                <a:spcPts val="3393"/>
              </a:lnSpc>
            </a:pPr>
            <a:r>
              <a:rPr lang="en-US" sz="1950">
                <a:solidFill>
                  <a:srgbClr val="747987"/>
                </a:solidFill>
                <a:latin typeface="Noto Sans"/>
                <a:ea typeface="Noto Sans"/>
                <a:cs typeface="Noto Sans"/>
                <a:sym typeface="Noto Sans"/>
              </a:rPr>
              <a:t>답변을 질문 단위로 나눠 리포트에 남깁니다.</a:t>
            </a:r>
          </a:p>
        </p:txBody>
      </p:sp>
      <p:sp>
        <p:nvSpPr>
          <p:cNvPr name="TextBox 20" id="20"/>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02</a:t>
            </a:r>
          </a:p>
        </p:txBody>
      </p:sp>
      <p:grpSp>
        <p:nvGrpSpPr>
          <p:cNvPr name="Group 21" id="21"/>
          <p:cNvGrpSpPr/>
          <p:nvPr/>
        </p:nvGrpSpPr>
        <p:grpSpPr>
          <a:xfrm rot="0">
            <a:off x="7338604" y="2597876"/>
            <a:ext cx="10125978" cy="6524896"/>
            <a:chOff x="0" y="0"/>
            <a:chExt cx="11210544" cy="7223760"/>
          </a:xfrm>
        </p:grpSpPr>
        <p:sp>
          <p:nvSpPr>
            <p:cNvPr name="Freeform 22" id="22"/>
            <p:cNvSpPr/>
            <p:nvPr/>
          </p:nvSpPr>
          <p:spPr>
            <a:xfrm flipH="false" flipV="false" rot="0">
              <a:off x="0" y="0"/>
              <a:ext cx="11210544" cy="7223760"/>
            </a:xfrm>
            <a:custGeom>
              <a:avLst/>
              <a:gdLst/>
              <a:ahLst/>
              <a:cxnLst/>
              <a:rect r="r" b="b" t="t" l="l"/>
              <a:pathLst>
                <a:path h="7223760" w="11210544">
                  <a:moveTo>
                    <a:pt x="0" y="261747"/>
                  </a:moveTo>
                  <a:cubicBezTo>
                    <a:pt x="0" y="117221"/>
                    <a:pt x="117221" y="0"/>
                    <a:pt x="261747" y="0"/>
                  </a:cubicBezTo>
                  <a:lnTo>
                    <a:pt x="10948797" y="0"/>
                  </a:lnTo>
                  <a:cubicBezTo>
                    <a:pt x="11093323" y="0"/>
                    <a:pt x="11210544" y="117221"/>
                    <a:pt x="11210544" y="261747"/>
                  </a:cubicBezTo>
                  <a:lnTo>
                    <a:pt x="11210544" y="6962013"/>
                  </a:lnTo>
                  <a:cubicBezTo>
                    <a:pt x="11210544" y="7106539"/>
                    <a:pt x="11093323" y="7223760"/>
                    <a:pt x="10948797" y="7223760"/>
                  </a:cubicBezTo>
                  <a:lnTo>
                    <a:pt x="261747" y="7223760"/>
                  </a:lnTo>
                  <a:cubicBezTo>
                    <a:pt x="117221" y="7223760"/>
                    <a:pt x="0" y="7106539"/>
                    <a:pt x="0" y="6962013"/>
                  </a:cubicBezTo>
                  <a:close/>
                </a:path>
              </a:pathLst>
            </a:custGeom>
            <a:solidFill>
              <a:srgbClr val="141733"/>
            </a:solidFill>
          </p:spPr>
        </p:sp>
      </p:gr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658474"/>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35</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면접  03</a:t>
            </a:r>
          </a:p>
        </p:txBody>
      </p:sp>
      <p:grpSp>
        <p:nvGrpSpPr>
          <p:cNvPr name="Group 18" id="18"/>
          <p:cNvGrpSpPr/>
          <p:nvPr/>
        </p:nvGrpSpPr>
        <p:grpSpPr>
          <a:xfrm rot="0">
            <a:off x="8988095" y="2924293"/>
            <a:ext cx="7927848" cy="5108483"/>
            <a:chOff x="0" y="0"/>
            <a:chExt cx="11210544" cy="7223760"/>
          </a:xfrm>
        </p:grpSpPr>
        <p:sp>
          <p:nvSpPr>
            <p:cNvPr name="Freeform 19" id="19"/>
            <p:cNvSpPr/>
            <p:nvPr/>
          </p:nvSpPr>
          <p:spPr>
            <a:xfrm flipH="false" flipV="false" rot="0">
              <a:off x="0" y="0"/>
              <a:ext cx="11210544" cy="7223760"/>
            </a:xfrm>
            <a:custGeom>
              <a:avLst/>
              <a:gdLst/>
              <a:ahLst/>
              <a:cxnLst/>
              <a:rect r="r" b="b" t="t" l="l"/>
              <a:pathLst>
                <a:path h="7223760" w="11210544">
                  <a:moveTo>
                    <a:pt x="0" y="261747"/>
                  </a:moveTo>
                  <a:cubicBezTo>
                    <a:pt x="0" y="117221"/>
                    <a:pt x="117221" y="0"/>
                    <a:pt x="261747" y="0"/>
                  </a:cubicBezTo>
                  <a:lnTo>
                    <a:pt x="10948797" y="0"/>
                  </a:lnTo>
                  <a:cubicBezTo>
                    <a:pt x="11093323" y="0"/>
                    <a:pt x="11210544" y="117221"/>
                    <a:pt x="11210544" y="261747"/>
                  </a:cubicBezTo>
                  <a:lnTo>
                    <a:pt x="11210544" y="6962013"/>
                  </a:lnTo>
                  <a:cubicBezTo>
                    <a:pt x="11210544" y="7106539"/>
                    <a:pt x="11093323" y="7223760"/>
                    <a:pt x="10948797" y="7223760"/>
                  </a:cubicBezTo>
                  <a:lnTo>
                    <a:pt x="261747" y="7223760"/>
                  </a:lnTo>
                  <a:cubicBezTo>
                    <a:pt x="117221" y="7223760"/>
                    <a:pt x="0" y="7106539"/>
                    <a:pt x="0" y="6962013"/>
                  </a:cubicBezTo>
                  <a:close/>
                </a:path>
              </a:pathLst>
            </a:custGeom>
            <a:solidFill>
              <a:srgbClr val="141733"/>
            </a:solidFill>
          </p:spPr>
        </p:sp>
      </p:grpSp>
      <p:grpSp>
        <p:nvGrpSpPr>
          <p:cNvPr name="Group 20" id="20"/>
          <p:cNvGrpSpPr/>
          <p:nvPr/>
        </p:nvGrpSpPr>
        <p:grpSpPr>
          <a:xfrm rot="0">
            <a:off x="8988095" y="3027178"/>
            <a:ext cx="7447788" cy="730225"/>
            <a:chOff x="0" y="0"/>
            <a:chExt cx="9930384" cy="973633"/>
          </a:xfrm>
        </p:grpSpPr>
        <p:sp>
          <p:nvSpPr>
            <p:cNvPr name="Freeform 21" id="21"/>
            <p:cNvSpPr/>
            <p:nvPr/>
          </p:nvSpPr>
          <p:spPr>
            <a:xfrm flipH="false" flipV="false" rot="0">
              <a:off x="0" y="0"/>
              <a:ext cx="9930384" cy="973582"/>
            </a:xfrm>
            <a:custGeom>
              <a:avLst/>
              <a:gdLst/>
              <a:ahLst/>
              <a:cxnLst/>
              <a:rect r="r" b="b" t="t" l="l"/>
              <a:pathLst>
                <a:path h="973582" w="9930384">
                  <a:moveTo>
                    <a:pt x="0" y="218059"/>
                  </a:moveTo>
                  <a:cubicBezTo>
                    <a:pt x="0" y="97663"/>
                    <a:pt x="97663" y="0"/>
                    <a:pt x="218059" y="0"/>
                  </a:cubicBezTo>
                  <a:lnTo>
                    <a:pt x="9712325" y="0"/>
                  </a:lnTo>
                  <a:cubicBezTo>
                    <a:pt x="9832721" y="0"/>
                    <a:pt x="9930384" y="97663"/>
                    <a:pt x="9930384" y="218059"/>
                  </a:cubicBezTo>
                  <a:lnTo>
                    <a:pt x="9930384" y="755523"/>
                  </a:lnTo>
                  <a:cubicBezTo>
                    <a:pt x="9930384" y="875919"/>
                    <a:pt x="9832721" y="973582"/>
                    <a:pt x="9712325" y="973582"/>
                  </a:cubicBezTo>
                  <a:lnTo>
                    <a:pt x="218059" y="973582"/>
                  </a:lnTo>
                  <a:cubicBezTo>
                    <a:pt x="97663" y="973582"/>
                    <a:pt x="0" y="876046"/>
                    <a:pt x="0" y="755523"/>
                  </a:cubicBezTo>
                  <a:close/>
                </a:path>
              </a:pathLst>
            </a:custGeom>
            <a:solidFill>
              <a:srgbClr val="FFFFFF"/>
            </a:solidFill>
          </p:spPr>
        </p:sp>
      </p:grpSp>
      <p:sp>
        <p:nvSpPr>
          <p:cNvPr name="TextBox 22" id="22"/>
          <p:cNvSpPr txBox="true"/>
          <p:nvPr/>
        </p:nvSpPr>
        <p:spPr>
          <a:xfrm rot="0">
            <a:off x="9330995" y="3247006"/>
            <a:ext cx="6761988" cy="271529"/>
          </a:xfrm>
          <a:prstGeom prst="rect">
            <a:avLst/>
          </a:prstGeom>
        </p:spPr>
        <p:txBody>
          <a:bodyPr anchor="t" rtlCol="false" tIns="0" lIns="0" bIns="0" rIns="0">
            <a:spAutoFit/>
          </a:bodyPr>
          <a:lstStyle/>
          <a:p>
            <a:pPr algn="l">
              <a:lnSpc>
                <a:spcPts val="2483"/>
              </a:lnSpc>
            </a:pPr>
            <a:r>
              <a:rPr lang="en-US" sz="1800" b="true">
                <a:solidFill>
                  <a:srgbClr val="172346"/>
                </a:solidFill>
                <a:latin typeface="Noto Sans Bold"/>
                <a:ea typeface="Noto Sans Bold"/>
                <a:cs typeface="Noto Sans Bold"/>
                <a:sym typeface="Noto Sans Bold"/>
              </a:rPr>
              <a:t>Q. 본인을 간단히 소개해 주세요.</a:t>
            </a:r>
          </a:p>
        </p:txBody>
      </p:sp>
      <p:grpSp>
        <p:nvGrpSpPr>
          <p:cNvPr name="Group 23" id="23"/>
          <p:cNvGrpSpPr/>
          <p:nvPr/>
        </p:nvGrpSpPr>
        <p:grpSpPr>
          <a:xfrm rot="0">
            <a:off x="11800513" y="4529728"/>
            <a:ext cx="1822952" cy="1823828"/>
            <a:chOff x="0" y="0"/>
            <a:chExt cx="2430602" cy="2431771"/>
          </a:xfrm>
        </p:grpSpPr>
        <p:sp>
          <p:nvSpPr>
            <p:cNvPr name="Freeform 24" id="24"/>
            <p:cNvSpPr/>
            <p:nvPr/>
          </p:nvSpPr>
          <p:spPr>
            <a:xfrm flipH="false" flipV="false" rot="0">
              <a:off x="0" y="0"/>
              <a:ext cx="2430526" cy="2431796"/>
            </a:xfrm>
            <a:custGeom>
              <a:avLst/>
              <a:gdLst/>
              <a:ahLst/>
              <a:cxnLst/>
              <a:rect r="r" b="b" t="t" l="l"/>
              <a:pathLst>
                <a:path h="2431796" w="2430526">
                  <a:moveTo>
                    <a:pt x="0" y="1215898"/>
                  </a:moveTo>
                  <a:cubicBezTo>
                    <a:pt x="0" y="544322"/>
                    <a:pt x="544068" y="0"/>
                    <a:pt x="1215263" y="0"/>
                  </a:cubicBezTo>
                  <a:cubicBezTo>
                    <a:pt x="1886458" y="0"/>
                    <a:pt x="2430526" y="544322"/>
                    <a:pt x="2430526" y="1215898"/>
                  </a:cubicBezTo>
                  <a:cubicBezTo>
                    <a:pt x="2430526" y="1887474"/>
                    <a:pt x="1886458" y="2431796"/>
                    <a:pt x="1215263" y="2431796"/>
                  </a:cubicBezTo>
                  <a:cubicBezTo>
                    <a:pt x="544068" y="2431796"/>
                    <a:pt x="0" y="1887347"/>
                    <a:pt x="0" y="1215898"/>
                  </a:cubicBezTo>
                  <a:close/>
                </a:path>
              </a:pathLst>
            </a:custGeom>
            <a:blipFill>
              <a:blip r:embed="rId3">
                <a:alphaModFix amt="0"/>
              </a:blip>
              <a:stretch>
                <a:fillRect l="-78367" t="0" r="-78370" b="1"/>
              </a:stretch>
            </a:blipFill>
            <a:ln w="57150" cap="sq">
              <a:solidFill>
                <a:srgbClr val="FFFFFF"/>
              </a:solidFill>
              <a:prstDash val="solid"/>
              <a:miter/>
            </a:ln>
          </p:spPr>
        </p:sp>
      </p:grpSp>
      <p:sp>
        <p:nvSpPr>
          <p:cNvPr name="TextBox 25" id="25"/>
          <p:cNvSpPr txBox="true"/>
          <p:nvPr/>
        </p:nvSpPr>
        <p:spPr>
          <a:xfrm rot="0">
            <a:off x="11683289" y="5005568"/>
            <a:ext cx="2057400" cy="872147"/>
          </a:xfrm>
          <a:prstGeom prst="rect">
            <a:avLst/>
          </a:prstGeom>
        </p:spPr>
        <p:txBody>
          <a:bodyPr anchor="t" rtlCol="false" tIns="0" lIns="0" bIns="0" rIns="0">
            <a:spAutoFit/>
          </a:bodyPr>
          <a:lstStyle/>
          <a:p>
            <a:pPr algn="ctr">
              <a:lnSpc>
                <a:spcPts val="7920"/>
              </a:lnSpc>
            </a:pPr>
            <a:r>
              <a:rPr lang="en-US" sz="6600" b="true">
                <a:solidFill>
                  <a:srgbClr val="FFFFFF"/>
                </a:solidFill>
                <a:latin typeface="Noto Sans Bold"/>
                <a:ea typeface="Noto Sans Bold"/>
                <a:cs typeface="Noto Sans Bold"/>
                <a:sym typeface="Noto Sans Bold"/>
              </a:rPr>
              <a:t>5</a:t>
            </a:r>
          </a:p>
        </p:txBody>
      </p:sp>
      <p:sp>
        <p:nvSpPr>
          <p:cNvPr name="TextBox 26" id="26"/>
          <p:cNvSpPr txBox="true"/>
          <p:nvPr/>
        </p:nvSpPr>
        <p:spPr>
          <a:xfrm rot="0">
            <a:off x="8919515" y="6786572"/>
            <a:ext cx="7584948" cy="253079"/>
          </a:xfrm>
          <a:prstGeom prst="rect">
            <a:avLst/>
          </a:prstGeom>
        </p:spPr>
        <p:txBody>
          <a:bodyPr anchor="t" rtlCol="false" tIns="0" lIns="0" bIns="0" rIns="0">
            <a:spAutoFit/>
          </a:bodyPr>
          <a:lstStyle/>
          <a:p>
            <a:pPr algn="ctr">
              <a:lnSpc>
                <a:spcPts val="2376"/>
              </a:lnSpc>
            </a:pPr>
            <a:r>
              <a:rPr lang="en-US" sz="1800">
                <a:solidFill>
                  <a:srgbClr val="8FA9F5"/>
                </a:solidFill>
                <a:latin typeface="Noto Sans"/>
                <a:ea typeface="Noto Sans"/>
                <a:cs typeface="Noto Sans"/>
                <a:sym typeface="Noto Sans"/>
              </a:rPr>
              <a:t>답변 준비 시간</a:t>
            </a:r>
          </a:p>
        </p:txBody>
      </p:sp>
      <p:sp>
        <p:nvSpPr>
          <p:cNvPr name="TextBox 27" id="27"/>
          <p:cNvSpPr txBox="true"/>
          <p:nvPr/>
        </p:nvSpPr>
        <p:spPr>
          <a:xfrm rot="0">
            <a:off x="1371600" y="2729903"/>
            <a:ext cx="15540228" cy="881786"/>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질문별</a:t>
            </a:r>
            <a:r>
              <a:rPr lang="en-US" sz="4950" b="true">
                <a:solidFill>
                  <a:srgbClr val="11131B"/>
                </a:solidFill>
                <a:latin typeface="Noto Sans Bold"/>
                <a:ea typeface="Noto Sans Bold"/>
                <a:cs typeface="Noto Sans Bold"/>
                <a:sym typeface="Noto Sans Bold"/>
              </a:rPr>
              <a:t> 강점/약점 분석</a:t>
            </a:r>
          </a:p>
        </p:txBody>
      </p:sp>
      <p:sp>
        <p:nvSpPr>
          <p:cNvPr name="TextBox 28" id="28"/>
          <p:cNvSpPr txBox="true"/>
          <p:nvPr/>
        </p:nvSpPr>
        <p:spPr>
          <a:xfrm rot="0">
            <a:off x="1371600" y="3771910"/>
            <a:ext cx="15540228" cy="399669"/>
          </a:xfrm>
          <a:prstGeom prst="rect">
            <a:avLst/>
          </a:prstGeom>
        </p:spPr>
        <p:txBody>
          <a:bodyPr anchor="t" rtlCol="false" tIns="0" lIns="0" bIns="0" rIns="0">
            <a:spAutoFit/>
          </a:bodyPr>
          <a:lstStyle/>
          <a:p>
            <a:pPr algn="l">
              <a:lnSpc>
                <a:spcPts val="3393"/>
              </a:lnSpc>
            </a:pPr>
            <a:r>
              <a:rPr lang="en-US" sz="1950">
                <a:solidFill>
                  <a:srgbClr val="747987"/>
                </a:solidFill>
                <a:latin typeface="Noto Sans"/>
                <a:ea typeface="Noto Sans"/>
                <a:cs typeface="Noto Sans"/>
                <a:sym typeface="Noto Sans"/>
              </a:rPr>
              <a:t>질문별 발표 내용의 강점과 약점을 발화 단위로 표시합니다.</a:t>
            </a:r>
          </a:p>
        </p:txBody>
      </p:sp>
      <p:sp>
        <p:nvSpPr>
          <p:cNvPr name="TextBox 29" id="29"/>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03</a:t>
            </a:r>
          </a:p>
        </p:txBody>
      </p:sp>
    </p:spTree>
  </p:cSld>
  <p:clrMapOvr>
    <a:masterClrMapping/>
  </p:clrMapOvr>
  <p:transition spd="fast">
    <p:fade/>
  </p:transition>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33</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기능 · 면접  04</a:t>
            </a:r>
          </a:p>
        </p:txBody>
      </p:sp>
      <p:grpSp>
        <p:nvGrpSpPr>
          <p:cNvPr name="Group 18" id="18"/>
          <p:cNvGrpSpPr/>
          <p:nvPr/>
        </p:nvGrpSpPr>
        <p:grpSpPr>
          <a:xfrm rot="0">
            <a:off x="1382649" y="4822126"/>
            <a:ext cx="4819650" cy="4888230"/>
            <a:chOff x="0" y="0"/>
            <a:chExt cx="6426200" cy="6517640"/>
          </a:xfrm>
        </p:grpSpPr>
        <p:sp>
          <p:nvSpPr>
            <p:cNvPr name="Freeform 19" id="19"/>
            <p:cNvSpPr/>
            <p:nvPr/>
          </p:nvSpPr>
          <p:spPr>
            <a:xfrm flipH="false" flipV="false" rot="0">
              <a:off x="0" y="0"/>
              <a:ext cx="6426200" cy="6517640"/>
            </a:xfrm>
            <a:custGeom>
              <a:avLst/>
              <a:gdLst/>
              <a:ahLst/>
              <a:cxnLst/>
              <a:rect r="r" b="b" t="t" l="l"/>
              <a:pathLst>
                <a:path h="6517640" w="6426200">
                  <a:moveTo>
                    <a:pt x="0" y="351917"/>
                  </a:moveTo>
                  <a:cubicBezTo>
                    <a:pt x="0" y="157607"/>
                    <a:pt x="157607" y="0"/>
                    <a:pt x="351917" y="0"/>
                  </a:cubicBezTo>
                  <a:lnTo>
                    <a:pt x="6074283" y="0"/>
                  </a:lnTo>
                  <a:cubicBezTo>
                    <a:pt x="6268593" y="0"/>
                    <a:pt x="6426200" y="157607"/>
                    <a:pt x="6426200" y="351917"/>
                  </a:cubicBezTo>
                  <a:lnTo>
                    <a:pt x="6426200" y="6165723"/>
                  </a:lnTo>
                  <a:cubicBezTo>
                    <a:pt x="6426200" y="6360160"/>
                    <a:pt x="6268593" y="6517640"/>
                    <a:pt x="6074283" y="6517640"/>
                  </a:cubicBezTo>
                  <a:lnTo>
                    <a:pt x="351917" y="6517640"/>
                  </a:lnTo>
                  <a:cubicBezTo>
                    <a:pt x="157607" y="6517640"/>
                    <a:pt x="0" y="6360033"/>
                    <a:pt x="0" y="6165723"/>
                  </a:cubicBezTo>
                  <a:close/>
                </a:path>
              </a:pathLst>
            </a:custGeom>
            <a:solidFill>
              <a:srgbClr val="FFFFFF"/>
            </a:solidFill>
            <a:ln w="19050" cap="sq">
              <a:solidFill>
                <a:srgbClr val="E1E6F0"/>
              </a:solidFill>
              <a:prstDash val="solid"/>
              <a:miter/>
            </a:ln>
          </p:spPr>
        </p:sp>
      </p:grpSp>
      <p:sp>
        <p:nvSpPr>
          <p:cNvPr name="TextBox 20" id="20"/>
          <p:cNvSpPr txBox="true"/>
          <p:nvPr/>
        </p:nvSpPr>
        <p:spPr>
          <a:xfrm rot="0">
            <a:off x="1392174" y="7007162"/>
            <a:ext cx="4800600" cy="373570"/>
          </a:xfrm>
          <a:prstGeom prst="rect">
            <a:avLst/>
          </a:prstGeom>
        </p:spPr>
        <p:txBody>
          <a:bodyPr anchor="t" rtlCol="false" tIns="0" lIns="0" bIns="0" rIns="0">
            <a:spAutoFit/>
          </a:bodyPr>
          <a:lstStyle/>
          <a:p>
            <a:pPr algn="ctr">
              <a:lnSpc>
                <a:spcPts val="2970"/>
              </a:lnSpc>
            </a:pPr>
            <a:r>
              <a:rPr lang="en-US" sz="2250" b="true">
                <a:solidFill>
                  <a:srgbClr val="172346"/>
                </a:solidFill>
                <a:latin typeface="Noto Sans Bold"/>
                <a:ea typeface="Noto Sans Bold"/>
                <a:cs typeface="Noto Sans Bold"/>
                <a:sym typeface="Noto Sans Bold"/>
              </a:rPr>
              <a:t>실무 중심형</a:t>
            </a:r>
          </a:p>
        </p:txBody>
      </p:sp>
      <p:sp>
        <p:nvSpPr>
          <p:cNvPr name="TextBox 21" id="21"/>
          <p:cNvSpPr txBox="true"/>
          <p:nvPr/>
        </p:nvSpPr>
        <p:spPr>
          <a:xfrm rot="0">
            <a:off x="1392174" y="7546276"/>
            <a:ext cx="4800600" cy="285855"/>
          </a:xfrm>
          <a:prstGeom prst="rect">
            <a:avLst/>
          </a:prstGeom>
        </p:spPr>
        <p:txBody>
          <a:bodyPr anchor="t" rtlCol="false" tIns="0" lIns="0" bIns="0" rIns="0">
            <a:spAutoFit/>
          </a:bodyPr>
          <a:lstStyle/>
          <a:p>
            <a:pPr algn="ctr">
              <a:lnSpc>
                <a:spcPts val="2173"/>
              </a:lnSpc>
            </a:pPr>
            <a:r>
              <a:rPr lang="en-US" sz="1575">
                <a:solidFill>
                  <a:srgbClr val="9AA3B8"/>
                </a:solidFill>
                <a:latin typeface="Noto Sans"/>
                <a:ea typeface="Noto Sans"/>
                <a:cs typeface="Noto Sans"/>
                <a:sym typeface="Noto Sans"/>
              </a:rPr>
              <a:t>논리적인 직무 질문 · 차분한 피드백</a:t>
            </a:r>
          </a:p>
        </p:txBody>
      </p:sp>
      <p:grpSp>
        <p:nvGrpSpPr>
          <p:cNvPr name="Group 22" id="22"/>
          <p:cNvGrpSpPr/>
          <p:nvPr/>
        </p:nvGrpSpPr>
        <p:grpSpPr>
          <a:xfrm rot="0">
            <a:off x="1735074" y="8192071"/>
            <a:ext cx="4114800" cy="1165860"/>
            <a:chOff x="0" y="0"/>
            <a:chExt cx="5486400" cy="1554480"/>
          </a:xfrm>
        </p:grpSpPr>
        <p:sp>
          <p:nvSpPr>
            <p:cNvPr name="Freeform 23" id="23"/>
            <p:cNvSpPr/>
            <p:nvPr/>
          </p:nvSpPr>
          <p:spPr>
            <a:xfrm flipH="false" flipV="false" rot="0">
              <a:off x="0" y="0"/>
              <a:ext cx="5486400" cy="1554480"/>
            </a:xfrm>
            <a:custGeom>
              <a:avLst/>
              <a:gdLst/>
              <a:ahLst/>
              <a:cxnLst/>
              <a:rect r="r" b="b" t="t" l="l"/>
              <a:pathLst>
                <a:path h="1554480" w="5486400">
                  <a:moveTo>
                    <a:pt x="0" y="203200"/>
                  </a:moveTo>
                  <a:cubicBezTo>
                    <a:pt x="0" y="90932"/>
                    <a:pt x="90932" y="0"/>
                    <a:pt x="203200" y="0"/>
                  </a:cubicBezTo>
                  <a:lnTo>
                    <a:pt x="5283200" y="0"/>
                  </a:lnTo>
                  <a:cubicBezTo>
                    <a:pt x="5395468" y="0"/>
                    <a:pt x="5486400" y="90932"/>
                    <a:pt x="5486400" y="203200"/>
                  </a:cubicBezTo>
                  <a:lnTo>
                    <a:pt x="5486400" y="1351280"/>
                  </a:lnTo>
                  <a:cubicBezTo>
                    <a:pt x="5486400" y="1463548"/>
                    <a:pt x="5395468" y="1554480"/>
                    <a:pt x="5283200" y="1554480"/>
                  </a:cubicBezTo>
                  <a:lnTo>
                    <a:pt x="203200" y="1554480"/>
                  </a:lnTo>
                  <a:cubicBezTo>
                    <a:pt x="90932" y="1554480"/>
                    <a:pt x="0" y="1463548"/>
                    <a:pt x="0" y="1351280"/>
                  </a:cubicBezTo>
                  <a:close/>
                </a:path>
              </a:pathLst>
            </a:custGeom>
            <a:solidFill>
              <a:srgbClr val="F7F8FB"/>
            </a:solidFill>
          </p:spPr>
        </p:sp>
      </p:grpSp>
      <p:sp>
        <p:nvSpPr>
          <p:cNvPr name="TextBox 24" id="24"/>
          <p:cNvSpPr txBox="true"/>
          <p:nvPr/>
        </p:nvSpPr>
        <p:spPr>
          <a:xfrm rot="0">
            <a:off x="1968246" y="8336471"/>
            <a:ext cx="3648456" cy="590083"/>
          </a:xfrm>
          <a:prstGeom prst="rect">
            <a:avLst/>
          </a:prstGeom>
        </p:spPr>
        <p:txBody>
          <a:bodyPr anchor="t" rtlCol="false" tIns="0" lIns="0" bIns="0" rIns="0">
            <a:spAutoFit/>
          </a:bodyPr>
          <a:lstStyle/>
          <a:p>
            <a:pPr algn="ctr">
              <a:lnSpc>
                <a:spcPts val="2223"/>
              </a:lnSpc>
            </a:pPr>
            <a:r>
              <a:rPr lang="en-US" sz="1425">
                <a:solidFill>
                  <a:srgbClr val="45506E"/>
                </a:solidFill>
                <a:latin typeface="Noto Sans"/>
                <a:ea typeface="Noto Sans"/>
                <a:cs typeface="Noto Sans"/>
                <a:sym typeface="Noto Sans"/>
              </a:rPr>
              <a:t>예: "이 구조를 선택한 기준과 트레이드오프를 설명해 주세요."</a:t>
            </a:r>
          </a:p>
        </p:txBody>
      </p:sp>
      <p:grpSp>
        <p:nvGrpSpPr>
          <p:cNvPr name="Group 25" id="25"/>
          <p:cNvGrpSpPr/>
          <p:nvPr/>
        </p:nvGrpSpPr>
        <p:grpSpPr>
          <a:xfrm rot="0">
            <a:off x="6731889" y="4822126"/>
            <a:ext cx="4819650" cy="4888230"/>
            <a:chOff x="0" y="0"/>
            <a:chExt cx="6426200" cy="6517640"/>
          </a:xfrm>
        </p:grpSpPr>
        <p:sp>
          <p:nvSpPr>
            <p:cNvPr name="Freeform 26" id="26"/>
            <p:cNvSpPr/>
            <p:nvPr/>
          </p:nvSpPr>
          <p:spPr>
            <a:xfrm flipH="false" flipV="false" rot="0">
              <a:off x="0" y="0"/>
              <a:ext cx="6426200" cy="6517640"/>
            </a:xfrm>
            <a:custGeom>
              <a:avLst/>
              <a:gdLst/>
              <a:ahLst/>
              <a:cxnLst/>
              <a:rect r="r" b="b" t="t" l="l"/>
              <a:pathLst>
                <a:path h="6517640" w="6426200">
                  <a:moveTo>
                    <a:pt x="0" y="351917"/>
                  </a:moveTo>
                  <a:cubicBezTo>
                    <a:pt x="0" y="157607"/>
                    <a:pt x="157607" y="0"/>
                    <a:pt x="351917" y="0"/>
                  </a:cubicBezTo>
                  <a:lnTo>
                    <a:pt x="6074283" y="0"/>
                  </a:lnTo>
                  <a:cubicBezTo>
                    <a:pt x="6268593" y="0"/>
                    <a:pt x="6426200" y="157607"/>
                    <a:pt x="6426200" y="351917"/>
                  </a:cubicBezTo>
                  <a:lnTo>
                    <a:pt x="6426200" y="6165723"/>
                  </a:lnTo>
                  <a:cubicBezTo>
                    <a:pt x="6426200" y="6360160"/>
                    <a:pt x="6268593" y="6517640"/>
                    <a:pt x="6074283" y="6517640"/>
                  </a:cubicBezTo>
                  <a:lnTo>
                    <a:pt x="351917" y="6517640"/>
                  </a:lnTo>
                  <a:cubicBezTo>
                    <a:pt x="157607" y="6517640"/>
                    <a:pt x="0" y="6360033"/>
                    <a:pt x="0" y="6165723"/>
                  </a:cubicBezTo>
                  <a:close/>
                </a:path>
              </a:pathLst>
            </a:custGeom>
            <a:solidFill>
              <a:srgbClr val="FFFFFF"/>
            </a:solidFill>
            <a:ln w="19050" cap="sq">
              <a:solidFill>
                <a:srgbClr val="E1E6F0"/>
              </a:solidFill>
              <a:prstDash val="solid"/>
              <a:miter/>
            </a:ln>
          </p:spPr>
        </p:sp>
      </p:grpSp>
      <p:sp>
        <p:nvSpPr>
          <p:cNvPr name="TextBox 27" id="27"/>
          <p:cNvSpPr txBox="true"/>
          <p:nvPr/>
        </p:nvSpPr>
        <p:spPr>
          <a:xfrm rot="0">
            <a:off x="6741414" y="7007162"/>
            <a:ext cx="4800600" cy="373570"/>
          </a:xfrm>
          <a:prstGeom prst="rect">
            <a:avLst/>
          </a:prstGeom>
        </p:spPr>
        <p:txBody>
          <a:bodyPr anchor="t" rtlCol="false" tIns="0" lIns="0" bIns="0" rIns="0">
            <a:spAutoFit/>
          </a:bodyPr>
          <a:lstStyle/>
          <a:p>
            <a:pPr algn="ctr">
              <a:lnSpc>
                <a:spcPts val="2970"/>
              </a:lnSpc>
            </a:pPr>
            <a:r>
              <a:rPr lang="en-US" sz="2250" b="true">
                <a:solidFill>
                  <a:srgbClr val="172346"/>
                </a:solidFill>
                <a:latin typeface="Noto Sans Bold"/>
                <a:ea typeface="Noto Sans Bold"/>
                <a:cs typeface="Noto Sans Bold"/>
                <a:sym typeface="Noto Sans Bold"/>
              </a:rPr>
              <a:t>성장 코치형</a:t>
            </a:r>
          </a:p>
        </p:txBody>
      </p:sp>
      <p:sp>
        <p:nvSpPr>
          <p:cNvPr name="TextBox 28" id="28"/>
          <p:cNvSpPr txBox="true"/>
          <p:nvPr/>
        </p:nvSpPr>
        <p:spPr>
          <a:xfrm rot="0">
            <a:off x="6741414" y="7546276"/>
            <a:ext cx="4800600" cy="285855"/>
          </a:xfrm>
          <a:prstGeom prst="rect">
            <a:avLst/>
          </a:prstGeom>
        </p:spPr>
        <p:txBody>
          <a:bodyPr anchor="t" rtlCol="false" tIns="0" lIns="0" bIns="0" rIns="0">
            <a:spAutoFit/>
          </a:bodyPr>
          <a:lstStyle/>
          <a:p>
            <a:pPr algn="ctr">
              <a:lnSpc>
                <a:spcPts val="2173"/>
              </a:lnSpc>
            </a:pPr>
            <a:r>
              <a:rPr lang="en-US" sz="1575">
                <a:solidFill>
                  <a:srgbClr val="9AA3B8"/>
                </a:solidFill>
                <a:latin typeface="Noto Sans"/>
                <a:ea typeface="Noto Sans"/>
                <a:cs typeface="Noto Sans"/>
                <a:sym typeface="Noto Sans"/>
              </a:rPr>
              <a:t>친절한 후속 질문 · 강점 발견</a:t>
            </a:r>
          </a:p>
        </p:txBody>
      </p:sp>
      <p:grpSp>
        <p:nvGrpSpPr>
          <p:cNvPr name="Group 29" id="29"/>
          <p:cNvGrpSpPr/>
          <p:nvPr/>
        </p:nvGrpSpPr>
        <p:grpSpPr>
          <a:xfrm rot="0">
            <a:off x="7084314" y="8192071"/>
            <a:ext cx="4114800" cy="1165860"/>
            <a:chOff x="0" y="0"/>
            <a:chExt cx="5486400" cy="1554480"/>
          </a:xfrm>
        </p:grpSpPr>
        <p:sp>
          <p:nvSpPr>
            <p:cNvPr name="Freeform 30" id="30"/>
            <p:cNvSpPr/>
            <p:nvPr/>
          </p:nvSpPr>
          <p:spPr>
            <a:xfrm flipH="false" flipV="false" rot="0">
              <a:off x="0" y="0"/>
              <a:ext cx="5486400" cy="1554480"/>
            </a:xfrm>
            <a:custGeom>
              <a:avLst/>
              <a:gdLst/>
              <a:ahLst/>
              <a:cxnLst/>
              <a:rect r="r" b="b" t="t" l="l"/>
              <a:pathLst>
                <a:path h="1554480" w="5486400">
                  <a:moveTo>
                    <a:pt x="0" y="203200"/>
                  </a:moveTo>
                  <a:cubicBezTo>
                    <a:pt x="0" y="90932"/>
                    <a:pt x="90932" y="0"/>
                    <a:pt x="203200" y="0"/>
                  </a:cubicBezTo>
                  <a:lnTo>
                    <a:pt x="5283200" y="0"/>
                  </a:lnTo>
                  <a:cubicBezTo>
                    <a:pt x="5395468" y="0"/>
                    <a:pt x="5486400" y="90932"/>
                    <a:pt x="5486400" y="203200"/>
                  </a:cubicBezTo>
                  <a:lnTo>
                    <a:pt x="5486400" y="1351280"/>
                  </a:lnTo>
                  <a:cubicBezTo>
                    <a:pt x="5486400" y="1463548"/>
                    <a:pt x="5395468" y="1554480"/>
                    <a:pt x="5283200" y="1554480"/>
                  </a:cubicBezTo>
                  <a:lnTo>
                    <a:pt x="203200" y="1554480"/>
                  </a:lnTo>
                  <a:cubicBezTo>
                    <a:pt x="90932" y="1554480"/>
                    <a:pt x="0" y="1463548"/>
                    <a:pt x="0" y="1351280"/>
                  </a:cubicBezTo>
                  <a:close/>
                </a:path>
              </a:pathLst>
            </a:custGeom>
            <a:solidFill>
              <a:srgbClr val="F7F8FB"/>
            </a:solidFill>
          </p:spPr>
        </p:sp>
      </p:grpSp>
      <p:sp>
        <p:nvSpPr>
          <p:cNvPr name="TextBox 31" id="31"/>
          <p:cNvSpPr txBox="true"/>
          <p:nvPr/>
        </p:nvSpPr>
        <p:spPr>
          <a:xfrm rot="0">
            <a:off x="7317486" y="8336471"/>
            <a:ext cx="3648456" cy="590083"/>
          </a:xfrm>
          <a:prstGeom prst="rect">
            <a:avLst/>
          </a:prstGeom>
        </p:spPr>
        <p:txBody>
          <a:bodyPr anchor="t" rtlCol="false" tIns="0" lIns="0" bIns="0" rIns="0">
            <a:spAutoFit/>
          </a:bodyPr>
          <a:lstStyle/>
          <a:p>
            <a:pPr algn="ctr">
              <a:lnSpc>
                <a:spcPts val="2223"/>
              </a:lnSpc>
            </a:pPr>
            <a:r>
              <a:rPr lang="en-US" sz="1425">
                <a:solidFill>
                  <a:srgbClr val="45506E"/>
                </a:solidFill>
                <a:latin typeface="Noto Sans"/>
                <a:ea typeface="Noto Sans"/>
                <a:cs typeface="Noto Sans"/>
                <a:sym typeface="Noto Sans"/>
              </a:rPr>
              <a:t>예: "그 경험에서 본인의 강점은 무엇이었다고 생각하세요?"</a:t>
            </a:r>
          </a:p>
        </p:txBody>
      </p:sp>
      <p:grpSp>
        <p:nvGrpSpPr>
          <p:cNvPr name="Group 32" id="32"/>
          <p:cNvGrpSpPr/>
          <p:nvPr/>
        </p:nvGrpSpPr>
        <p:grpSpPr>
          <a:xfrm rot="0">
            <a:off x="12081129" y="4822126"/>
            <a:ext cx="4819650" cy="4888230"/>
            <a:chOff x="0" y="0"/>
            <a:chExt cx="6426200" cy="6517640"/>
          </a:xfrm>
        </p:grpSpPr>
        <p:sp>
          <p:nvSpPr>
            <p:cNvPr name="Freeform 33" id="33"/>
            <p:cNvSpPr/>
            <p:nvPr/>
          </p:nvSpPr>
          <p:spPr>
            <a:xfrm flipH="false" flipV="false" rot="0">
              <a:off x="0" y="0"/>
              <a:ext cx="6426200" cy="6517640"/>
            </a:xfrm>
            <a:custGeom>
              <a:avLst/>
              <a:gdLst/>
              <a:ahLst/>
              <a:cxnLst/>
              <a:rect r="r" b="b" t="t" l="l"/>
              <a:pathLst>
                <a:path h="6517640" w="6426200">
                  <a:moveTo>
                    <a:pt x="0" y="351917"/>
                  </a:moveTo>
                  <a:cubicBezTo>
                    <a:pt x="0" y="157607"/>
                    <a:pt x="157607" y="0"/>
                    <a:pt x="351917" y="0"/>
                  </a:cubicBezTo>
                  <a:lnTo>
                    <a:pt x="6074283" y="0"/>
                  </a:lnTo>
                  <a:cubicBezTo>
                    <a:pt x="6268593" y="0"/>
                    <a:pt x="6426200" y="157607"/>
                    <a:pt x="6426200" y="351917"/>
                  </a:cubicBezTo>
                  <a:lnTo>
                    <a:pt x="6426200" y="6165723"/>
                  </a:lnTo>
                  <a:cubicBezTo>
                    <a:pt x="6426200" y="6360160"/>
                    <a:pt x="6268593" y="6517640"/>
                    <a:pt x="6074283" y="6517640"/>
                  </a:cubicBezTo>
                  <a:lnTo>
                    <a:pt x="351917" y="6517640"/>
                  </a:lnTo>
                  <a:cubicBezTo>
                    <a:pt x="157607" y="6517640"/>
                    <a:pt x="0" y="6360033"/>
                    <a:pt x="0" y="6165723"/>
                  </a:cubicBezTo>
                  <a:close/>
                </a:path>
              </a:pathLst>
            </a:custGeom>
            <a:solidFill>
              <a:srgbClr val="FFFFFF"/>
            </a:solidFill>
            <a:ln w="19050" cap="sq">
              <a:solidFill>
                <a:srgbClr val="E1E6F0"/>
              </a:solidFill>
              <a:prstDash val="solid"/>
              <a:miter/>
            </a:ln>
          </p:spPr>
        </p:sp>
      </p:grpSp>
      <p:sp>
        <p:nvSpPr>
          <p:cNvPr name="TextBox 34" id="34"/>
          <p:cNvSpPr txBox="true"/>
          <p:nvPr/>
        </p:nvSpPr>
        <p:spPr>
          <a:xfrm rot="0">
            <a:off x="12090654" y="7007162"/>
            <a:ext cx="4800600" cy="373570"/>
          </a:xfrm>
          <a:prstGeom prst="rect">
            <a:avLst/>
          </a:prstGeom>
        </p:spPr>
        <p:txBody>
          <a:bodyPr anchor="t" rtlCol="false" tIns="0" lIns="0" bIns="0" rIns="0">
            <a:spAutoFit/>
          </a:bodyPr>
          <a:lstStyle/>
          <a:p>
            <a:pPr algn="ctr">
              <a:lnSpc>
                <a:spcPts val="2970"/>
              </a:lnSpc>
            </a:pPr>
            <a:r>
              <a:rPr lang="en-US" sz="2250" b="true">
                <a:solidFill>
                  <a:srgbClr val="172346"/>
                </a:solidFill>
                <a:latin typeface="Noto Sans Bold"/>
                <a:ea typeface="Noto Sans Bold"/>
                <a:cs typeface="Noto Sans Bold"/>
                <a:sym typeface="Noto Sans Bold"/>
              </a:rPr>
              <a:t>압박 검증형</a:t>
            </a:r>
          </a:p>
        </p:txBody>
      </p:sp>
      <p:sp>
        <p:nvSpPr>
          <p:cNvPr name="TextBox 35" id="35"/>
          <p:cNvSpPr txBox="true"/>
          <p:nvPr/>
        </p:nvSpPr>
        <p:spPr>
          <a:xfrm rot="0">
            <a:off x="12090654" y="7546276"/>
            <a:ext cx="4800600" cy="285855"/>
          </a:xfrm>
          <a:prstGeom prst="rect">
            <a:avLst/>
          </a:prstGeom>
        </p:spPr>
        <p:txBody>
          <a:bodyPr anchor="t" rtlCol="false" tIns="0" lIns="0" bIns="0" rIns="0">
            <a:spAutoFit/>
          </a:bodyPr>
          <a:lstStyle/>
          <a:p>
            <a:pPr algn="ctr">
              <a:lnSpc>
                <a:spcPts val="2173"/>
              </a:lnSpc>
            </a:pPr>
            <a:r>
              <a:rPr lang="en-US" sz="1575">
                <a:solidFill>
                  <a:srgbClr val="9AA3B8"/>
                </a:solidFill>
                <a:latin typeface="Noto Sans"/>
                <a:ea typeface="Noto Sans"/>
                <a:cs typeface="Noto Sans"/>
                <a:sym typeface="Noto Sans"/>
              </a:rPr>
              <a:t>꼬리 질문 중심 · 실전 긴장감</a:t>
            </a:r>
          </a:p>
        </p:txBody>
      </p:sp>
      <p:grpSp>
        <p:nvGrpSpPr>
          <p:cNvPr name="Group 36" id="36"/>
          <p:cNvGrpSpPr/>
          <p:nvPr/>
        </p:nvGrpSpPr>
        <p:grpSpPr>
          <a:xfrm rot="0">
            <a:off x="12433554" y="8192071"/>
            <a:ext cx="4114800" cy="1165860"/>
            <a:chOff x="0" y="0"/>
            <a:chExt cx="5486400" cy="1554480"/>
          </a:xfrm>
        </p:grpSpPr>
        <p:sp>
          <p:nvSpPr>
            <p:cNvPr name="Freeform 37" id="37"/>
            <p:cNvSpPr/>
            <p:nvPr/>
          </p:nvSpPr>
          <p:spPr>
            <a:xfrm flipH="false" flipV="false" rot="0">
              <a:off x="0" y="0"/>
              <a:ext cx="5486400" cy="1554480"/>
            </a:xfrm>
            <a:custGeom>
              <a:avLst/>
              <a:gdLst/>
              <a:ahLst/>
              <a:cxnLst/>
              <a:rect r="r" b="b" t="t" l="l"/>
              <a:pathLst>
                <a:path h="1554480" w="5486400">
                  <a:moveTo>
                    <a:pt x="0" y="203200"/>
                  </a:moveTo>
                  <a:cubicBezTo>
                    <a:pt x="0" y="90932"/>
                    <a:pt x="90932" y="0"/>
                    <a:pt x="203200" y="0"/>
                  </a:cubicBezTo>
                  <a:lnTo>
                    <a:pt x="5283200" y="0"/>
                  </a:lnTo>
                  <a:cubicBezTo>
                    <a:pt x="5395468" y="0"/>
                    <a:pt x="5486400" y="90932"/>
                    <a:pt x="5486400" y="203200"/>
                  </a:cubicBezTo>
                  <a:lnTo>
                    <a:pt x="5486400" y="1351280"/>
                  </a:lnTo>
                  <a:cubicBezTo>
                    <a:pt x="5486400" y="1463548"/>
                    <a:pt x="5395468" y="1554480"/>
                    <a:pt x="5283200" y="1554480"/>
                  </a:cubicBezTo>
                  <a:lnTo>
                    <a:pt x="203200" y="1554480"/>
                  </a:lnTo>
                  <a:cubicBezTo>
                    <a:pt x="90932" y="1554480"/>
                    <a:pt x="0" y="1463548"/>
                    <a:pt x="0" y="1351280"/>
                  </a:cubicBezTo>
                  <a:close/>
                </a:path>
              </a:pathLst>
            </a:custGeom>
            <a:solidFill>
              <a:srgbClr val="F7F8FB"/>
            </a:solidFill>
          </p:spPr>
        </p:sp>
      </p:grpSp>
      <p:sp>
        <p:nvSpPr>
          <p:cNvPr name="TextBox 38" id="38"/>
          <p:cNvSpPr txBox="true"/>
          <p:nvPr/>
        </p:nvSpPr>
        <p:spPr>
          <a:xfrm rot="0">
            <a:off x="12666726" y="8336471"/>
            <a:ext cx="3648456" cy="590083"/>
          </a:xfrm>
          <a:prstGeom prst="rect">
            <a:avLst/>
          </a:prstGeom>
        </p:spPr>
        <p:txBody>
          <a:bodyPr anchor="t" rtlCol="false" tIns="0" lIns="0" bIns="0" rIns="0">
            <a:spAutoFit/>
          </a:bodyPr>
          <a:lstStyle/>
          <a:p>
            <a:pPr algn="ctr">
              <a:lnSpc>
                <a:spcPts val="2223"/>
              </a:lnSpc>
            </a:pPr>
            <a:r>
              <a:rPr lang="en-US" sz="1425">
                <a:solidFill>
                  <a:srgbClr val="45506E"/>
                </a:solidFill>
                <a:latin typeface="Noto Sans"/>
                <a:ea typeface="Noto Sans"/>
                <a:cs typeface="Noto Sans"/>
                <a:sym typeface="Noto Sans"/>
              </a:rPr>
              <a:t>예: "그 판단이 틀렸다면 어떻게 대응하시겠어요?"</a:t>
            </a:r>
          </a:p>
        </p:txBody>
      </p:sp>
      <p:grpSp>
        <p:nvGrpSpPr>
          <p:cNvPr name="Group 39" id="39"/>
          <p:cNvGrpSpPr/>
          <p:nvPr/>
        </p:nvGrpSpPr>
        <p:grpSpPr>
          <a:xfrm rot="0">
            <a:off x="1299782" y="4739259"/>
            <a:ext cx="4985385" cy="5053965"/>
            <a:chOff x="0" y="0"/>
            <a:chExt cx="6647180" cy="6738620"/>
          </a:xfrm>
        </p:grpSpPr>
        <p:sp>
          <p:nvSpPr>
            <p:cNvPr name="Freeform 40" id="40"/>
            <p:cNvSpPr/>
            <p:nvPr/>
          </p:nvSpPr>
          <p:spPr>
            <a:xfrm flipH="false" flipV="false" rot="0">
              <a:off x="0" y="0"/>
              <a:ext cx="6647180" cy="6738620"/>
            </a:xfrm>
            <a:custGeom>
              <a:avLst/>
              <a:gdLst/>
              <a:ahLst/>
              <a:cxnLst/>
              <a:rect r="r" b="b" t="t" l="l"/>
              <a:pathLst>
                <a:path h="6738620" w="6647180">
                  <a:moveTo>
                    <a:pt x="0" y="404622"/>
                  </a:moveTo>
                  <a:cubicBezTo>
                    <a:pt x="0" y="181229"/>
                    <a:pt x="181229" y="0"/>
                    <a:pt x="404622" y="0"/>
                  </a:cubicBezTo>
                  <a:lnTo>
                    <a:pt x="6242558" y="0"/>
                  </a:lnTo>
                  <a:cubicBezTo>
                    <a:pt x="6466078" y="0"/>
                    <a:pt x="6647180" y="181229"/>
                    <a:pt x="6647180" y="404622"/>
                  </a:cubicBezTo>
                  <a:lnTo>
                    <a:pt x="6647180" y="6333998"/>
                  </a:lnTo>
                  <a:cubicBezTo>
                    <a:pt x="6647180" y="6557518"/>
                    <a:pt x="6465951" y="6738620"/>
                    <a:pt x="6242558" y="6738620"/>
                  </a:cubicBezTo>
                  <a:lnTo>
                    <a:pt x="404622" y="6738620"/>
                  </a:lnTo>
                  <a:cubicBezTo>
                    <a:pt x="181229" y="6738620"/>
                    <a:pt x="0" y="6557391"/>
                    <a:pt x="0" y="6333998"/>
                  </a:cubicBezTo>
                  <a:close/>
                </a:path>
              </a:pathLst>
            </a:custGeom>
            <a:blipFill>
              <a:blip r:embed="rId3">
                <a:alphaModFix amt="0"/>
              </a:blip>
              <a:stretch>
                <a:fillRect l="-80068" t="0" r="-80068" b="0"/>
              </a:stretch>
            </a:blipFill>
            <a:ln w="47625" cap="sq">
              <a:solidFill>
                <a:srgbClr val="5968DC"/>
              </a:solidFill>
              <a:prstDash val="solid"/>
              <a:miter/>
            </a:ln>
          </p:spPr>
        </p:sp>
      </p:grpSp>
      <p:grpSp>
        <p:nvGrpSpPr>
          <p:cNvPr name="Group 41" id="41"/>
          <p:cNvGrpSpPr/>
          <p:nvPr/>
        </p:nvGrpSpPr>
        <p:grpSpPr>
          <a:xfrm rot="0">
            <a:off x="13708370" y="5190563"/>
            <a:ext cx="1620002" cy="1620002"/>
            <a:chOff x="0" y="0"/>
            <a:chExt cx="2160003" cy="2160003"/>
          </a:xfrm>
        </p:grpSpPr>
        <p:sp>
          <p:nvSpPr>
            <p:cNvPr name="Freeform 42" id="42"/>
            <p:cNvSpPr/>
            <p:nvPr/>
          </p:nvSpPr>
          <p:spPr>
            <a:xfrm flipH="false" flipV="false" rot="0">
              <a:off x="0" y="0"/>
              <a:ext cx="2160016" cy="2160016"/>
            </a:xfrm>
            <a:custGeom>
              <a:avLst/>
              <a:gdLst/>
              <a:ahLst/>
              <a:cxnLst/>
              <a:rect r="r" b="b" t="t" l="l"/>
              <a:pathLst>
                <a:path h="2160016" w="2160016">
                  <a:moveTo>
                    <a:pt x="0" y="0"/>
                  </a:moveTo>
                  <a:lnTo>
                    <a:pt x="2160016" y="0"/>
                  </a:lnTo>
                  <a:lnTo>
                    <a:pt x="2160016" y="2160016"/>
                  </a:lnTo>
                  <a:lnTo>
                    <a:pt x="0" y="2160016"/>
                  </a:lnTo>
                  <a:lnTo>
                    <a:pt x="0" y="0"/>
                  </a:lnTo>
                  <a:close/>
                </a:path>
              </a:pathLst>
            </a:custGeom>
            <a:blipFill>
              <a:blip r:embed="rId4"/>
              <a:stretch>
                <a:fillRect l="-4994" t="-5652" r="-4994" b="-4336"/>
              </a:stretch>
            </a:blipFill>
          </p:spPr>
        </p:sp>
      </p:grpSp>
      <p:grpSp>
        <p:nvGrpSpPr>
          <p:cNvPr name="Group 43" id="43"/>
          <p:cNvGrpSpPr/>
          <p:nvPr/>
        </p:nvGrpSpPr>
        <p:grpSpPr>
          <a:xfrm rot="0">
            <a:off x="8357397" y="5190563"/>
            <a:ext cx="1620002" cy="1620002"/>
            <a:chOff x="0" y="0"/>
            <a:chExt cx="2160003" cy="2160003"/>
          </a:xfrm>
        </p:grpSpPr>
        <p:sp>
          <p:nvSpPr>
            <p:cNvPr name="Freeform 44" id="44"/>
            <p:cNvSpPr/>
            <p:nvPr/>
          </p:nvSpPr>
          <p:spPr>
            <a:xfrm flipH="false" flipV="false" rot="0">
              <a:off x="0" y="0"/>
              <a:ext cx="2160016" cy="2160016"/>
            </a:xfrm>
            <a:custGeom>
              <a:avLst/>
              <a:gdLst/>
              <a:ahLst/>
              <a:cxnLst/>
              <a:rect r="r" b="b" t="t" l="l"/>
              <a:pathLst>
                <a:path h="2160016" w="2160016">
                  <a:moveTo>
                    <a:pt x="0" y="0"/>
                  </a:moveTo>
                  <a:lnTo>
                    <a:pt x="2160016" y="0"/>
                  </a:lnTo>
                  <a:lnTo>
                    <a:pt x="2160016" y="2160016"/>
                  </a:lnTo>
                  <a:lnTo>
                    <a:pt x="0" y="2160016"/>
                  </a:lnTo>
                  <a:lnTo>
                    <a:pt x="0" y="0"/>
                  </a:lnTo>
                  <a:close/>
                </a:path>
              </a:pathLst>
            </a:custGeom>
            <a:blipFill>
              <a:blip r:embed="rId5"/>
              <a:stretch>
                <a:fillRect l="-4113" t="-4713" r="-4611" b="-4012"/>
              </a:stretch>
            </a:blipFill>
          </p:spPr>
        </p:sp>
      </p:grpSp>
      <p:grpSp>
        <p:nvGrpSpPr>
          <p:cNvPr name="Group 45" id="45"/>
          <p:cNvGrpSpPr/>
          <p:nvPr/>
        </p:nvGrpSpPr>
        <p:grpSpPr>
          <a:xfrm rot="0">
            <a:off x="3006414" y="5190563"/>
            <a:ext cx="1620002" cy="1620002"/>
            <a:chOff x="0" y="0"/>
            <a:chExt cx="2160003" cy="2160003"/>
          </a:xfrm>
        </p:grpSpPr>
        <p:sp>
          <p:nvSpPr>
            <p:cNvPr name="Freeform 46" id="46"/>
            <p:cNvSpPr/>
            <p:nvPr/>
          </p:nvSpPr>
          <p:spPr>
            <a:xfrm flipH="false" flipV="false" rot="0">
              <a:off x="0" y="0"/>
              <a:ext cx="2160016" cy="2160016"/>
            </a:xfrm>
            <a:custGeom>
              <a:avLst/>
              <a:gdLst/>
              <a:ahLst/>
              <a:cxnLst/>
              <a:rect r="r" b="b" t="t" l="l"/>
              <a:pathLst>
                <a:path h="2160016" w="2160016">
                  <a:moveTo>
                    <a:pt x="0" y="0"/>
                  </a:moveTo>
                  <a:lnTo>
                    <a:pt x="2160016" y="0"/>
                  </a:lnTo>
                  <a:lnTo>
                    <a:pt x="2160016" y="2160016"/>
                  </a:lnTo>
                  <a:lnTo>
                    <a:pt x="0" y="2160016"/>
                  </a:lnTo>
                  <a:lnTo>
                    <a:pt x="0" y="0"/>
                  </a:lnTo>
                  <a:close/>
                </a:path>
              </a:pathLst>
            </a:custGeom>
            <a:blipFill>
              <a:blip r:embed="rId6"/>
              <a:stretch>
                <a:fillRect l="-3610" t="-4092" r="-3822" b="-3341"/>
              </a:stretch>
            </a:blipFill>
          </p:spPr>
        </p:sp>
      </p:grpSp>
      <p:sp>
        <p:nvSpPr>
          <p:cNvPr name="TextBox 47" id="47"/>
          <p:cNvSpPr txBox="true"/>
          <p:nvPr/>
        </p:nvSpPr>
        <p:spPr>
          <a:xfrm rot="0">
            <a:off x="1371600" y="2729903"/>
            <a:ext cx="15540228" cy="881786"/>
          </a:xfrm>
          <a:prstGeom prst="rect">
            <a:avLst/>
          </a:prstGeom>
        </p:spPr>
        <p:txBody>
          <a:bodyPr anchor="t" rtlCol="false" tIns="0" lIns="0" bIns="0" rIns="0">
            <a:spAutoFit/>
          </a:bodyPr>
          <a:lstStyle/>
          <a:p>
            <a:pPr algn="l">
              <a:lnSpc>
                <a:spcPts val="7246"/>
              </a:lnSpc>
            </a:pPr>
            <a:r>
              <a:rPr lang="en-US" sz="4950" b="true">
                <a:solidFill>
                  <a:srgbClr val="11131B"/>
                </a:solidFill>
                <a:latin typeface="Noto Sans Bold"/>
                <a:ea typeface="Noto Sans Bold"/>
                <a:cs typeface="Noto Sans Bold"/>
                <a:sym typeface="Noto Sans Bold"/>
              </a:rPr>
              <a:t>면접관 유형 다양화</a:t>
            </a:r>
          </a:p>
        </p:txBody>
      </p:sp>
      <p:sp>
        <p:nvSpPr>
          <p:cNvPr name="TextBox 48" id="48"/>
          <p:cNvSpPr txBox="true"/>
          <p:nvPr/>
        </p:nvSpPr>
        <p:spPr>
          <a:xfrm rot="0">
            <a:off x="1371600" y="3771910"/>
            <a:ext cx="15540228" cy="399669"/>
          </a:xfrm>
          <a:prstGeom prst="rect">
            <a:avLst/>
          </a:prstGeom>
        </p:spPr>
        <p:txBody>
          <a:bodyPr anchor="t" rtlCol="false" tIns="0" lIns="0" bIns="0" rIns="0">
            <a:spAutoFit/>
          </a:bodyPr>
          <a:lstStyle/>
          <a:p>
            <a:pPr algn="l">
              <a:lnSpc>
                <a:spcPts val="3393"/>
              </a:lnSpc>
            </a:pPr>
            <a:r>
              <a:rPr lang="en-US" sz="1950">
                <a:solidFill>
                  <a:srgbClr val="747987"/>
                </a:solidFill>
                <a:latin typeface="Noto Sans"/>
                <a:ea typeface="Noto Sans"/>
                <a:cs typeface="Noto Sans"/>
                <a:sym typeface="Noto Sans"/>
              </a:rPr>
              <a:t>면접관 유형에 따른 질문 수준을 변경합니다.</a:t>
            </a:r>
          </a:p>
        </p:txBody>
      </p:sp>
      <p:sp>
        <p:nvSpPr>
          <p:cNvPr name="TextBox 49" id="49"/>
          <p:cNvSpPr txBox="true"/>
          <p:nvPr/>
        </p:nvSpPr>
        <p:spPr>
          <a:xfrm rot="0">
            <a:off x="1371600" y="2057400"/>
            <a:ext cx="2194560" cy="457200"/>
          </a:xfrm>
          <a:prstGeom prst="rect">
            <a:avLst/>
          </a:prstGeom>
        </p:spPr>
        <p:txBody>
          <a:bodyPr anchor="t" rtlCol="false" tIns="0" lIns="0" bIns="0" rIns="0">
            <a:spAutoFit/>
          </a:bodyPr>
          <a:lstStyle/>
          <a:p>
            <a:pPr algn="l">
              <a:lnSpc>
                <a:spcPts val="3600"/>
              </a:lnSpc>
            </a:pPr>
            <a:r>
              <a:rPr lang="en-US" sz="3000" b="true">
                <a:solidFill>
                  <a:srgbClr val="C9D8FA"/>
                </a:solidFill>
                <a:latin typeface="Noto Sans Bold"/>
                <a:ea typeface="Noto Sans Bold"/>
                <a:cs typeface="Noto Sans Bold"/>
                <a:sym typeface="Noto Sans Bold"/>
              </a:rPr>
              <a:t>04</a:t>
            </a:r>
          </a:p>
        </p:txBody>
      </p:sp>
    </p:spTree>
  </p:cSld>
  <p:clrMapOvr>
    <a:masterClrMapping/>
  </p:clrMapOvr>
  <p:transition spd="fast">
    <p:fade/>
  </p:transition>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D0E12"/>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38</a:t>
              </a:r>
            </a:p>
          </p:txBody>
        </p:sp>
      </p:grpSp>
      <p:grpSp>
        <p:nvGrpSpPr>
          <p:cNvPr name="Group 17" id="17"/>
          <p:cNvGrpSpPr/>
          <p:nvPr/>
        </p:nvGrpSpPr>
        <p:grpSpPr>
          <a:xfrm rot="0">
            <a:off x="1371600" y="3223260"/>
            <a:ext cx="4114800" cy="2057400"/>
            <a:chOff x="0" y="0"/>
            <a:chExt cx="5486400" cy="2743200"/>
          </a:xfrm>
        </p:grpSpPr>
        <p:sp>
          <p:nvSpPr>
            <p:cNvPr name="Freeform 18" id="18"/>
            <p:cNvSpPr/>
            <p:nvPr/>
          </p:nvSpPr>
          <p:spPr>
            <a:xfrm flipH="false" flipV="false" rot="0">
              <a:off x="0" y="0"/>
              <a:ext cx="5486400" cy="2743200"/>
            </a:xfrm>
            <a:custGeom>
              <a:avLst/>
              <a:gdLst/>
              <a:ahLst/>
              <a:cxnLst/>
              <a:rect r="r" b="b" t="t" l="l"/>
              <a:pathLst>
                <a:path h="2743200" w="5486400">
                  <a:moveTo>
                    <a:pt x="0" y="0"/>
                  </a:moveTo>
                  <a:lnTo>
                    <a:pt x="5486400" y="0"/>
                  </a:lnTo>
                  <a:lnTo>
                    <a:pt x="5486400" y="2743200"/>
                  </a:lnTo>
                  <a:lnTo>
                    <a:pt x="0" y="2743200"/>
                  </a:lnTo>
                  <a:close/>
                </a:path>
              </a:pathLst>
            </a:custGeom>
            <a:blipFill>
              <a:blip r:embed="rId3">
                <a:alphaModFix amt="0"/>
              </a:blip>
              <a:stretch>
                <a:fillRect l="-14151" t="0" r="-14151" b="0"/>
              </a:stretch>
            </a:blipFill>
          </p:spPr>
        </p:sp>
        <p:sp>
          <p:nvSpPr>
            <p:cNvPr name="TextBox 19" id="19"/>
            <p:cNvSpPr txBox="true"/>
            <p:nvPr/>
          </p:nvSpPr>
          <p:spPr>
            <a:xfrm>
              <a:off x="0" y="0"/>
              <a:ext cx="5486400" cy="2743200"/>
            </a:xfrm>
            <a:prstGeom prst="rect">
              <a:avLst/>
            </a:prstGeom>
          </p:spPr>
          <p:txBody>
            <a:bodyPr anchor="ctr" rtlCol="false" tIns="0" lIns="0" bIns="0" rIns="0"/>
            <a:lstStyle/>
            <a:p>
              <a:pPr algn="l">
                <a:lnSpc>
                  <a:spcPts val="17280"/>
                </a:lnSpc>
              </a:pPr>
              <a:r>
                <a:rPr lang="en-US" sz="14400" b="true">
                  <a:solidFill>
                    <a:srgbClr val="3B73EE"/>
                  </a:solidFill>
                  <a:latin typeface="Noto Sans Bold"/>
                  <a:ea typeface="Noto Sans Bold"/>
                  <a:cs typeface="Noto Sans Bold"/>
                  <a:sym typeface="Noto Sans Bold"/>
                </a:rPr>
                <a:t>05</a:t>
              </a:r>
            </a:p>
          </p:txBody>
        </p:sp>
      </p:grpSp>
      <p:sp>
        <p:nvSpPr>
          <p:cNvPr name="TextBox 20" id="20"/>
          <p:cNvSpPr txBox="true"/>
          <p:nvPr/>
        </p:nvSpPr>
        <p:spPr>
          <a:xfrm rot="0">
            <a:off x="1371600" y="5417820"/>
            <a:ext cx="15544343" cy="1234440"/>
          </a:xfrm>
          <a:prstGeom prst="rect">
            <a:avLst/>
          </a:prstGeom>
        </p:spPr>
        <p:txBody>
          <a:bodyPr anchor="t" rtlCol="false" tIns="0" lIns="0" bIns="0" rIns="0">
            <a:spAutoFit/>
          </a:bodyPr>
          <a:lstStyle/>
          <a:p>
            <a:pPr algn="l">
              <a:lnSpc>
                <a:spcPts val="7920"/>
              </a:lnSpc>
            </a:pPr>
            <a:r>
              <a:rPr lang="en-US" sz="6600" b="true">
                <a:solidFill>
                  <a:srgbClr val="FFFFFF"/>
                </a:solidFill>
                <a:latin typeface="Noto Sans Bold"/>
                <a:ea typeface="Noto Sans Bold"/>
                <a:cs typeface="Noto Sans Bold"/>
                <a:sym typeface="Noto Sans Bold"/>
              </a:rPr>
              <a:t>사용 기술</a:t>
            </a:r>
          </a:p>
        </p:txBody>
      </p:sp>
      <p:sp>
        <p:nvSpPr>
          <p:cNvPr name="TextBox 21" id="21"/>
          <p:cNvSpPr txBox="true"/>
          <p:nvPr/>
        </p:nvSpPr>
        <p:spPr>
          <a:xfrm rot="0">
            <a:off x="1371600" y="6830568"/>
            <a:ext cx="15544343" cy="548640"/>
          </a:xfrm>
          <a:prstGeom prst="rect">
            <a:avLst/>
          </a:prstGeom>
        </p:spPr>
        <p:txBody>
          <a:bodyPr anchor="t" rtlCol="false" tIns="0" lIns="0" bIns="0" rIns="0">
            <a:spAutoFit/>
          </a:bodyPr>
          <a:lstStyle/>
          <a:p>
            <a:pPr algn="l">
              <a:lnSpc>
                <a:spcPts val="2520"/>
              </a:lnSpc>
            </a:pPr>
            <a:r>
              <a:rPr lang="en-US" sz="2100">
                <a:solidFill>
                  <a:srgbClr val="A6ADBD"/>
                </a:solidFill>
                <a:latin typeface="Noto Sans"/>
                <a:ea typeface="Noto Sans"/>
                <a:cs typeface="Noto Sans"/>
                <a:sym typeface="Noto Sans"/>
              </a:rPr>
              <a:t>점수 뒤에는 기술이 있습니다</a:t>
            </a:r>
          </a:p>
        </p:txBody>
      </p:sp>
    </p:spTree>
  </p:cSld>
  <p:clrMapOvr>
    <a:masterClrMapping/>
  </p:clrMapOvr>
  <p:transition spd="fast">
    <p:fade/>
  </p:transition>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39</a:t>
              </a:r>
            </a:p>
          </p:txBody>
        </p:sp>
      </p:grpSp>
      <p:sp>
        <p:nvSpPr>
          <p:cNvPr name="TextBox 17" id="17"/>
          <p:cNvSpPr txBox="true"/>
          <p:nvPr/>
        </p:nvSpPr>
        <p:spPr>
          <a:xfrm rot="0">
            <a:off x="1371600" y="1001268"/>
            <a:ext cx="8915400" cy="228600"/>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시스템 아키텍처</a:t>
            </a:r>
          </a:p>
        </p:txBody>
      </p:sp>
      <p:sp>
        <p:nvSpPr>
          <p:cNvPr name="TextBox 18" id="18"/>
          <p:cNvSpPr txBox="true"/>
          <p:nvPr/>
        </p:nvSpPr>
        <p:spPr>
          <a:xfrm rot="0">
            <a:off x="1371600" y="1541145"/>
            <a:ext cx="15544343" cy="834771"/>
          </a:xfrm>
          <a:prstGeom prst="rect">
            <a:avLst/>
          </a:prstGeom>
        </p:spPr>
        <p:txBody>
          <a:bodyPr anchor="t" rtlCol="false" tIns="0" lIns="0" bIns="0" rIns="0">
            <a:spAutoFit/>
          </a:bodyPr>
          <a:lstStyle/>
          <a:p>
            <a:pPr algn="l">
              <a:lnSpc>
                <a:spcPts val="6912"/>
              </a:lnSpc>
            </a:pPr>
            <a:r>
              <a:rPr lang="en-US" sz="4800" b="true">
                <a:solidFill>
                  <a:srgbClr val="11131B"/>
                </a:solidFill>
                <a:latin typeface="Noto Sans Bold"/>
                <a:ea typeface="Noto Sans Bold"/>
                <a:cs typeface="Noto Sans Bold"/>
                <a:sym typeface="Noto Sans Bold"/>
              </a:rPr>
              <a:t>아키텍처 이미지 넣기</a:t>
            </a:r>
          </a:p>
        </p:txBody>
      </p:sp>
    </p:spTree>
  </p:cSld>
  <p:clrMapOvr>
    <a:masterClrMapping/>
  </p:clrMapOvr>
  <p:transition spd="fast">
    <p:fade/>
  </p:transition>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39</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시스템 아키텍처</a:t>
            </a:r>
          </a:p>
        </p:txBody>
      </p:sp>
      <p:sp>
        <p:nvSpPr>
          <p:cNvPr name="TextBox 18" id="18"/>
          <p:cNvSpPr txBox="true"/>
          <p:nvPr/>
        </p:nvSpPr>
        <p:spPr>
          <a:xfrm rot="0">
            <a:off x="1371600" y="1541145"/>
            <a:ext cx="15544343" cy="1270635"/>
          </a:xfrm>
          <a:prstGeom prst="rect">
            <a:avLst/>
          </a:prstGeom>
        </p:spPr>
        <p:txBody>
          <a:bodyPr anchor="t" rtlCol="false" tIns="0" lIns="0" bIns="0" rIns="0">
            <a:spAutoFit/>
          </a:bodyPr>
          <a:lstStyle/>
          <a:p>
            <a:pPr algn="l">
              <a:lnSpc>
                <a:spcPts val="6912"/>
              </a:lnSpc>
            </a:pPr>
            <a:r>
              <a:rPr lang="en-US" sz="4800" b="true">
                <a:solidFill>
                  <a:srgbClr val="11131B"/>
                </a:solidFill>
                <a:latin typeface="Noto Sans Bold"/>
                <a:ea typeface="Noto Sans Bold"/>
                <a:cs typeface="Noto Sans Bold"/>
                <a:sym typeface="Noto Sans Bold"/>
              </a:rPr>
              <a:t>요청은 빠르게, 분석은 비동기로</a:t>
            </a:r>
          </a:p>
        </p:txBody>
      </p:sp>
      <p:grpSp>
        <p:nvGrpSpPr>
          <p:cNvPr name="Group 19" id="19"/>
          <p:cNvGrpSpPr/>
          <p:nvPr/>
        </p:nvGrpSpPr>
        <p:grpSpPr>
          <a:xfrm rot="0">
            <a:off x="1362075" y="4036695"/>
            <a:ext cx="3267342" cy="57455"/>
            <a:chOff x="0" y="0"/>
            <a:chExt cx="4356456" cy="76606"/>
          </a:xfrm>
        </p:grpSpPr>
        <p:sp>
          <p:nvSpPr>
            <p:cNvPr name="Freeform 20" id="20"/>
            <p:cNvSpPr/>
            <p:nvPr/>
          </p:nvSpPr>
          <p:spPr>
            <a:xfrm flipH="false" flipV="false" rot="0">
              <a:off x="0" y="0"/>
              <a:ext cx="4356481" cy="76581"/>
            </a:xfrm>
            <a:custGeom>
              <a:avLst/>
              <a:gdLst/>
              <a:ahLst/>
              <a:cxnLst/>
              <a:rect r="r" b="b" t="t" l="l"/>
              <a:pathLst>
                <a:path h="76581" w="4356481">
                  <a:moveTo>
                    <a:pt x="0" y="0"/>
                  </a:moveTo>
                  <a:lnTo>
                    <a:pt x="4356481" y="0"/>
                  </a:lnTo>
                  <a:lnTo>
                    <a:pt x="4356481" y="76581"/>
                  </a:lnTo>
                  <a:lnTo>
                    <a:pt x="0" y="76581"/>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4334256"/>
            <a:ext cx="3248292" cy="521208"/>
          </a:xfrm>
          <a:prstGeom prst="rect">
            <a:avLst/>
          </a:prstGeom>
        </p:spPr>
        <p:txBody>
          <a:bodyPr anchor="t" rtlCol="false" tIns="0" lIns="0" bIns="0" rIns="0">
            <a:spAutoFit/>
          </a:bodyPr>
          <a:lstStyle/>
          <a:p>
            <a:pPr algn="l">
              <a:lnSpc>
                <a:spcPts val="3060"/>
              </a:lnSpc>
            </a:pPr>
            <a:r>
              <a:rPr lang="en-US" sz="2550" b="true">
                <a:solidFill>
                  <a:srgbClr val="11131B"/>
                </a:solidFill>
                <a:latin typeface="Noto Sans Bold"/>
                <a:ea typeface="Noto Sans Bold"/>
                <a:cs typeface="Noto Sans Bold"/>
                <a:sym typeface="Noto Sans Bold"/>
              </a:rPr>
              <a:t>프론트엔드</a:t>
            </a:r>
          </a:p>
        </p:txBody>
      </p:sp>
      <p:sp>
        <p:nvSpPr>
          <p:cNvPr name="TextBox 22" id="22"/>
          <p:cNvSpPr txBox="true"/>
          <p:nvPr/>
        </p:nvSpPr>
        <p:spPr>
          <a:xfrm rot="0">
            <a:off x="1371600" y="4890135"/>
            <a:ext cx="3248292" cy="1007745"/>
          </a:xfrm>
          <a:prstGeom prst="rect">
            <a:avLst/>
          </a:prstGeom>
        </p:spPr>
        <p:txBody>
          <a:bodyPr anchor="t" rtlCol="false" tIns="0" lIns="0" bIns="0" rIns="0">
            <a:spAutoFit/>
          </a:bodyPr>
          <a:lstStyle/>
          <a:p>
            <a:pPr algn="l">
              <a:lnSpc>
                <a:spcPts val="2691"/>
              </a:lnSpc>
            </a:pPr>
            <a:r>
              <a:rPr lang="en-US" sz="1725">
                <a:solidFill>
                  <a:srgbClr val="747987"/>
                </a:solidFill>
                <a:latin typeface="Noto Sans"/>
                <a:ea typeface="Noto Sans"/>
                <a:cs typeface="Noto Sans"/>
                <a:sym typeface="Noto Sans"/>
              </a:rPr>
              <a:t>업로드 · 녹화</a:t>
            </a:r>
          </a:p>
          <a:p>
            <a:pPr algn="l">
              <a:lnSpc>
                <a:spcPts val="2691"/>
              </a:lnSpc>
            </a:pPr>
            <a:r>
              <a:rPr lang="en-US" sz="1725">
                <a:solidFill>
                  <a:srgbClr val="747987"/>
                </a:solidFill>
                <a:latin typeface="Noto Sans"/>
                <a:ea typeface="Noto Sans"/>
                <a:cs typeface="Noto Sans"/>
                <a:sym typeface="Noto Sans"/>
              </a:rPr>
              <a:t>실시간 분석</a:t>
            </a:r>
          </a:p>
        </p:txBody>
      </p:sp>
      <p:sp>
        <p:nvSpPr>
          <p:cNvPr name="TextBox 23" id="23"/>
          <p:cNvSpPr txBox="true"/>
          <p:nvPr/>
        </p:nvSpPr>
        <p:spPr>
          <a:xfrm rot="0">
            <a:off x="4674756" y="4279392"/>
            <a:ext cx="754380" cy="576072"/>
          </a:xfrm>
          <a:prstGeom prst="rect">
            <a:avLst/>
          </a:prstGeom>
        </p:spPr>
        <p:txBody>
          <a:bodyPr anchor="t" rtlCol="false" tIns="0" lIns="0" bIns="0" rIns="0">
            <a:spAutoFit/>
          </a:bodyPr>
          <a:lstStyle/>
          <a:p>
            <a:pPr algn="ctr">
              <a:lnSpc>
                <a:spcPts val="3060"/>
              </a:lnSpc>
            </a:pPr>
            <a:r>
              <a:rPr lang="en-US" sz="2550" b="true">
                <a:solidFill>
                  <a:srgbClr val="3B73EE"/>
                </a:solidFill>
                <a:latin typeface="Noto Sans Bold"/>
                <a:ea typeface="Noto Sans Bold"/>
                <a:cs typeface="Noto Sans Bold"/>
                <a:sym typeface="Noto Sans Bold"/>
              </a:rPr>
              <a:t>→</a:t>
            </a:r>
          </a:p>
        </p:txBody>
      </p:sp>
      <p:grpSp>
        <p:nvGrpSpPr>
          <p:cNvPr name="Group 24" id="24"/>
          <p:cNvGrpSpPr/>
          <p:nvPr/>
        </p:nvGrpSpPr>
        <p:grpSpPr>
          <a:xfrm rot="0">
            <a:off x="5460759" y="4036695"/>
            <a:ext cx="3267342" cy="57455"/>
            <a:chOff x="0" y="0"/>
            <a:chExt cx="4356456" cy="76606"/>
          </a:xfrm>
        </p:grpSpPr>
        <p:sp>
          <p:nvSpPr>
            <p:cNvPr name="Freeform 25" id="25"/>
            <p:cNvSpPr/>
            <p:nvPr/>
          </p:nvSpPr>
          <p:spPr>
            <a:xfrm flipH="false" flipV="false" rot="0">
              <a:off x="0" y="0"/>
              <a:ext cx="4356481" cy="76581"/>
            </a:xfrm>
            <a:custGeom>
              <a:avLst/>
              <a:gdLst/>
              <a:ahLst/>
              <a:cxnLst/>
              <a:rect r="r" b="b" t="t" l="l"/>
              <a:pathLst>
                <a:path h="76581" w="4356481">
                  <a:moveTo>
                    <a:pt x="0" y="0"/>
                  </a:moveTo>
                  <a:lnTo>
                    <a:pt x="4356481" y="0"/>
                  </a:lnTo>
                  <a:lnTo>
                    <a:pt x="4356481" y="76581"/>
                  </a:lnTo>
                  <a:lnTo>
                    <a:pt x="0" y="76581"/>
                  </a:lnTo>
                  <a:close/>
                </a:path>
              </a:pathLst>
            </a:custGeom>
            <a:solidFill>
              <a:srgbClr val="3B73EE"/>
            </a:solidFill>
            <a:ln w="19050" cap="sq">
              <a:solidFill>
                <a:srgbClr val="3B73EE"/>
              </a:solidFill>
              <a:prstDash val="solid"/>
              <a:miter/>
            </a:ln>
          </p:spPr>
        </p:sp>
      </p:grpSp>
      <p:sp>
        <p:nvSpPr>
          <p:cNvPr name="TextBox 26" id="26"/>
          <p:cNvSpPr txBox="true"/>
          <p:nvPr/>
        </p:nvSpPr>
        <p:spPr>
          <a:xfrm rot="0">
            <a:off x="5470284" y="4334256"/>
            <a:ext cx="3248292" cy="521208"/>
          </a:xfrm>
          <a:prstGeom prst="rect">
            <a:avLst/>
          </a:prstGeom>
        </p:spPr>
        <p:txBody>
          <a:bodyPr anchor="t" rtlCol="false" tIns="0" lIns="0" bIns="0" rIns="0">
            <a:spAutoFit/>
          </a:bodyPr>
          <a:lstStyle/>
          <a:p>
            <a:pPr algn="l">
              <a:lnSpc>
                <a:spcPts val="3060"/>
              </a:lnSpc>
            </a:pPr>
            <a:r>
              <a:rPr lang="en-US" sz="2550" b="true">
                <a:solidFill>
                  <a:srgbClr val="1F4FC4"/>
                </a:solidFill>
                <a:latin typeface="Noto Sans Bold"/>
                <a:ea typeface="Noto Sans Bold"/>
                <a:cs typeface="Noto Sans Bold"/>
                <a:sym typeface="Noto Sans Bold"/>
              </a:rPr>
              <a:t>Spring Boot</a:t>
            </a:r>
          </a:p>
        </p:txBody>
      </p:sp>
      <p:sp>
        <p:nvSpPr>
          <p:cNvPr name="TextBox 27" id="27"/>
          <p:cNvSpPr txBox="true"/>
          <p:nvPr/>
        </p:nvSpPr>
        <p:spPr>
          <a:xfrm rot="0">
            <a:off x="5470284" y="4890135"/>
            <a:ext cx="3248292" cy="1007745"/>
          </a:xfrm>
          <a:prstGeom prst="rect">
            <a:avLst/>
          </a:prstGeom>
        </p:spPr>
        <p:txBody>
          <a:bodyPr anchor="t" rtlCol="false" tIns="0" lIns="0" bIns="0" rIns="0">
            <a:spAutoFit/>
          </a:bodyPr>
          <a:lstStyle/>
          <a:p>
            <a:pPr algn="l">
              <a:lnSpc>
                <a:spcPts val="2691"/>
              </a:lnSpc>
            </a:pPr>
            <a:r>
              <a:rPr lang="en-US" sz="1725">
                <a:solidFill>
                  <a:srgbClr val="747987"/>
                </a:solidFill>
                <a:latin typeface="Noto Sans"/>
                <a:ea typeface="Noto Sans"/>
                <a:cs typeface="Noto Sans"/>
                <a:sym typeface="Noto Sans"/>
              </a:rPr>
              <a:t>세션 · 파일</a:t>
            </a:r>
          </a:p>
          <a:p>
            <a:pPr algn="l">
              <a:lnSpc>
                <a:spcPts val="2691"/>
              </a:lnSpc>
            </a:pPr>
            <a:r>
              <a:rPr lang="en-US" sz="1725">
                <a:solidFill>
                  <a:srgbClr val="747987"/>
                </a:solidFill>
                <a:latin typeface="Noto Sans"/>
                <a:ea typeface="Noto Sans"/>
                <a:cs typeface="Noto Sans"/>
                <a:sym typeface="Noto Sans"/>
              </a:rPr>
              <a:t>결과 관리</a:t>
            </a:r>
          </a:p>
        </p:txBody>
      </p:sp>
      <p:sp>
        <p:nvSpPr>
          <p:cNvPr name="TextBox 28" id="28"/>
          <p:cNvSpPr txBox="true"/>
          <p:nvPr/>
        </p:nvSpPr>
        <p:spPr>
          <a:xfrm rot="0">
            <a:off x="8773439" y="4279392"/>
            <a:ext cx="754380" cy="576072"/>
          </a:xfrm>
          <a:prstGeom prst="rect">
            <a:avLst/>
          </a:prstGeom>
        </p:spPr>
        <p:txBody>
          <a:bodyPr anchor="t" rtlCol="false" tIns="0" lIns="0" bIns="0" rIns="0">
            <a:spAutoFit/>
          </a:bodyPr>
          <a:lstStyle/>
          <a:p>
            <a:pPr algn="ctr">
              <a:lnSpc>
                <a:spcPts val="3060"/>
              </a:lnSpc>
            </a:pPr>
            <a:r>
              <a:rPr lang="en-US" sz="2550" b="true">
                <a:solidFill>
                  <a:srgbClr val="3B73EE"/>
                </a:solidFill>
                <a:latin typeface="Noto Sans Bold"/>
                <a:ea typeface="Noto Sans Bold"/>
                <a:cs typeface="Noto Sans Bold"/>
                <a:sym typeface="Noto Sans Bold"/>
              </a:rPr>
              <a:t>→</a:t>
            </a:r>
          </a:p>
        </p:txBody>
      </p:sp>
      <p:grpSp>
        <p:nvGrpSpPr>
          <p:cNvPr name="Group 29" id="29"/>
          <p:cNvGrpSpPr/>
          <p:nvPr/>
        </p:nvGrpSpPr>
        <p:grpSpPr>
          <a:xfrm rot="0">
            <a:off x="9559442" y="4036695"/>
            <a:ext cx="3267342" cy="57455"/>
            <a:chOff x="0" y="0"/>
            <a:chExt cx="4356456" cy="76606"/>
          </a:xfrm>
        </p:grpSpPr>
        <p:sp>
          <p:nvSpPr>
            <p:cNvPr name="Freeform 30" id="30"/>
            <p:cNvSpPr/>
            <p:nvPr/>
          </p:nvSpPr>
          <p:spPr>
            <a:xfrm flipH="false" flipV="false" rot="0">
              <a:off x="0" y="0"/>
              <a:ext cx="4356481" cy="76581"/>
            </a:xfrm>
            <a:custGeom>
              <a:avLst/>
              <a:gdLst/>
              <a:ahLst/>
              <a:cxnLst/>
              <a:rect r="r" b="b" t="t" l="l"/>
              <a:pathLst>
                <a:path h="76581" w="4356481">
                  <a:moveTo>
                    <a:pt x="0" y="0"/>
                  </a:moveTo>
                  <a:lnTo>
                    <a:pt x="4356481" y="0"/>
                  </a:lnTo>
                  <a:lnTo>
                    <a:pt x="4356481" y="76581"/>
                  </a:lnTo>
                  <a:lnTo>
                    <a:pt x="0" y="76581"/>
                  </a:lnTo>
                  <a:close/>
                </a:path>
              </a:pathLst>
            </a:custGeom>
            <a:solidFill>
              <a:srgbClr val="E4E6EE"/>
            </a:solidFill>
            <a:ln w="19050" cap="sq">
              <a:solidFill>
                <a:srgbClr val="E4E6EE"/>
              </a:solidFill>
              <a:prstDash val="solid"/>
              <a:miter/>
            </a:ln>
          </p:spPr>
        </p:sp>
      </p:grpSp>
      <p:sp>
        <p:nvSpPr>
          <p:cNvPr name="TextBox 31" id="31"/>
          <p:cNvSpPr txBox="true"/>
          <p:nvPr/>
        </p:nvSpPr>
        <p:spPr>
          <a:xfrm rot="0">
            <a:off x="9568967" y="4334256"/>
            <a:ext cx="3248292" cy="521208"/>
          </a:xfrm>
          <a:prstGeom prst="rect">
            <a:avLst/>
          </a:prstGeom>
        </p:spPr>
        <p:txBody>
          <a:bodyPr anchor="t" rtlCol="false" tIns="0" lIns="0" bIns="0" rIns="0">
            <a:spAutoFit/>
          </a:bodyPr>
          <a:lstStyle/>
          <a:p>
            <a:pPr algn="l">
              <a:lnSpc>
                <a:spcPts val="3060"/>
              </a:lnSpc>
            </a:pPr>
            <a:r>
              <a:rPr lang="en-US" sz="2550" b="true">
                <a:solidFill>
                  <a:srgbClr val="11131B"/>
                </a:solidFill>
                <a:latin typeface="Noto Sans Bold"/>
                <a:ea typeface="Noto Sans Bold"/>
                <a:cs typeface="Noto Sans Bold"/>
                <a:sym typeface="Noto Sans Bold"/>
              </a:rPr>
              <a:t>RabbitMQ</a:t>
            </a:r>
          </a:p>
        </p:txBody>
      </p:sp>
      <p:sp>
        <p:nvSpPr>
          <p:cNvPr name="TextBox 32" id="32"/>
          <p:cNvSpPr txBox="true"/>
          <p:nvPr/>
        </p:nvSpPr>
        <p:spPr>
          <a:xfrm rot="0">
            <a:off x="9568967" y="4890135"/>
            <a:ext cx="3248292" cy="1007745"/>
          </a:xfrm>
          <a:prstGeom prst="rect">
            <a:avLst/>
          </a:prstGeom>
        </p:spPr>
        <p:txBody>
          <a:bodyPr anchor="t" rtlCol="false" tIns="0" lIns="0" bIns="0" rIns="0">
            <a:spAutoFit/>
          </a:bodyPr>
          <a:lstStyle/>
          <a:p>
            <a:pPr algn="l">
              <a:lnSpc>
                <a:spcPts val="2691"/>
              </a:lnSpc>
            </a:pPr>
            <a:r>
              <a:rPr lang="en-US" sz="1725">
                <a:solidFill>
                  <a:srgbClr val="747987"/>
                </a:solidFill>
                <a:latin typeface="Noto Sans"/>
                <a:ea typeface="Noto Sans"/>
                <a:cs typeface="Noto Sans"/>
                <a:sym typeface="Noto Sans"/>
              </a:rPr>
              <a:t>분석 작업</a:t>
            </a:r>
          </a:p>
          <a:p>
            <a:pPr algn="l">
              <a:lnSpc>
                <a:spcPts val="2691"/>
              </a:lnSpc>
            </a:pPr>
            <a:r>
              <a:rPr lang="en-US" sz="1725">
                <a:solidFill>
                  <a:srgbClr val="747987"/>
                </a:solidFill>
                <a:latin typeface="Noto Sans"/>
                <a:ea typeface="Noto Sans"/>
                <a:cs typeface="Noto Sans"/>
                <a:sym typeface="Noto Sans"/>
              </a:rPr>
              <a:t>비동기 전달</a:t>
            </a:r>
          </a:p>
        </p:txBody>
      </p:sp>
      <p:sp>
        <p:nvSpPr>
          <p:cNvPr name="TextBox 33" id="33"/>
          <p:cNvSpPr txBox="true"/>
          <p:nvPr/>
        </p:nvSpPr>
        <p:spPr>
          <a:xfrm rot="0">
            <a:off x="12872123" y="4279392"/>
            <a:ext cx="754380" cy="576072"/>
          </a:xfrm>
          <a:prstGeom prst="rect">
            <a:avLst/>
          </a:prstGeom>
        </p:spPr>
        <p:txBody>
          <a:bodyPr anchor="t" rtlCol="false" tIns="0" lIns="0" bIns="0" rIns="0">
            <a:spAutoFit/>
          </a:bodyPr>
          <a:lstStyle/>
          <a:p>
            <a:pPr algn="ctr">
              <a:lnSpc>
                <a:spcPts val="3060"/>
              </a:lnSpc>
            </a:pPr>
            <a:r>
              <a:rPr lang="en-US" sz="2550" b="true">
                <a:solidFill>
                  <a:srgbClr val="3B73EE"/>
                </a:solidFill>
                <a:latin typeface="Noto Sans Bold"/>
                <a:ea typeface="Noto Sans Bold"/>
                <a:cs typeface="Noto Sans Bold"/>
                <a:sym typeface="Noto Sans Bold"/>
              </a:rPr>
              <a:t>→</a:t>
            </a:r>
          </a:p>
        </p:txBody>
      </p:sp>
      <p:grpSp>
        <p:nvGrpSpPr>
          <p:cNvPr name="Group 34" id="34"/>
          <p:cNvGrpSpPr/>
          <p:nvPr/>
        </p:nvGrpSpPr>
        <p:grpSpPr>
          <a:xfrm rot="0">
            <a:off x="13658126" y="4036695"/>
            <a:ext cx="3267342" cy="57455"/>
            <a:chOff x="0" y="0"/>
            <a:chExt cx="4356456" cy="76606"/>
          </a:xfrm>
        </p:grpSpPr>
        <p:sp>
          <p:nvSpPr>
            <p:cNvPr name="Freeform 35" id="35"/>
            <p:cNvSpPr/>
            <p:nvPr/>
          </p:nvSpPr>
          <p:spPr>
            <a:xfrm flipH="false" flipV="false" rot="0">
              <a:off x="0" y="0"/>
              <a:ext cx="4356481" cy="76581"/>
            </a:xfrm>
            <a:custGeom>
              <a:avLst/>
              <a:gdLst/>
              <a:ahLst/>
              <a:cxnLst/>
              <a:rect r="r" b="b" t="t" l="l"/>
              <a:pathLst>
                <a:path h="76581" w="4356481">
                  <a:moveTo>
                    <a:pt x="0" y="0"/>
                  </a:moveTo>
                  <a:lnTo>
                    <a:pt x="4356481" y="0"/>
                  </a:lnTo>
                  <a:lnTo>
                    <a:pt x="4356481" y="76581"/>
                  </a:lnTo>
                  <a:lnTo>
                    <a:pt x="0" y="76581"/>
                  </a:lnTo>
                  <a:close/>
                </a:path>
              </a:pathLst>
            </a:custGeom>
            <a:solidFill>
              <a:srgbClr val="3B73EE"/>
            </a:solidFill>
            <a:ln w="19050" cap="sq">
              <a:solidFill>
                <a:srgbClr val="3B73EE"/>
              </a:solidFill>
              <a:prstDash val="solid"/>
              <a:miter/>
            </a:ln>
          </p:spPr>
        </p:sp>
      </p:grpSp>
      <p:sp>
        <p:nvSpPr>
          <p:cNvPr name="TextBox 36" id="36"/>
          <p:cNvSpPr txBox="true"/>
          <p:nvPr/>
        </p:nvSpPr>
        <p:spPr>
          <a:xfrm rot="0">
            <a:off x="13667651" y="4334256"/>
            <a:ext cx="3248292" cy="521208"/>
          </a:xfrm>
          <a:prstGeom prst="rect">
            <a:avLst/>
          </a:prstGeom>
        </p:spPr>
        <p:txBody>
          <a:bodyPr anchor="t" rtlCol="false" tIns="0" lIns="0" bIns="0" rIns="0">
            <a:spAutoFit/>
          </a:bodyPr>
          <a:lstStyle/>
          <a:p>
            <a:pPr algn="l">
              <a:lnSpc>
                <a:spcPts val="3060"/>
              </a:lnSpc>
            </a:pPr>
            <a:r>
              <a:rPr lang="en-US" sz="2550" b="true">
                <a:solidFill>
                  <a:srgbClr val="1F4FC4"/>
                </a:solidFill>
                <a:latin typeface="Noto Sans Bold"/>
                <a:ea typeface="Noto Sans Bold"/>
                <a:cs typeface="Noto Sans Bold"/>
                <a:sym typeface="Noto Sans Bold"/>
              </a:rPr>
              <a:t>FastAPI</a:t>
            </a:r>
          </a:p>
        </p:txBody>
      </p:sp>
      <p:sp>
        <p:nvSpPr>
          <p:cNvPr name="TextBox 37" id="37"/>
          <p:cNvSpPr txBox="true"/>
          <p:nvPr/>
        </p:nvSpPr>
        <p:spPr>
          <a:xfrm rot="0">
            <a:off x="13667651" y="4890135"/>
            <a:ext cx="3248292" cy="1007745"/>
          </a:xfrm>
          <a:prstGeom prst="rect">
            <a:avLst/>
          </a:prstGeom>
        </p:spPr>
        <p:txBody>
          <a:bodyPr anchor="t" rtlCol="false" tIns="0" lIns="0" bIns="0" rIns="0">
            <a:spAutoFit/>
          </a:bodyPr>
          <a:lstStyle/>
          <a:p>
            <a:pPr algn="l">
              <a:lnSpc>
                <a:spcPts val="2691"/>
              </a:lnSpc>
            </a:pPr>
            <a:r>
              <a:rPr lang="en-US" sz="1725">
                <a:solidFill>
                  <a:srgbClr val="747987"/>
                </a:solidFill>
                <a:latin typeface="Noto Sans"/>
                <a:ea typeface="Noto Sans"/>
                <a:cs typeface="Noto Sans"/>
                <a:sym typeface="Noto Sans"/>
              </a:rPr>
              <a:t>STT · AI 분석</a:t>
            </a:r>
          </a:p>
          <a:p>
            <a:pPr algn="l">
              <a:lnSpc>
                <a:spcPts val="2691"/>
              </a:lnSpc>
            </a:pPr>
            <a:r>
              <a:rPr lang="en-US" sz="1725">
                <a:solidFill>
                  <a:srgbClr val="747987"/>
                </a:solidFill>
                <a:latin typeface="Noto Sans"/>
                <a:ea typeface="Noto Sans"/>
                <a:cs typeface="Noto Sans"/>
                <a:sym typeface="Noto Sans"/>
              </a:rPr>
              <a:t>수행</a:t>
            </a:r>
          </a:p>
        </p:txBody>
      </p:sp>
      <p:grpSp>
        <p:nvGrpSpPr>
          <p:cNvPr name="Group 38" id="38"/>
          <p:cNvGrpSpPr/>
          <p:nvPr/>
        </p:nvGrpSpPr>
        <p:grpSpPr>
          <a:xfrm rot="0">
            <a:off x="1362075" y="6436995"/>
            <a:ext cx="15563393" cy="38252"/>
            <a:chOff x="0" y="0"/>
            <a:chExt cx="20751190" cy="51003"/>
          </a:xfrm>
        </p:grpSpPr>
        <p:sp>
          <p:nvSpPr>
            <p:cNvPr name="Freeform 39" id="39"/>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CEEF4"/>
            </a:solidFill>
            <a:ln w="19050" cap="sq">
              <a:solidFill>
                <a:srgbClr val="ECEEF4"/>
              </a:solidFill>
              <a:prstDash val="solid"/>
              <a:miter/>
            </a:ln>
          </p:spPr>
        </p:sp>
      </p:grpSp>
      <p:sp>
        <p:nvSpPr>
          <p:cNvPr name="TextBox 40" id="40"/>
          <p:cNvSpPr txBox="true"/>
          <p:nvPr/>
        </p:nvSpPr>
        <p:spPr>
          <a:xfrm rot="0">
            <a:off x="1371600" y="6748272"/>
            <a:ext cx="2057400" cy="384048"/>
          </a:xfrm>
          <a:prstGeom prst="rect">
            <a:avLst/>
          </a:prstGeom>
        </p:spPr>
        <p:txBody>
          <a:bodyPr anchor="t" rtlCol="false" tIns="0" lIns="0" bIns="0" rIns="0">
            <a:spAutoFit/>
          </a:bodyPr>
          <a:lstStyle/>
          <a:p>
            <a:pPr algn="l">
              <a:lnSpc>
                <a:spcPts val="1980"/>
              </a:lnSpc>
            </a:pPr>
            <a:r>
              <a:rPr lang="en-US" b="true" sz="1650" spc="210">
                <a:solidFill>
                  <a:srgbClr val="3B73EE"/>
                </a:solidFill>
                <a:latin typeface="Noto Sans Bold"/>
                <a:ea typeface="Noto Sans Bold"/>
                <a:cs typeface="Noto Sans Bold"/>
                <a:sym typeface="Noto Sans Bold"/>
              </a:rPr>
              <a:t>저장</a:t>
            </a:r>
          </a:p>
        </p:txBody>
      </p:sp>
      <p:sp>
        <p:nvSpPr>
          <p:cNvPr name="TextBox 41" id="41"/>
          <p:cNvSpPr txBox="true"/>
          <p:nvPr/>
        </p:nvSpPr>
        <p:spPr>
          <a:xfrm rot="0">
            <a:off x="1371600" y="7269480"/>
            <a:ext cx="7360691" cy="521208"/>
          </a:xfrm>
          <a:prstGeom prst="rect">
            <a:avLst/>
          </a:prstGeom>
        </p:spPr>
        <p:txBody>
          <a:bodyPr anchor="t" rtlCol="false" tIns="0" lIns="0" bIns="0" rIns="0">
            <a:spAutoFit/>
          </a:bodyPr>
          <a:lstStyle/>
          <a:p>
            <a:pPr algn="l">
              <a:lnSpc>
                <a:spcPts val="3060"/>
              </a:lnSpc>
            </a:pPr>
            <a:r>
              <a:rPr lang="en-US" sz="2550" b="true">
                <a:solidFill>
                  <a:srgbClr val="11131B"/>
                </a:solidFill>
                <a:latin typeface="Noto Sans Bold"/>
                <a:ea typeface="Noto Sans Bold"/>
                <a:cs typeface="Noto Sans Bold"/>
                <a:sym typeface="Noto Sans Bold"/>
              </a:rPr>
              <a:t>S3</a:t>
            </a:r>
          </a:p>
        </p:txBody>
      </p:sp>
      <p:sp>
        <p:nvSpPr>
          <p:cNvPr name="TextBox 42" id="42"/>
          <p:cNvSpPr txBox="true"/>
          <p:nvPr/>
        </p:nvSpPr>
        <p:spPr>
          <a:xfrm rot="0">
            <a:off x="1371600" y="7855077"/>
            <a:ext cx="7360691" cy="401955"/>
          </a:xfrm>
          <a:prstGeom prst="rect">
            <a:avLst/>
          </a:prstGeom>
        </p:spPr>
        <p:txBody>
          <a:bodyPr anchor="t" rtlCol="false" tIns="0" lIns="0" bIns="0" rIns="0">
            <a:spAutoFit/>
          </a:bodyPr>
          <a:lstStyle/>
          <a:p>
            <a:pPr algn="l">
              <a:lnSpc>
                <a:spcPts val="2070"/>
              </a:lnSpc>
            </a:pPr>
            <a:r>
              <a:rPr lang="en-US" sz="1725">
                <a:solidFill>
                  <a:srgbClr val="747987"/>
                </a:solidFill>
                <a:latin typeface="Noto Sans"/>
                <a:ea typeface="Noto Sans"/>
                <a:cs typeface="Noto Sans"/>
                <a:sym typeface="Noto Sans"/>
              </a:rPr>
              <a:t>발표 자료 · 녹화 파일</a:t>
            </a:r>
          </a:p>
        </p:txBody>
      </p:sp>
      <p:sp>
        <p:nvSpPr>
          <p:cNvPr name="TextBox 43" id="43"/>
          <p:cNvSpPr txBox="true"/>
          <p:nvPr/>
        </p:nvSpPr>
        <p:spPr>
          <a:xfrm rot="0">
            <a:off x="9555251" y="7269480"/>
            <a:ext cx="7360691" cy="521208"/>
          </a:xfrm>
          <a:prstGeom prst="rect">
            <a:avLst/>
          </a:prstGeom>
        </p:spPr>
        <p:txBody>
          <a:bodyPr anchor="t" rtlCol="false" tIns="0" lIns="0" bIns="0" rIns="0">
            <a:spAutoFit/>
          </a:bodyPr>
          <a:lstStyle/>
          <a:p>
            <a:pPr algn="l">
              <a:lnSpc>
                <a:spcPts val="3060"/>
              </a:lnSpc>
            </a:pPr>
            <a:r>
              <a:rPr lang="en-US" sz="2550" b="true">
                <a:solidFill>
                  <a:srgbClr val="11131B"/>
                </a:solidFill>
                <a:latin typeface="Noto Sans Bold"/>
                <a:ea typeface="Noto Sans Bold"/>
                <a:cs typeface="Noto Sans Bold"/>
                <a:sym typeface="Noto Sans Bold"/>
              </a:rPr>
              <a:t>PostgreSQL</a:t>
            </a:r>
          </a:p>
        </p:txBody>
      </p:sp>
      <p:sp>
        <p:nvSpPr>
          <p:cNvPr name="TextBox 44" id="44"/>
          <p:cNvSpPr txBox="true"/>
          <p:nvPr/>
        </p:nvSpPr>
        <p:spPr>
          <a:xfrm rot="0">
            <a:off x="9555251" y="7855077"/>
            <a:ext cx="7360691" cy="401955"/>
          </a:xfrm>
          <a:prstGeom prst="rect">
            <a:avLst/>
          </a:prstGeom>
        </p:spPr>
        <p:txBody>
          <a:bodyPr anchor="t" rtlCol="false" tIns="0" lIns="0" bIns="0" rIns="0">
            <a:spAutoFit/>
          </a:bodyPr>
          <a:lstStyle/>
          <a:p>
            <a:pPr algn="l">
              <a:lnSpc>
                <a:spcPts val="2070"/>
              </a:lnSpc>
            </a:pPr>
            <a:r>
              <a:rPr lang="en-US" sz="1725">
                <a:solidFill>
                  <a:srgbClr val="747987"/>
                </a:solidFill>
                <a:latin typeface="Noto Sans"/>
                <a:ea typeface="Noto Sans"/>
                <a:cs typeface="Noto Sans"/>
                <a:sym typeface="Noto Sans"/>
              </a:rPr>
              <a:t>최종 분석 결과</a:t>
            </a:r>
          </a:p>
        </p:txBody>
      </p:sp>
      <p:sp>
        <p:nvSpPr>
          <p:cNvPr name="TextBox 45" id="45"/>
          <p:cNvSpPr txBox="true"/>
          <p:nvPr/>
        </p:nvSpPr>
        <p:spPr>
          <a:xfrm rot="0">
            <a:off x="1371600" y="8787765"/>
            <a:ext cx="15544343" cy="429387"/>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오래 걸리는 STT · AI 분석을 큐로 분리해, 사용자 요청은 기다리지 않고 응답합니다.</a:t>
            </a:r>
          </a:p>
        </p:txBody>
      </p:sp>
    </p:spTree>
  </p:cSld>
  <p:clrMapOvr>
    <a:masterClrMapping/>
  </p:clrMapOvr>
  <p:transition spd="fast">
    <p:fade/>
  </p:transition>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40</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설계 판단</a:t>
            </a:r>
          </a:p>
        </p:txBody>
      </p:sp>
      <p:sp>
        <p:nvSpPr>
          <p:cNvPr name="TextBox 18" id="18"/>
          <p:cNvSpPr txBox="true"/>
          <p:nvPr/>
        </p:nvSpPr>
        <p:spPr>
          <a:xfrm rot="0">
            <a:off x="1371600" y="1522095"/>
            <a:ext cx="15544343" cy="1289685"/>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분석을 기다리게 하지 않기</a:t>
            </a:r>
          </a:p>
        </p:txBody>
      </p:sp>
      <p:grpSp>
        <p:nvGrpSpPr>
          <p:cNvPr name="Group 19" id="19"/>
          <p:cNvGrpSpPr/>
          <p:nvPr/>
        </p:nvGrpSpPr>
        <p:grpSpPr>
          <a:xfrm rot="0">
            <a:off x="1362075" y="4036695"/>
            <a:ext cx="7174001" cy="57455"/>
            <a:chOff x="0" y="0"/>
            <a:chExt cx="9565335" cy="76606"/>
          </a:xfrm>
        </p:grpSpPr>
        <p:sp>
          <p:nvSpPr>
            <p:cNvPr name="Freeform 20" id="20"/>
            <p:cNvSpPr/>
            <p:nvPr/>
          </p:nvSpPr>
          <p:spPr>
            <a:xfrm flipH="false" flipV="false" rot="0">
              <a:off x="0" y="0"/>
              <a:ext cx="9565386" cy="76581"/>
            </a:xfrm>
            <a:custGeom>
              <a:avLst/>
              <a:gdLst/>
              <a:ahLst/>
              <a:cxnLst/>
              <a:rect r="r" b="b" t="t" l="l"/>
              <a:pathLst>
                <a:path h="76581" w="9565386">
                  <a:moveTo>
                    <a:pt x="0" y="0"/>
                  </a:moveTo>
                  <a:lnTo>
                    <a:pt x="9565386" y="0"/>
                  </a:lnTo>
                  <a:lnTo>
                    <a:pt x="9565386" y="76581"/>
                  </a:lnTo>
                  <a:lnTo>
                    <a:pt x="0" y="76581"/>
                  </a:lnTo>
                  <a:close/>
                </a:path>
              </a:pathLst>
            </a:custGeom>
            <a:solidFill>
              <a:srgbClr val="D95757"/>
            </a:solidFill>
            <a:ln w="19050" cap="sq">
              <a:solidFill>
                <a:srgbClr val="D95757"/>
              </a:solidFill>
              <a:prstDash val="solid"/>
              <a:miter/>
            </a:ln>
          </p:spPr>
        </p:sp>
      </p:grpSp>
      <p:sp>
        <p:nvSpPr>
          <p:cNvPr name="TextBox 21" id="21"/>
          <p:cNvSpPr txBox="true"/>
          <p:nvPr/>
        </p:nvSpPr>
        <p:spPr>
          <a:xfrm rot="0">
            <a:off x="1371600" y="4361688"/>
            <a:ext cx="7154951" cy="617220"/>
          </a:xfrm>
          <a:prstGeom prst="rect">
            <a:avLst/>
          </a:prstGeom>
        </p:spPr>
        <p:txBody>
          <a:bodyPr anchor="t" rtlCol="false" tIns="0" lIns="0" bIns="0" rIns="0">
            <a:spAutoFit/>
          </a:bodyPr>
          <a:lstStyle/>
          <a:p>
            <a:pPr algn="l">
              <a:lnSpc>
                <a:spcPts val="3600"/>
              </a:lnSpc>
            </a:pPr>
            <a:r>
              <a:rPr lang="en-US" sz="3000" b="true">
                <a:solidFill>
                  <a:srgbClr val="11131B"/>
                </a:solidFill>
                <a:latin typeface="Noto Sans Bold"/>
                <a:ea typeface="Noto Sans Bold"/>
                <a:cs typeface="Noto Sans Bold"/>
                <a:sym typeface="Noto Sans Bold"/>
              </a:rPr>
              <a:t>동기 처리라면</a:t>
            </a:r>
          </a:p>
        </p:txBody>
      </p:sp>
      <p:sp>
        <p:nvSpPr>
          <p:cNvPr name="TextBox 22" id="22"/>
          <p:cNvSpPr txBox="true"/>
          <p:nvPr/>
        </p:nvSpPr>
        <p:spPr>
          <a:xfrm rot="0">
            <a:off x="1371600" y="5218176"/>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업로드 후 분석이 끝날 때까지 대기</a:t>
            </a:r>
          </a:p>
        </p:txBody>
      </p:sp>
      <p:sp>
        <p:nvSpPr>
          <p:cNvPr name="TextBox 23" id="23"/>
          <p:cNvSpPr txBox="true"/>
          <p:nvPr/>
        </p:nvSpPr>
        <p:spPr>
          <a:xfrm rot="0">
            <a:off x="1371600" y="6123432"/>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긴 요청이 서버 자원을 점유</a:t>
            </a:r>
          </a:p>
        </p:txBody>
      </p:sp>
      <p:sp>
        <p:nvSpPr>
          <p:cNvPr name="TextBox 24" id="24"/>
          <p:cNvSpPr txBox="true"/>
          <p:nvPr/>
        </p:nvSpPr>
        <p:spPr>
          <a:xfrm rot="0">
            <a:off x="1371600" y="7028688"/>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실패하면 처음부터 다시</a:t>
            </a:r>
          </a:p>
        </p:txBody>
      </p:sp>
      <p:grpSp>
        <p:nvGrpSpPr>
          <p:cNvPr name="Group 25" id="25"/>
          <p:cNvGrpSpPr/>
          <p:nvPr/>
        </p:nvGrpSpPr>
        <p:grpSpPr>
          <a:xfrm rot="0">
            <a:off x="9751466" y="4036695"/>
            <a:ext cx="7174001" cy="57455"/>
            <a:chOff x="0" y="0"/>
            <a:chExt cx="9565335" cy="76606"/>
          </a:xfrm>
        </p:grpSpPr>
        <p:sp>
          <p:nvSpPr>
            <p:cNvPr name="Freeform 26" id="26"/>
            <p:cNvSpPr/>
            <p:nvPr/>
          </p:nvSpPr>
          <p:spPr>
            <a:xfrm flipH="false" flipV="false" rot="0">
              <a:off x="0" y="0"/>
              <a:ext cx="9565386" cy="76581"/>
            </a:xfrm>
            <a:custGeom>
              <a:avLst/>
              <a:gdLst/>
              <a:ahLst/>
              <a:cxnLst/>
              <a:rect r="r" b="b" t="t" l="l"/>
              <a:pathLst>
                <a:path h="76581" w="9565386">
                  <a:moveTo>
                    <a:pt x="0" y="0"/>
                  </a:moveTo>
                  <a:lnTo>
                    <a:pt x="9565386" y="0"/>
                  </a:lnTo>
                  <a:lnTo>
                    <a:pt x="9565386" y="76581"/>
                  </a:lnTo>
                  <a:lnTo>
                    <a:pt x="0" y="76581"/>
                  </a:lnTo>
                  <a:close/>
                </a:path>
              </a:pathLst>
            </a:custGeom>
            <a:solidFill>
              <a:srgbClr val="12A150"/>
            </a:solidFill>
            <a:ln w="19050" cap="sq">
              <a:solidFill>
                <a:srgbClr val="12A150"/>
              </a:solidFill>
              <a:prstDash val="solid"/>
              <a:miter/>
            </a:ln>
          </p:spPr>
        </p:sp>
      </p:grpSp>
      <p:sp>
        <p:nvSpPr>
          <p:cNvPr name="TextBox 27" id="27"/>
          <p:cNvSpPr txBox="true"/>
          <p:nvPr/>
        </p:nvSpPr>
        <p:spPr>
          <a:xfrm rot="0">
            <a:off x="9760991" y="4361688"/>
            <a:ext cx="7154951" cy="617220"/>
          </a:xfrm>
          <a:prstGeom prst="rect">
            <a:avLst/>
          </a:prstGeom>
        </p:spPr>
        <p:txBody>
          <a:bodyPr anchor="t" rtlCol="false" tIns="0" lIns="0" bIns="0" rIns="0">
            <a:spAutoFit/>
          </a:bodyPr>
          <a:lstStyle/>
          <a:p>
            <a:pPr algn="l">
              <a:lnSpc>
                <a:spcPts val="3600"/>
              </a:lnSpc>
            </a:pPr>
            <a:r>
              <a:rPr lang="en-US" sz="3000" b="true">
                <a:solidFill>
                  <a:srgbClr val="11131B"/>
                </a:solidFill>
                <a:latin typeface="Noto Sans Bold"/>
                <a:ea typeface="Noto Sans Bold"/>
                <a:cs typeface="Noto Sans Bold"/>
                <a:sym typeface="Noto Sans Bold"/>
              </a:rPr>
              <a:t>비동기 (RabbitMQ)</a:t>
            </a:r>
          </a:p>
        </p:txBody>
      </p:sp>
      <p:sp>
        <p:nvSpPr>
          <p:cNvPr name="TextBox 28" id="28"/>
          <p:cNvSpPr txBox="true"/>
          <p:nvPr/>
        </p:nvSpPr>
        <p:spPr>
          <a:xfrm rot="0">
            <a:off x="9760991" y="5218176"/>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업로드 즉시 응답, 분석은 백그라운드</a:t>
            </a:r>
          </a:p>
        </p:txBody>
      </p:sp>
      <p:sp>
        <p:nvSpPr>
          <p:cNvPr name="TextBox 29" id="29"/>
          <p:cNvSpPr txBox="true"/>
          <p:nvPr/>
        </p:nvSpPr>
        <p:spPr>
          <a:xfrm rot="0">
            <a:off x="9760991" y="6123432"/>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분석 서버를 따로 확장 가능</a:t>
            </a:r>
          </a:p>
        </p:txBody>
      </p:sp>
      <p:sp>
        <p:nvSpPr>
          <p:cNvPr name="TextBox 30" id="30"/>
          <p:cNvSpPr txBox="true"/>
          <p:nvPr/>
        </p:nvSpPr>
        <p:spPr>
          <a:xfrm rot="0">
            <a:off x="9760991" y="7028688"/>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실패한 작업만 재처리</a:t>
            </a:r>
          </a:p>
        </p:txBody>
      </p:sp>
      <p:grpSp>
        <p:nvGrpSpPr>
          <p:cNvPr name="Group 31" id="31"/>
          <p:cNvGrpSpPr/>
          <p:nvPr/>
        </p:nvGrpSpPr>
        <p:grpSpPr>
          <a:xfrm rot="0">
            <a:off x="9120530" y="4036695"/>
            <a:ext cx="35509" cy="3996690"/>
            <a:chOff x="0" y="0"/>
            <a:chExt cx="47346" cy="5328920"/>
          </a:xfrm>
        </p:grpSpPr>
        <p:sp>
          <p:nvSpPr>
            <p:cNvPr name="Freeform 32" id="32"/>
            <p:cNvSpPr/>
            <p:nvPr/>
          </p:nvSpPr>
          <p:spPr>
            <a:xfrm flipH="false" flipV="false" rot="0">
              <a:off x="0" y="0"/>
              <a:ext cx="47371" cy="5328920"/>
            </a:xfrm>
            <a:custGeom>
              <a:avLst/>
              <a:gdLst/>
              <a:ahLst/>
              <a:cxnLst/>
              <a:rect r="r" b="b" t="t" l="l"/>
              <a:pathLst>
                <a:path h="5328920" w="47371">
                  <a:moveTo>
                    <a:pt x="0" y="0"/>
                  </a:moveTo>
                  <a:lnTo>
                    <a:pt x="47371" y="0"/>
                  </a:lnTo>
                  <a:lnTo>
                    <a:pt x="47371" y="5328920"/>
                  </a:lnTo>
                  <a:lnTo>
                    <a:pt x="0" y="5328920"/>
                  </a:lnTo>
                  <a:close/>
                </a:path>
              </a:pathLst>
            </a:custGeom>
            <a:solidFill>
              <a:srgbClr val="ECEEF4"/>
            </a:solidFill>
            <a:ln w="19050" cap="sq">
              <a:solidFill>
                <a:srgbClr val="ECEEF4"/>
              </a:solidFill>
              <a:prstDash val="solid"/>
              <a:miter/>
            </a:ln>
          </p:spPr>
        </p:sp>
      </p:grpSp>
      <p:sp>
        <p:nvSpPr>
          <p:cNvPr name="TextBox 33" id="33"/>
          <p:cNvSpPr txBox="true"/>
          <p:nvPr/>
        </p:nvSpPr>
        <p:spPr>
          <a:xfrm rot="0">
            <a:off x="1371600" y="8444865"/>
            <a:ext cx="15544343" cy="429387"/>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분석 결과가 준비되면 Spring Boot가 받아 저장하고, 사용자는 완료된 리포트를 확인합니다.</a:t>
            </a:r>
          </a:p>
        </p:txBody>
      </p:sp>
    </p:spTree>
  </p:cSld>
  <p:clrMapOvr>
    <a:masterClrMapping/>
  </p:clrMapOvr>
  <p:transition spd="fast">
    <p:fade/>
  </p:transition>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40</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설계 판단</a:t>
            </a:r>
          </a:p>
        </p:txBody>
      </p:sp>
      <p:sp>
        <p:nvSpPr>
          <p:cNvPr name="TextBox 18" id="18"/>
          <p:cNvSpPr txBox="true"/>
          <p:nvPr/>
        </p:nvSpPr>
        <p:spPr>
          <a:xfrm rot="0">
            <a:off x="1371600" y="1522095"/>
            <a:ext cx="15544343" cy="892302"/>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서버를 분리한 이유</a:t>
            </a:r>
          </a:p>
        </p:txBody>
      </p:sp>
      <p:grpSp>
        <p:nvGrpSpPr>
          <p:cNvPr name="Group 19" id="19"/>
          <p:cNvGrpSpPr/>
          <p:nvPr/>
        </p:nvGrpSpPr>
        <p:grpSpPr>
          <a:xfrm rot="0">
            <a:off x="1362075" y="4036695"/>
            <a:ext cx="7174001" cy="57455"/>
            <a:chOff x="0" y="0"/>
            <a:chExt cx="9565335" cy="76606"/>
          </a:xfrm>
        </p:grpSpPr>
        <p:sp>
          <p:nvSpPr>
            <p:cNvPr name="Freeform 20" id="20"/>
            <p:cNvSpPr/>
            <p:nvPr/>
          </p:nvSpPr>
          <p:spPr>
            <a:xfrm flipH="false" flipV="false" rot="0">
              <a:off x="0" y="0"/>
              <a:ext cx="9565386" cy="76581"/>
            </a:xfrm>
            <a:custGeom>
              <a:avLst/>
              <a:gdLst/>
              <a:ahLst/>
              <a:cxnLst/>
              <a:rect r="r" b="b" t="t" l="l"/>
              <a:pathLst>
                <a:path h="76581" w="9565386">
                  <a:moveTo>
                    <a:pt x="0" y="0"/>
                  </a:moveTo>
                  <a:lnTo>
                    <a:pt x="9565386" y="0"/>
                  </a:lnTo>
                  <a:lnTo>
                    <a:pt x="9565386" y="76581"/>
                  </a:lnTo>
                  <a:lnTo>
                    <a:pt x="0" y="76581"/>
                  </a:lnTo>
                  <a:close/>
                </a:path>
              </a:pathLst>
            </a:custGeom>
            <a:solidFill>
              <a:srgbClr val="D95757"/>
            </a:solidFill>
            <a:ln w="19050" cap="sq">
              <a:solidFill>
                <a:srgbClr val="D95757"/>
              </a:solidFill>
              <a:prstDash val="solid"/>
              <a:miter/>
            </a:ln>
          </p:spPr>
        </p:sp>
      </p:grpSp>
      <p:sp>
        <p:nvSpPr>
          <p:cNvPr name="TextBox 21" id="21"/>
          <p:cNvSpPr txBox="true"/>
          <p:nvPr/>
        </p:nvSpPr>
        <p:spPr>
          <a:xfrm rot="0">
            <a:off x="1371600" y="4361688"/>
            <a:ext cx="7154951" cy="457200"/>
          </a:xfrm>
          <a:prstGeom prst="rect">
            <a:avLst/>
          </a:prstGeom>
        </p:spPr>
        <p:txBody>
          <a:bodyPr anchor="t" rtlCol="false" tIns="0" lIns="0" bIns="0" rIns="0">
            <a:spAutoFit/>
          </a:bodyPr>
          <a:lstStyle/>
          <a:p>
            <a:pPr algn="l">
              <a:lnSpc>
                <a:spcPts val="3600"/>
              </a:lnSpc>
            </a:pPr>
            <a:r>
              <a:rPr lang="en-US" sz="3000" b="true">
                <a:solidFill>
                  <a:srgbClr val="11131B"/>
                </a:solidFill>
                <a:latin typeface="Noto Sans Bold"/>
                <a:ea typeface="Noto Sans Bold"/>
                <a:cs typeface="Noto Sans Bold"/>
                <a:sym typeface="Noto Sans Bold"/>
              </a:rPr>
              <a:t>단일 서버라면?</a:t>
            </a:r>
          </a:p>
        </p:txBody>
      </p:sp>
      <p:sp>
        <p:nvSpPr>
          <p:cNvPr name="TextBox 22" id="22"/>
          <p:cNvSpPr txBox="true"/>
          <p:nvPr/>
        </p:nvSpPr>
        <p:spPr>
          <a:xfrm rot="0">
            <a:off x="1371600" y="5218176"/>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업로드 후 분석이 끝날 때까지 대기</a:t>
            </a:r>
          </a:p>
        </p:txBody>
      </p:sp>
      <p:sp>
        <p:nvSpPr>
          <p:cNvPr name="TextBox 23" id="23"/>
          <p:cNvSpPr txBox="true"/>
          <p:nvPr/>
        </p:nvSpPr>
        <p:spPr>
          <a:xfrm rot="0">
            <a:off x="1371600" y="6123432"/>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긴 요청이 서버 자원을 점유</a:t>
            </a:r>
          </a:p>
        </p:txBody>
      </p:sp>
      <p:sp>
        <p:nvSpPr>
          <p:cNvPr name="TextBox 24" id="24"/>
          <p:cNvSpPr txBox="true"/>
          <p:nvPr/>
        </p:nvSpPr>
        <p:spPr>
          <a:xfrm rot="0">
            <a:off x="1371600" y="7028688"/>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실패하면 처음부터 다시</a:t>
            </a:r>
          </a:p>
        </p:txBody>
      </p:sp>
      <p:grpSp>
        <p:nvGrpSpPr>
          <p:cNvPr name="Group 25" id="25"/>
          <p:cNvGrpSpPr/>
          <p:nvPr/>
        </p:nvGrpSpPr>
        <p:grpSpPr>
          <a:xfrm rot="0">
            <a:off x="9751466" y="4036695"/>
            <a:ext cx="7174001" cy="57455"/>
            <a:chOff x="0" y="0"/>
            <a:chExt cx="9565335" cy="76606"/>
          </a:xfrm>
        </p:grpSpPr>
        <p:sp>
          <p:nvSpPr>
            <p:cNvPr name="Freeform 26" id="26"/>
            <p:cNvSpPr/>
            <p:nvPr/>
          </p:nvSpPr>
          <p:spPr>
            <a:xfrm flipH="false" flipV="false" rot="0">
              <a:off x="0" y="0"/>
              <a:ext cx="9565386" cy="76581"/>
            </a:xfrm>
            <a:custGeom>
              <a:avLst/>
              <a:gdLst/>
              <a:ahLst/>
              <a:cxnLst/>
              <a:rect r="r" b="b" t="t" l="l"/>
              <a:pathLst>
                <a:path h="76581" w="9565386">
                  <a:moveTo>
                    <a:pt x="0" y="0"/>
                  </a:moveTo>
                  <a:lnTo>
                    <a:pt x="9565386" y="0"/>
                  </a:lnTo>
                  <a:lnTo>
                    <a:pt x="9565386" y="76581"/>
                  </a:lnTo>
                  <a:lnTo>
                    <a:pt x="0" y="76581"/>
                  </a:lnTo>
                  <a:close/>
                </a:path>
              </a:pathLst>
            </a:custGeom>
            <a:solidFill>
              <a:srgbClr val="12A150"/>
            </a:solidFill>
            <a:ln w="19050" cap="sq">
              <a:solidFill>
                <a:srgbClr val="12A150"/>
              </a:solidFill>
              <a:prstDash val="solid"/>
              <a:miter/>
            </a:ln>
          </p:spPr>
        </p:sp>
      </p:grpSp>
      <p:sp>
        <p:nvSpPr>
          <p:cNvPr name="TextBox 27" id="27"/>
          <p:cNvSpPr txBox="true"/>
          <p:nvPr/>
        </p:nvSpPr>
        <p:spPr>
          <a:xfrm rot="0">
            <a:off x="9760991" y="4361688"/>
            <a:ext cx="7154951" cy="617220"/>
          </a:xfrm>
          <a:prstGeom prst="rect">
            <a:avLst/>
          </a:prstGeom>
        </p:spPr>
        <p:txBody>
          <a:bodyPr anchor="t" rtlCol="false" tIns="0" lIns="0" bIns="0" rIns="0">
            <a:spAutoFit/>
          </a:bodyPr>
          <a:lstStyle/>
          <a:p>
            <a:pPr algn="l">
              <a:lnSpc>
                <a:spcPts val="3600"/>
              </a:lnSpc>
            </a:pPr>
            <a:r>
              <a:rPr lang="en-US" sz="3000" b="true">
                <a:solidFill>
                  <a:srgbClr val="11131B"/>
                </a:solidFill>
                <a:latin typeface="Noto Sans Bold"/>
                <a:ea typeface="Noto Sans Bold"/>
                <a:cs typeface="Noto Sans Bold"/>
                <a:sym typeface="Noto Sans Bold"/>
              </a:rPr>
              <a:t>API서버와 AI서버를 분리했다면?</a:t>
            </a:r>
          </a:p>
        </p:txBody>
      </p:sp>
      <p:sp>
        <p:nvSpPr>
          <p:cNvPr name="TextBox 28" id="28"/>
          <p:cNvSpPr txBox="true"/>
          <p:nvPr/>
        </p:nvSpPr>
        <p:spPr>
          <a:xfrm rot="0">
            <a:off x="9760991" y="5218176"/>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업로드 즉시 응답, 분석은 백그라운드</a:t>
            </a:r>
          </a:p>
        </p:txBody>
      </p:sp>
      <p:sp>
        <p:nvSpPr>
          <p:cNvPr name="TextBox 29" id="29"/>
          <p:cNvSpPr txBox="true"/>
          <p:nvPr/>
        </p:nvSpPr>
        <p:spPr>
          <a:xfrm rot="0">
            <a:off x="9760991" y="6123432"/>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분석 서버를 따로 확장 가능</a:t>
            </a:r>
          </a:p>
        </p:txBody>
      </p:sp>
      <p:sp>
        <p:nvSpPr>
          <p:cNvPr name="TextBox 30" id="30"/>
          <p:cNvSpPr txBox="true"/>
          <p:nvPr/>
        </p:nvSpPr>
        <p:spPr>
          <a:xfrm rot="0">
            <a:off x="9760991" y="7028688"/>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실패한 작업만 재처리</a:t>
            </a:r>
          </a:p>
        </p:txBody>
      </p:sp>
      <p:grpSp>
        <p:nvGrpSpPr>
          <p:cNvPr name="Group 31" id="31"/>
          <p:cNvGrpSpPr/>
          <p:nvPr/>
        </p:nvGrpSpPr>
        <p:grpSpPr>
          <a:xfrm rot="0">
            <a:off x="9120530" y="4036695"/>
            <a:ext cx="35509" cy="3996690"/>
            <a:chOff x="0" y="0"/>
            <a:chExt cx="47346" cy="5328920"/>
          </a:xfrm>
        </p:grpSpPr>
        <p:sp>
          <p:nvSpPr>
            <p:cNvPr name="Freeform 32" id="32"/>
            <p:cNvSpPr/>
            <p:nvPr/>
          </p:nvSpPr>
          <p:spPr>
            <a:xfrm flipH="false" flipV="false" rot="0">
              <a:off x="0" y="0"/>
              <a:ext cx="47371" cy="5328920"/>
            </a:xfrm>
            <a:custGeom>
              <a:avLst/>
              <a:gdLst/>
              <a:ahLst/>
              <a:cxnLst/>
              <a:rect r="r" b="b" t="t" l="l"/>
              <a:pathLst>
                <a:path h="5328920" w="47371">
                  <a:moveTo>
                    <a:pt x="0" y="0"/>
                  </a:moveTo>
                  <a:lnTo>
                    <a:pt x="47371" y="0"/>
                  </a:lnTo>
                  <a:lnTo>
                    <a:pt x="47371" y="5328920"/>
                  </a:lnTo>
                  <a:lnTo>
                    <a:pt x="0" y="5328920"/>
                  </a:lnTo>
                  <a:close/>
                </a:path>
              </a:pathLst>
            </a:custGeom>
            <a:solidFill>
              <a:srgbClr val="ECEEF4"/>
            </a:solidFill>
            <a:ln w="19050" cap="sq">
              <a:solidFill>
                <a:srgbClr val="ECEEF4"/>
              </a:solidFill>
              <a:prstDash val="solid"/>
              <a:miter/>
            </a:ln>
          </p:spPr>
        </p:sp>
      </p:grpSp>
      <p:sp>
        <p:nvSpPr>
          <p:cNvPr name="TextBox 33" id="33"/>
          <p:cNvSpPr txBox="true"/>
          <p:nvPr/>
        </p:nvSpPr>
        <p:spPr>
          <a:xfrm rot="0">
            <a:off x="1371600" y="8444865"/>
            <a:ext cx="15544343" cy="429387"/>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분석 결과가 준비되면 Spring Boot가 받아 저장하고, 사용자는 완료된 리포트를 확인합니다.</a:t>
            </a:r>
          </a:p>
        </p:txBody>
      </p:sp>
    </p:spTree>
  </p:cSld>
  <p:clrMapOvr>
    <a:masterClrMapping/>
  </p:clrMapOvr>
  <p:transition spd="fast">
    <p:fade/>
  </p:transition>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40</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설계 판단</a:t>
            </a:r>
          </a:p>
        </p:txBody>
      </p:sp>
      <p:sp>
        <p:nvSpPr>
          <p:cNvPr name="TextBox 18" id="18"/>
          <p:cNvSpPr txBox="true"/>
          <p:nvPr/>
        </p:nvSpPr>
        <p:spPr>
          <a:xfrm rot="0">
            <a:off x="1371600" y="1522095"/>
            <a:ext cx="15544343" cy="892302"/>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모니터링은 어떻게?</a:t>
            </a:r>
          </a:p>
        </p:txBody>
      </p:sp>
      <p:grpSp>
        <p:nvGrpSpPr>
          <p:cNvPr name="Group 19" id="19"/>
          <p:cNvGrpSpPr/>
          <p:nvPr/>
        </p:nvGrpSpPr>
        <p:grpSpPr>
          <a:xfrm rot="0">
            <a:off x="1362075" y="4036695"/>
            <a:ext cx="7174001" cy="57455"/>
            <a:chOff x="0" y="0"/>
            <a:chExt cx="9565335" cy="76606"/>
          </a:xfrm>
        </p:grpSpPr>
        <p:sp>
          <p:nvSpPr>
            <p:cNvPr name="Freeform 20" id="20"/>
            <p:cNvSpPr/>
            <p:nvPr/>
          </p:nvSpPr>
          <p:spPr>
            <a:xfrm flipH="false" flipV="false" rot="0">
              <a:off x="0" y="0"/>
              <a:ext cx="9565386" cy="76581"/>
            </a:xfrm>
            <a:custGeom>
              <a:avLst/>
              <a:gdLst/>
              <a:ahLst/>
              <a:cxnLst/>
              <a:rect r="r" b="b" t="t" l="l"/>
              <a:pathLst>
                <a:path h="76581" w="9565386">
                  <a:moveTo>
                    <a:pt x="0" y="0"/>
                  </a:moveTo>
                  <a:lnTo>
                    <a:pt x="9565386" y="0"/>
                  </a:lnTo>
                  <a:lnTo>
                    <a:pt x="9565386" y="76581"/>
                  </a:lnTo>
                  <a:lnTo>
                    <a:pt x="0" y="76581"/>
                  </a:lnTo>
                  <a:close/>
                </a:path>
              </a:pathLst>
            </a:custGeom>
            <a:solidFill>
              <a:srgbClr val="D95757"/>
            </a:solidFill>
            <a:ln w="19050" cap="sq">
              <a:solidFill>
                <a:srgbClr val="D95757"/>
              </a:solidFill>
              <a:prstDash val="solid"/>
              <a:miter/>
            </a:ln>
          </p:spPr>
        </p:sp>
      </p:grpSp>
      <p:sp>
        <p:nvSpPr>
          <p:cNvPr name="TextBox 21" id="21"/>
          <p:cNvSpPr txBox="true"/>
          <p:nvPr/>
        </p:nvSpPr>
        <p:spPr>
          <a:xfrm rot="0">
            <a:off x="1371600" y="4361688"/>
            <a:ext cx="7154951" cy="457200"/>
          </a:xfrm>
          <a:prstGeom prst="rect">
            <a:avLst/>
          </a:prstGeom>
        </p:spPr>
        <p:txBody>
          <a:bodyPr anchor="t" rtlCol="false" tIns="0" lIns="0" bIns="0" rIns="0">
            <a:spAutoFit/>
          </a:bodyPr>
          <a:lstStyle/>
          <a:p>
            <a:pPr algn="l">
              <a:lnSpc>
                <a:spcPts val="3600"/>
              </a:lnSpc>
            </a:pPr>
            <a:r>
              <a:rPr lang="en-US" sz="3000" b="true">
                <a:solidFill>
                  <a:srgbClr val="11131B"/>
                </a:solidFill>
                <a:latin typeface="Noto Sans Bold"/>
                <a:ea typeface="Noto Sans Bold"/>
                <a:cs typeface="Noto Sans Bold"/>
                <a:sym typeface="Noto Sans Bold"/>
              </a:rPr>
              <a:t>Grafana를 적용 안했다면?</a:t>
            </a:r>
          </a:p>
        </p:txBody>
      </p:sp>
      <p:sp>
        <p:nvSpPr>
          <p:cNvPr name="TextBox 22" id="22"/>
          <p:cNvSpPr txBox="true"/>
          <p:nvPr/>
        </p:nvSpPr>
        <p:spPr>
          <a:xfrm rot="0">
            <a:off x="1371600" y="5218176"/>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업로드 후 분석이 끝날 때까지 대기</a:t>
            </a:r>
          </a:p>
        </p:txBody>
      </p:sp>
      <p:sp>
        <p:nvSpPr>
          <p:cNvPr name="TextBox 23" id="23"/>
          <p:cNvSpPr txBox="true"/>
          <p:nvPr/>
        </p:nvSpPr>
        <p:spPr>
          <a:xfrm rot="0">
            <a:off x="1371600" y="6123432"/>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긴 요청이 서버 자원을 점유</a:t>
            </a:r>
          </a:p>
        </p:txBody>
      </p:sp>
      <p:sp>
        <p:nvSpPr>
          <p:cNvPr name="TextBox 24" id="24"/>
          <p:cNvSpPr txBox="true"/>
          <p:nvPr/>
        </p:nvSpPr>
        <p:spPr>
          <a:xfrm rot="0">
            <a:off x="1371600" y="7028688"/>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실패하면 처음부터 다시</a:t>
            </a:r>
          </a:p>
        </p:txBody>
      </p:sp>
      <p:grpSp>
        <p:nvGrpSpPr>
          <p:cNvPr name="Group 25" id="25"/>
          <p:cNvGrpSpPr/>
          <p:nvPr/>
        </p:nvGrpSpPr>
        <p:grpSpPr>
          <a:xfrm rot="0">
            <a:off x="9751466" y="4036695"/>
            <a:ext cx="7174001" cy="57455"/>
            <a:chOff x="0" y="0"/>
            <a:chExt cx="9565335" cy="76606"/>
          </a:xfrm>
        </p:grpSpPr>
        <p:sp>
          <p:nvSpPr>
            <p:cNvPr name="Freeform 26" id="26"/>
            <p:cNvSpPr/>
            <p:nvPr/>
          </p:nvSpPr>
          <p:spPr>
            <a:xfrm flipH="false" flipV="false" rot="0">
              <a:off x="0" y="0"/>
              <a:ext cx="9565386" cy="76581"/>
            </a:xfrm>
            <a:custGeom>
              <a:avLst/>
              <a:gdLst/>
              <a:ahLst/>
              <a:cxnLst/>
              <a:rect r="r" b="b" t="t" l="l"/>
              <a:pathLst>
                <a:path h="76581" w="9565386">
                  <a:moveTo>
                    <a:pt x="0" y="0"/>
                  </a:moveTo>
                  <a:lnTo>
                    <a:pt x="9565386" y="0"/>
                  </a:lnTo>
                  <a:lnTo>
                    <a:pt x="9565386" y="76581"/>
                  </a:lnTo>
                  <a:lnTo>
                    <a:pt x="0" y="76581"/>
                  </a:lnTo>
                  <a:close/>
                </a:path>
              </a:pathLst>
            </a:custGeom>
            <a:solidFill>
              <a:srgbClr val="12A150"/>
            </a:solidFill>
            <a:ln w="19050" cap="sq">
              <a:solidFill>
                <a:srgbClr val="12A150"/>
              </a:solidFill>
              <a:prstDash val="solid"/>
              <a:miter/>
            </a:ln>
          </p:spPr>
        </p:sp>
      </p:grpSp>
      <p:sp>
        <p:nvSpPr>
          <p:cNvPr name="TextBox 27" id="27"/>
          <p:cNvSpPr txBox="true"/>
          <p:nvPr/>
        </p:nvSpPr>
        <p:spPr>
          <a:xfrm rot="0">
            <a:off x="9760991" y="4361688"/>
            <a:ext cx="7154951" cy="457200"/>
          </a:xfrm>
          <a:prstGeom prst="rect">
            <a:avLst/>
          </a:prstGeom>
        </p:spPr>
        <p:txBody>
          <a:bodyPr anchor="t" rtlCol="false" tIns="0" lIns="0" bIns="0" rIns="0">
            <a:spAutoFit/>
          </a:bodyPr>
          <a:lstStyle/>
          <a:p>
            <a:pPr algn="l">
              <a:lnSpc>
                <a:spcPts val="3600"/>
              </a:lnSpc>
            </a:pPr>
            <a:r>
              <a:rPr lang="en-US" sz="3000" b="true">
                <a:solidFill>
                  <a:srgbClr val="11131B"/>
                </a:solidFill>
                <a:latin typeface="Noto Sans Bold"/>
                <a:ea typeface="Noto Sans Bold"/>
                <a:cs typeface="Noto Sans Bold"/>
                <a:sym typeface="Noto Sans Bold"/>
              </a:rPr>
              <a:t>Grafana를 적용 해서</a:t>
            </a:r>
          </a:p>
        </p:txBody>
      </p:sp>
      <p:sp>
        <p:nvSpPr>
          <p:cNvPr name="TextBox 28" id="28"/>
          <p:cNvSpPr txBox="true"/>
          <p:nvPr/>
        </p:nvSpPr>
        <p:spPr>
          <a:xfrm rot="0">
            <a:off x="9760991" y="5218176"/>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업로드 즉시 응답, 분석은 백그라운드</a:t>
            </a:r>
          </a:p>
        </p:txBody>
      </p:sp>
      <p:sp>
        <p:nvSpPr>
          <p:cNvPr name="TextBox 29" id="29"/>
          <p:cNvSpPr txBox="true"/>
          <p:nvPr/>
        </p:nvSpPr>
        <p:spPr>
          <a:xfrm rot="0">
            <a:off x="9760991" y="6123432"/>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분석 서버를 따로 확장 가능</a:t>
            </a:r>
          </a:p>
        </p:txBody>
      </p:sp>
      <p:sp>
        <p:nvSpPr>
          <p:cNvPr name="TextBox 30" id="30"/>
          <p:cNvSpPr txBox="true"/>
          <p:nvPr/>
        </p:nvSpPr>
        <p:spPr>
          <a:xfrm rot="0">
            <a:off x="9760991" y="7028688"/>
            <a:ext cx="7154951" cy="899160"/>
          </a:xfrm>
          <a:prstGeom prst="rect">
            <a:avLst/>
          </a:prstGeom>
        </p:spPr>
        <p:txBody>
          <a:bodyPr anchor="t" rtlCol="false" tIns="0" lIns="0" bIns="0" rIns="0">
            <a:spAutoFit/>
          </a:bodyPr>
          <a:lstStyle/>
          <a:p>
            <a:pPr algn="l">
              <a:lnSpc>
                <a:spcPts val="3159"/>
              </a:lnSpc>
            </a:pPr>
            <a:r>
              <a:rPr lang="en-US" sz="2025">
                <a:solidFill>
                  <a:srgbClr val="2E313D"/>
                </a:solidFill>
                <a:latin typeface="Noto Sans"/>
                <a:ea typeface="Noto Sans"/>
                <a:cs typeface="Noto Sans"/>
                <a:sym typeface="Noto Sans"/>
              </a:rPr>
              <a:t>○   실패한 작업만 재처리</a:t>
            </a:r>
          </a:p>
        </p:txBody>
      </p:sp>
      <p:grpSp>
        <p:nvGrpSpPr>
          <p:cNvPr name="Group 31" id="31"/>
          <p:cNvGrpSpPr/>
          <p:nvPr/>
        </p:nvGrpSpPr>
        <p:grpSpPr>
          <a:xfrm rot="0">
            <a:off x="9120530" y="4036695"/>
            <a:ext cx="35509" cy="3996690"/>
            <a:chOff x="0" y="0"/>
            <a:chExt cx="47346" cy="5328920"/>
          </a:xfrm>
        </p:grpSpPr>
        <p:sp>
          <p:nvSpPr>
            <p:cNvPr name="Freeform 32" id="32"/>
            <p:cNvSpPr/>
            <p:nvPr/>
          </p:nvSpPr>
          <p:spPr>
            <a:xfrm flipH="false" flipV="false" rot="0">
              <a:off x="0" y="0"/>
              <a:ext cx="47371" cy="5328920"/>
            </a:xfrm>
            <a:custGeom>
              <a:avLst/>
              <a:gdLst/>
              <a:ahLst/>
              <a:cxnLst/>
              <a:rect r="r" b="b" t="t" l="l"/>
              <a:pathLst>
                <a:path h="5328920" w="47371">
                  <a:moveTo>
                    <a:pt x="0" y="0"/>
                  </a:moveTo>
                  <a:lnTo>
                    <a:pt x="47371" y="0"/>
                  </a:lnTo>
                  <a:lnTo>
                    <a:pt x="47371" y="5328920"/>
                  </a:lnTo>
                  <a:lnTo>
                    <a:pt x="0" y="5328920"/>
                  </a:lnTo>
                  <a:close/>
                </a:path>
              </a:pathLst>
            </a:custGeom>
            <a:solidFill>
              <a:srgbClr val="ECEEF4"/>
            </a:solidFill>
            <a:ln w="19050" cap="sq">
              <a:solidFill>
                <a:srgbClr val="ECEEF4"/>
              </a:solidFill>
              <a:prstDash val="solid"/>
              <a:miter/>
            </a:ln>
          </p:spPr>
        </p:sp>
      </p:grpSp>
      <p:sp>
        <p:nvSpPr>
          <p:cNvPr name="TextBox 33" id="33"/>
          <p:cNvSpPr txBox="true"/>
          <p:nvPr/>
        </p:nvSpPr>
        <p:spPr>
          <a:xfrm rot="0">
            <a:off x="1371600" y="8444865"/>
            <a:ext cx="15544343" cy="429387"/>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분석 결과가 준비되면 Spring Boot가 받아 저장하고, 사용자는 완료된 리포트를 확인합니다.</a:t>
            </a:r>
          </a:p>
        </p:txBody>
      </p:sp>
    </p:spTree>
  </p:cSld>
  <p:clrMapOvr>
    <a:masterClrMapping/>
  </p:clrMapOvr>
  <p:transition spd="fast">
    <p:fade/>
  </p:transition>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41</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AI 분석 파이프라인</a:t>
            </a:r>
          </a:p>
        </p:txBody>
      </p:sp>
      <p:sp>
        <p:nvSpPr>
          <p:cNvPr name="TextBox 18" id="18"/>
          <p:cNvSpPr txBox="true"/>
          <p:nvPr/>
        </p:nvSpPr>
        <p:spPr>
          <a:xfrm rot="0">
            <a:off x="1371600" y="1541145"/>
            <a:ext cx="15544343" cy="1270635"/>
          </a:xfrm>
          <a:prstGeom prst="rect">
            <a:avLst/>
          </a:prstGeom>
        </p:spPr>
        <p:txBody>
          <a:bodyPr anchor="t" rtlCol="false" tIns="0" lIns="0" bIns="0" rIns="0">
            <a:spAutoFit/>
          </a:bodyPr>
          <a:lstStyle/>
          <a:p>
            <a:pPr algn="l">
              <a:lnSpc>
                <a:spcPts val="6912"/>
              </a:lnSpc>
            </a:pPr>
            <a:r>
              <a:rPr lang="en-US" sz="4800" b="true">
                <a:solidFill>
                  <a:srgbClr val="11131B"/>
                </a:solidFill>
                <a:latin typeface="Noto Sans Bold"/>
                <a:ea typeface="Noto Sans Bold"/>
                <a:cs typeface="Noto Sans Bold"/>
                <a:sym typeface="Noto Sans Bold"/>
              </a:rPr>
              <a:t>발표 자료와 발화가 만나는 순서</a:t>
            </a:r>
          </a:p>
        </p:txBody>
      </p:sp>
      <p:grpSp>
        <p:nvGrpSpPr>
          <p:cNvPr name="Group 19" id="19"/>
          <p:cNvGrpSpPr/>
          <p:nvPr/>
        </p:nvGrpSpPr>
        <p:grpSpPr>
          <a:xfrm rot="0">
            <a:off x="1371600" y="3675888"/>
            <a:ext cx="850392" cy="548640"/>
            <a:chOff x="0" y="0"/>
            <a:chExt cx="1133856" cy="731520"/>
          </a:xfrm>
        </p:grpSpPr>
        <p:sp>
          <p:nvSpPr>
            <p:cNvPr name="Freeform 20" id="20"/>
            <p:cNvSpPr/>
            <p:nvPr/>
          </p:nvSpPr>
          <p:spPr>
            <a:xfrm flipH="false" flipV="false" rot="0">
              <a:off x="0" y="0"/>
              <a:ext cx="1133856" cy="731520"/>
            </a:xfrm>
            <a:custGeom>
              <a:avLst/>
              <a:gdLst/>
              <a:ahLst/>
              <a:cxnLst/>
              <a:rect r="r" b="b" t="t" l="l"/>
              <a:pathLst>
                <a:path h="731520" w="1133856">
                  <a:moveTo>
                    <a:pt x="0" y="0"/>
                  </a:moveTo>
                  <a:lnTo>
                    <a:pt x="1133856" y="0"/>
                  </a:lnTo>
                  <a:lnTo>
                    <a:pt x="1133856" y="731520"/>
                  </a:lnTo>
                  <a:lnTo>
                    <a:pt x="0" y="731520"/>
                  </a:lnTo>
                  <a:close/>
                </a:path>
              </a:pathLst>
            </a:custGeom>
            <a:blipFill>
              <a:blip r:embed="rId3">
                <a:alphaModFix amt="0"/>
              </a:blip>
              <a:stretch>
                <a:fillRect l="-32776" t="0" r="-32776" b="0"/>
              </a:stretch>
            </a:blipFill>
          </p:spPr>
        </p:sp>
        <p:sp>
          <p:nvSpPr>
            <p:cNvPr name="TextBox 21" id="21"/>
            <p:cNvSpPr txBox="true"/>
            <p:nvPr/>
          </p:nvSpPr>
          <p:spPr>
            <a:xfrm>
              <a:off x="0" y="0"/>
              <a:ext cx="1133856" cy="731520"/>
            </a:xfrm>
            <a:prstGeom prst="rect">
              <a:avLst/>
            </a:prstGeom>
          </p:spPr>
          <p:txBody>
            <a:bodyPr anchor="ctr" rtlCol="false" tIns="0" lIns="0" bIns="0" rIns="0"/>
            <a:lstStyle/>
            <a:p>
              <a:pPr algn="l">
                <a:lnSpc>
                  <a:spcPts val="2520"/>
                </a:lnSpc>
              </a:pPr>
              <a:r>
                <a:rPr lang="en-US" sz="2100" b="true">
                  <a:solidFill>
                    <a:srgbClr val="3B73EE"/>
                  </a:solidFill>
                  <a:latin typeface="Noto Sans Bold"/>
                  <a:ea typeface="Noto Sans Bold"/>
                  <a:cs typeface="Noto Sans Bold"/>
                  <a:sym typeface="Noto Sans Bold"/>
                </a:rPr>
                <a:t>01</a:t>
              </a:r>
            </a:p>
          </p:txBody>
        </p:sp>
      </p:grpSp>
      <p:grpSp>
        <p:nvGrpSpPr>
          <p:cNvPr name="Group 22" id="22"/>
          <p:cNvGrpSpPr/>
          <p:nvPr/>
        </p:nvGrpSpPr>
        <p:grpSpPr>
          <a:xfrm rot="0">
            <a:off x="2468880" y="3675888"/>
            <a:ext cx="14447063" cy="548640"/>
            <a:chOff x="0" y="0"/>
            <a:chExt cx="19262750" cy="731520"/>
          </a:xfrm>
        </p:grpSpPr>
        <p:sp>
          <p:nvSpPr>
            <p:cNvPr name="Freeform 23" id="23"/>
            <p:cNvSpPr/>
            <p:nvPr/>
          </p:nvSpPr>
          <p:spPr>
            <a:xfrm flipH="false" flipV="false" rot="0">
              <a:off x="0" y="0"/>
              <a:ext cx="19262750" cy="731520"/>
            </a:xfrm>
            <a:custGeom>
              <a:avLst/>
              <a:gdLst/>
              <a:ahLst/>
              <a:cxnLst/>
              <a:rect r="r" b="b" t="t" l="l"/>
              <a:pathLst>
                <a:path h="731520" w="19262750">
                  <a:moveTo>
                    <a:pt x="0" y="0"/>
                  </a:moveTo>
                  <a:lnTo>
                    <a:pt x="19262750" y="0"/>
                  </a:lnTo>
                  <a:lnTo>
                    <a:pt x="19262750" y="731520"/>
                  </a:lnTo>
                  <a:lnTo>
                    <a:pt x="0" y="731520"/>
                  </a:lnTo>
                  <a:close/>
                </a:path>
              </a:pathLst>
            </a:custGeom>
            <a:blipFill>
              <a:blip r:embed="rId3">
                <a:alphaModFix amt="0"/>
              </a:blip>
              <a:stretch>
                <a:fillRect l="0" t="-463089" r="0" b="-463089"/>
              </a:stretch>
            </a:blipFill>
          </p:spPr>
        </p:sp>
        <p:sp>
          <p:nvSpPr>
            <p:cNvPr name="TextBox 24" id="24"/>
            <p:cNvSpPr txBox="true"/>
            <p:nvPr/>
          </p:nvSpPr>
          <p:spPr>
            <a:xfrm>
              <a:off x="0" y="0"/>
              <a:ext cx="19262750" cy="731520"/>
            </a:xfrm>
            <a:prstGeom prst="rect">
              <a:avLst/>
            </a:prstGeom>
          </p:spPr>
          <p:txBody>
            <a:bodyPr anchor="ctr" rtlCol="false" tIns="0" lIns="0" bIns="0" rIns="0"/>
            <a:lstStyle/>
            <a:p>
              <a:pPr algn="l">
                <a:lnSpc>
                  <a:spcPts val="2520"/>
                </a:lnSpc>
              </a:pPr>
              <a:r>
                <a:rPr lang="en-US" sz="2100">
                  <a:solidFill>
                    <a:srgbClr val="2E313D"/>
                  </a:solidFill>
                  <a:latin typeface="Noto Sans"/>
                  <a:ea typeface="Noto Sans"/>
                  <a:cs typeface="Noto Sans"/>
                  <a:sym typeface="Noto Sans"/>
                </a:rPr>
                <a:t>발표 자료를 슬라이드 단위로 분리</a:t>
              </a:r>
            </a:p>
          </p:txBody>
        </p:sp>
      </p:grpSp>
      <p:grpSp>
        <p:nvGrpSpPr>
          <p:cNvPr name="Group 25" id="25"/>
          <p:cNvGrpSpPr/>
          <p:nvPr/>
        </p:nvGrpSpPr>
        <p:grpSpPr>
          <a:xfrm rot="0">
            <a:off x="1362075" y="4324731"/>
            <a:ext cx="15563393" cy="38252"/>
            <a:chOff x="0" y="0"/>
            <a:chExt cx="20751190" cy="51003"/>
          </a:xfrm>
        </p:grpSpPr>
        <p:sp>
          <p:nvSpPr>
            <p:cNvPr name="Freeform 26" id="26"/>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CEEF4"/>
            </a:solidFill>
            <a:ln w="19050" cap="sq">
              <a:solidFill>
                <a:srgbClr val="ECEEF4"/>
              </a:solidFill>
              <a:prstDash val="solid"/>
              <a:miter/>
            </a:ln>
          </p:spPr>
        </p:sp>
      </p:grpSp>
      <p:grpSp>
        <p:nvGrpSpPr>
          <p:cNvPr name="Group 27" id="27"/>
          <p:cNvGrpSpPr/>
          <p:nvPr/>
        </p:nvGrpSpPr>
        <p:grpSpPr>
          <a:xfrm rot="0">
            <a:off x="1371600" y="4498848"/>
            <a:ext cx="850392" cy="548640"/>
            <a:chOff x="0" y="0"/>
            <a:chExt cx="1133856" cy="731520"/>
          </a:xfrm>
        </p:grpSpPr>
        <p:sp>
          <p:nvSpPr>
            <p:cNvPr name="Freeform 28" id="28"/>
            <p:cNvSpPr/>
            <p:nvPr/>
          </p:nvSpPr>
          <p:spPr>
            <a:xfrm flipH="false" flipV="false" rot="0">
              <a:off x="0" y="0"/>
              <a:ext cx="1133856" cy="731520"/>
            </a:xfrm>
            <a:custGeom>
              <a:avLst/>
              <a:gdLst/>
              <a:ahLst/>
              <a:cxnLst/>
              <a:rect r="r" b="b" t="t" l="l"/>
              <a:pathLst>
                <a:path h="731520" w="1133856">
                  <a:moveTo>
                    <a:pt x="0" y="0"/>
                  </a:moveTo>
                  <a:lnTo>
                    <a:pt x="1133856" y="0"/>
                  </a:lnTo>
                  <a:lnTo>
                    <a:pt x="1133856" y="731520"/>
                  </a:lnTo>
                  <a:lnTo>
                    <a:pt x="0" y="731520"/>
                  </a:lnTo>
                  <a:close/>
                </a:path>
              </a:pathLst>
            </a:custGeom>
            <a:blipFill>
              <a:blip r:embed="rId3">
                <a:alphaModFix amt="0"/>
              </a:blip>
              <a:stretch>
                <a:fillRect l="-32776" t="0" r="-32776" b="0"/>
              </a:stretch>
            </a:blipFill>
          </p:spPr>
        </p:sp>
        <p:sp>
          <p:nvSpPr>
            <p:cNvPr name="TextBox 29" id="29"/>
            <p:cNvSpPr txBox="true"/>
            <p:nvPr/>
          </p:nvSpPr>
          <p:spPr>
            <a:xfrm>
              <a:off x="0" y="0"/>
              <a:ext cx="1133856" cy="731520"/>
            </a:xfrm>
            <a:prstGeom prst="rect">
              <a:avLst/>
            </a:prstGeom>
          </p:spPr>
          <p:txBody>
            <a:bodyPr anchor="ctr" rtlCol="false" tIns="0" lIns="0" bIns="0" rIns="0"/>
            <a:lstStyle/>
            <a:p>
              <a:pPr algn="l">
                <a:lnSpc>
                  <a:spcPts val="2520"/>
                </a:lnSpc>
              </a:pPr>
              <a:r>
                <a:rPr lang="en-US" sz="2100" b="true">
                  <a:solidFill>
                    <a:srgbClr val="3B73EE"/>
                  </a:solidFill>
                  <a:latin typeface="Noto Sans Bold"/>
                  <a:ea typeface="Noto Sans Bold"/>
                  <a:cs typeface="Noto Sans Bold"/>
                  <a:sym typeface="Noto Sans Bold"/>
                </a:rPr>
                <a:t>02</a:t>
              </a:r>
            </a:p>
          </p:txBody>
        </p:sp>
      </p:grpSp>
      <p:grpSp>
        <p:nvGrpSpPr>
          <p:cNvPr name="Group 30" id="30"/>
          <p:cNvGrpSpPr/>
          <p:nvPr/>
        </p:nvGrpSpPr>
        <p:grpSpPr>
          <a:xfrm rot="0">
            <a:off x="2468880" y="4498848"/>
            <a:ext cx="14447063" cy="548640"/>
            <a:chOff x="0" y="0"/>
            <a:chExt cx="19262750" cy="731520"/>
          </a:xfrm>
        </p:grpSpPr>
        <p:sp>
          <p:nvSpPr>
            <p:cNvPr name="Freeform 31" id="31"/>
            <p:cNvSpPr/>
            <p:nvPr/>
          </p:nvSpPr>
          <p:spPr>
            <a:xfrm flipH="false" flipV="false" rot="0">
              <a:off x="0" y="0"/>
              <a:ext cx="19262750" cy="731520"/>
            </a:xfrm>
            <a:custGeom>
              <a:avLst/>
              <a:gdLst/>
              <a:ahLst/>
              <a:cxnLst/>
              <a:rect r="r" b="b" t="t" l="l"/>
              <a:pathLst>
                <a:path h="731520" w="19262750">
                  <a:moveTo>
                    <a:pt x="0" y="0"/>
                  </a:moveTo>
                  <a:lnTo>
                    <a:pt x="19262750" y="0"/>
                  </a:lnTo>
                  <a:lnTo>
                    <a:pt x="19262750" y="731520"/>
                  </a:lnTo>
                  <a:lnTo>
                    <a:pt x="0" y="731520"/>
                  </a:lnTo>
                  <a:close/>
                </a:path>
              </a:pathLst>
            </a:custGeom>
            <a:blipFill>
              <a:blip r:embed="rId3">
                <a:alphaModFix amt="0"/>
              </a:blip>
              <a:stretch>
                <a:fillRect l="0" t="-463089" r="0" b="-463089"/>
              </a:stretch>
            </a:blipFill>
          </p:spPr>
        </p:sp>
        <p:sp>
          <p:nvSpPr>
            <p:cNvPr name="TextBox 32" id="32"/>
            <p:cNvSpPr txBox="true"/>
            <p:nvPr/>
          </p:nvSpPr>
          <p:spPr>
            <a:xfrm>
              <a:off x="0" y="0"/>
              <a:ext cx="19262750" cy="731520"/>
            </a:xfrm>
            <a:prstGeom prst="rect">
              <a:avLst/>
            </a:prstGeom>
          </p:spPr>
          <p:txBody>
            <a:bodyPr anchor="ctr" rtlCol="false" tIns="0" lIns="0" bIns="0" rIns="0"/>
            <a:lstStyle/>
            <a:p>
              <a:pPr algn="l">
                <a:lnSpc>
                  <a:spcPts val="2520"/>
                </a:lnSpc>
              </a:pPr>
              <a:r>
                <a:rPr lang="en-US" sz="2100">
                  <a:solidFill>
                    <a:srgbClr val="2E313D"/>
                  </a:solidFill>
                  <a:latin typeface="Noto Sans"/>
                  <a:ea typeface="Noto Sans"/>
                  <a:cs typeface="Noto Sans"/>
                  <a:sym typeface="Noto Sans"/>
                </a:rPr>
                <a:t>슬라이드 텍스트 · 이미지를 멀티모달 모델로 분석해 핵심 내용 추출</a:t>
              </a:r>
            </a:p>
          </p:txBody>
        </p:sp>
      </p:grpSp>
      <p:grpSp>
        <p:nvGrpSpPr>
          <p:cNvPr name="Group 33" id="33"/>
          <p:cNvGrpSpPr/>
          <p:nvPr/>
        </p:nvGrpSpPr>
        <p:grpSpPr>
          <a:xfrm rot="0">
            <a:off x="1362075" y="5147691"/>
            <a:ext cx="15563393" cy="38252"/>
            <a:chOff x="0" y="0"/>
            <a:chExt cx="20751190" cy="51003"/>
          </a:xfrm>
        </p:grpSpPr>
        <p:sp>
          <p:nvSpPr>
            <p:cNvPr name="Freeform 34" id="34"/>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CEEF4"/>
            </a:solidFill>
            <a:ln w="19050" cap="sq">
              <a:solidFill>
                <a:srgbClr val="ECEEF4"/>
              </a:solidFill>
              <a:prstDash val="solid"/>
              <a:miter/>
            </a:ln>
          </p:spPr>
        </p:sp>
      </p:grpSp>
      <p:grpSp>
        <p:nvGrpSpPr>
          <p:cNvPr name="Group 35" id="35"/>
          <p:cNvGrpSpPr/>
          <p:nvPr/>
        </p:nvGrpSpPr>
        <p:grpSpPr>
          <a:xfrm rot="0">
            <a:off x="1371600" y="5321808"/>
            <a:ext cx="850392" cy="548640"/>
            <a:chOff x="0" y="0"/>
            <a:chExt cx="1133856" cy="731520"/>
          </a:xfrm>
        </p:grpSpPr>
        <p:sp>
          <p:nvSpPr>
            <p:cNvPr name="Freeform 36" id="36"/>
            <p:cNvSpPr/>
            <p:nvPr/>
          </p:nvSpPr>
          <p:spPr>
            <a:xfrm flipH="false" flipV="false" rot="0">
              <a:off x="0" y="0"/>
              <a:ext cx="1133856" cy="731520"/>
            </a:xfrm>
            <a:custGeom>
              <a:avLst/>
              <a:gdLst/>
              <a:ahLst/>
              <a:cxnLst/>
              <a:rect r="r" b="b" t="t" l="l"/>
              <a:pathLst>
                <a:path h="731520" w="1133856">
                  <a:moveTo>
                    <a:pt x="0" y="0"/>
                  </a:moveTo>
                  <a:lnTo>
                    <a:pt x="1133856" y="0"/>
                  </a:lnTo>
                  <a:lnTo>
                    <a:pt x="1133856" y="731520"/>
                  </a:lnTo>
                  <a:lnTo>
                    <a:pt x="0" y="731520"/>
                  </a:lnTo>
                  <a:close/>
                </a:path>
              </a:pathLst>
            </a:custGeom>
            <a:blipFill>
              <a:blip r:embed="rId3">
                <a:alphaModFix amt="0"/>
              </a:blip>
              <a:stretch>
                <a:fillRect l="-32776" t="0" r="-32776" b="0"/>
              </a:stretch>
            </a:blipFill>
          </p:spPr>
        </p:sp>
        <p:sp>
          <p:nvSpPr>
            <p:cNvPr name="TextBox 37" id="37"/>
            <p:cNvSpPr txBox="true"/>
            <p:nvPr/>
          </p:nvSpPr>
          <p:spPr>
            <a:xfrm>
              <a:off x="0" y="0"/>
              <a:ext cx="1133856" cy="731520"/>
            </a:xfrm>
            <a:prstGeom prst="rect">
              <a:avLst/>
            </a:prstGeom>
          </p:spPr>
          <p:txBody>
            <a:bodyPr anchor="ctr" rtlCol="false" tIns="0" lIns="0" bIns="0" rIns="0"/>
            <a:lstStyle/>
            <a:p>
              <a:pPr algn="l">
                <a:lnSpc>
                  <a:spcPts val="2520"/>
                </a:lnSpc>
              </a:pPr>
              <a:r>
                <a:rPr lang="en-US" sz="2100" b="true">
                  <a:solidFill>
                    <a:srgbClr val="3B73EE"/>
                  </a:solidFill>
                  <a:latin typeface="Noto Sans Bold"/>
                  <a:ea typeface="Noto Sans Bold"/>
                  <a:cs typeface="Noto Sans Bold"/>
                  <a:sym typeface="Noto Sans Bold"/>
                </a:rPr>
                <a:t>03</a:t>
              </a:r>
            </a:p>
          </p:txBody>
        </p:sp>
      </p:grpSp>
      <p:grpSp>
        <p:nvGrpSpPr>
          <p:cNvPr name="Group 38" id="38"/>
          <p:cNvGrpSpPr/>
          <p:nvPr/>
        </p:nvGrpSpPr>
        <p:grpSpPr>
          <a:xfrm rot="0">
            <a:off x="2468880" y="5321808"/>
            <a:ext cx="14447063" cy="548640"/>
            <a:chOff x="0" y="0"/>
            <a:chExt cx="19262750" cy="731520"/>
          </a:xfrm>
        </p:grpSpPr>
        <p:sp>
          <p:nvSpPr>
            <p:cNvPr name="Freeform 39" id="39"/>
            <p:cNvSpPr/>
            <p:nvPr/>
          </p:nvSpPr>
          <p:spPr>
            <a:xfrm flipH="false" flipV="false" rot="0">
              <a:off x="0" y="0"/>
              <a:ext cx="19262750" cy="731520"/>
            </a:xfrm>
            <a:custGeom>
              <a:avLst/>
              <a:gdLst/>
              <a:ahLst/>
              <a:cxnLst/>
              <a:rect r="r" b="b" t="t" l="l"/>
              <a:pathLst>
                <a:path h="731520" w="19262750">
                  <a:moveTo>
                    <a:pt x="0" y="0"/>
                  </a:moveTo>
                  <a:lnTo>
                    <a:pt x="19262750" y="0"/>
                  </a:lnTo>
                  <a:lnTo>
                    <a:pt x="19262750" y="731520"/>
                  </a:lnTo>
                  <a:lnTo>
                    <a:pt x="0" y="731520"/>
                  </a:lnTo>
                  <a:close/>
                </a:path>
              </a:pathLst>
            </a:custGeom>
            <a:blipFill>
              <a:blip r:embed="rId3">
                <a:alphaModFix amt="0"/>
              </a:blip>
              <a:stretch>
                <a:fillRect l="0" t="-463089" r="0" b="-463089"/>
              </a:stretch>
            </a:blipFill>
          </p:spPr>
        </p:sp>
        <p:sp>
          <p:nvSpPr>
            <p:cNvPr name="TextBox 40" id="40"/>
            <p:cNvSpPr txBox="true"/>
            <p:nvPr/>
          </p:nvSpPr>
          <p:spPr>
            <a:xfrm>
              <a:off x="0" y="0"/>
              <a:ext cx="19262750" cy="731520"/>
            </a:xfrm>
            <a:prstGeom prst="rect">
              <a:avLst/>
            </a:prstGeom>
          </p:spPr>
          <p:txBody>
            <a:bodyPr anchor="ctr" rtlCol="false" tIns="0" lIns="0" bIns="0" rIns="0"/>
            <a:lstStyle/>
            <a:p>
              <a:pPr algn="l">
                <a:lnSpc>
                  <a:spcPts val="2520"/>
                </a:lnSpc>
              </a:pPr>
              <a:r>
                <a:rPr lang="en-US" sz="2100">
                  <a:solidFill>
                    <a:srgbClr val="2E313D"/>
                  </a:solidFill>
                  <a:latin typeface="Noto Sans"/>
                  <a:ea typeface="Noto Sans"/>
                  <a:cs typeface="Noto Sans"/>
                  <a:sym typeface="Noto Sans"/>
                </a:rPr>
                <a:t>녹화 음성을 STT로 변환 — 발화 내용과 문장별 시작 · 종료 시간 생성</a:t>
              </a:r>
            </a:p>
          </p:txBody>
        </p:sp>
      </p:grpSp>
      <p:grpSp>
        <p:nvGrpSpPr>
          <p:cNvPr name="Group 41" id="41"/>
          <p:cNvGrpSpPr/>
          <p:nvPr/>
        </p:nvGrpSpPr>
        <p:grpSpPr>
          <a:xfrm rot="0">
            <a:off x="1362075" y="5970651"/>
            <a:ext cx="15563393" cy="38252"/>
            <a:chOff x="0" y="0"/>
            <a:chExt cx="20751190" cy="51003"/>
          </a:xfrm>
        </p:grpSpPr>
        <p:sp>
          <p:nvSpPr>
            <p:cNvPr name="Freeform 42" id="42"/>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CEEF4"/>
            </a:solidFill>
            <a:ln w="19050" cap="sq">
              <a:solidFill>
                <a:srgbClr val="ECEEF4"/>
              </a:solidFill>
              <a:prstDash val="solid"/>
              <a:miter/>
            </a:ln>
          </p:spPr>
        </p:sp>
      </p:grpSp>
      <p:grpSp>
        <p:nvGrpSpPr>
          <p:cNvPr name="Group 43" id="43"/>
          <p:cNvGrpSpPr/>
          <p:nvPr/>
        </p:nvGrpSpPr>
        <p:grpSpPr>
          <a:xfrm rot="0">
            <a:off x="1371600" y="6144768"/>
            <a:ext cx="850392" cy="548640"/>
            <a:chOff x="0" y="0"/>
            <a:chExt cx="1133856" cy="731520"/>
          </a:xfrm>
        </p:grpSpPr>
        <p:sp>
          <p:nvSpPr>
            <p:cNvPr name="Freeform 44" id="44"/>
            <p:cNvSpPr/>
            <p:nvPr/>
          </p:nvSpPr>
          <p:spPr>
            <a:xfrm flipH="false" flipV="false" rot="0">
              <a:off x="0" y="0"/>
              <a:ext cx="1133856" cy="731520"/>
            </a:xfrm>
            <a:custGeom>
              <a:avLst/>
              <a:gdLst/>
              <a:ahLst/>
              <a:cxnLst/>
              <a:rect r="r" b="b" t="t" l="l"/>
              <a:pathLst>
                <a:path h="731520" w="1133856">
                  <a:moveTo>
                    <a:pt x="0" y="0"/>
                  </a:moveTo>
                  <a:lnTo>
                    <a:pt x="1133856" y="0"/>
                  </a:lnTo>
                  <a:lnTo>
                    <a:pt x="1133856" y="731520"/>
                  </a:lnTo>
                  <a:lnTo>
                    <a:pt x="0" y="731520"/>
                  </a:lnTo>
                  <a:close/>
                </a:path>
              </a:pathLst>
            </a:custGeom>
            <a:blipFill>
              <a:blip r:embed="rId3">
                <a:alphaModFix amt="0"/>
              </a:blip>
              <a:stretch>
                <a:fillRect l="-32776" t="0" r="-32776" b="0"/>
              </a:stretch>
            </a:blipFill>
          </p:spPr>
        </p:sp>
        <p:sp>
          <p:nvSpPr>
            <p:cNvPr name="TextBox 45" id="45"/>
            <p:cNvSpPr txBox="true"/>
            <p:nvPr/>
          </p:nvSpPr>
          <p:spPr>
            <a:xfrm>
              <a:off x="0" y="0"/>
              <a:ext cx="1133856" cy="731520"/>
            </a:xfrm>
            <a:prstGeom prst="rect">
              <a:avLst/>
            </a:prstGeom>
          </p:spPr>
          <p:txBody>
            <a:bodyPr anchor="ctr" rtlCol="false" tIns="0" lIns="0" bIns="0" rIns="0"/>
            <a:lstStyle/>
            <a:p>
              <a:pPr algn="l">
                <a:lnSpc>
                  <a:spcPts val="2520"/>
                </a:lnSpc>
              </a:pPr>
              <a:r>
                <a:rPr lang="en-US" sz="2100" b="true">
                  <a:solidFill>
                    <a:srgbClr val="3B73EE"/>
                  </a:solidFill>
                  <a:latin typeface="Noto Sans Bold"/>
                  <a:ea typeface="Noto Sans Bold"/>
                  <a:cs typeface="Noto Sans Bold"/>
                  <a:sym typeface="Noto Sans Bold"/>
                </a:rPr>
                <a:t>04</a:t>
              </a:r>
            </a:p>
          </p:txBody>
        </p:sp>
      </p:grpSp>
      <p:grpSp>
        <p:nvGrpSpPr>
          <p:cNvPr name="Group 46" id="46"/>
          <p:cNvGrpSpPr/>
          <p:nvPr/>
        </p:nvGrpSpPr>
        <p:grpSpPr>
          <a:xfrm rot="0">
            <a:off x="2468880" y="6144768"/>
            <a:ext cx="14447063" cy="548640"/>
            <a:chOff x="0" y="0"/>
            <a:chExt cx="19262750" cy="731520"/>
          </a:xfrm>
        </p:grpSpPr>
        <p:sp>
          <p:nvSpPr>
            <p:cNvPr name="Freeform 47" id="47"/>
            <p:cNvSpPr/>
            <p:nvPr/>
          </p:nvSpPr>
          <p:spPr>
            <a:xfrm flipH="false" flipV="false" rot="0">
              <a:off x="0" y="0"/>
              <a:ext cx="19262750" cy="731520"/>
            </a:xfrm>
            <a:custGeom>
              <a:avLst/>
              <a:gdLst/>
              <a:ahLst/>
              <a:cxnLst/>
              <a:rect r="r" b="b" t="t" l="l"/>
              <a:pathLst>
                <a:path h="731520" w="19262750">
                  <a:moveTo>
                    <a:pt x="0" y="0"/>
                  </a:moveTo>
                  <a:lnTo>
                    <a:pt x="19262750" y="0"/>
                  </a:lnTo>
                  <a:lnTo>
                    <a:pt x="19262750" y="731520"/>
                  </a:lnTo>
                  <a:lnTo>
                    <a:pt x="0" y="731520"/>
                  </a:lnTo>
                  <a:close/>
                </a:path>
              </a:pathLst>
            </a:custGeom>
            <a:blipFill>
              <a:blip r:embed="rId3">
                <a:alphaModFix amt="0"/>
              </a:blip>
              <a:stretch>
                <a:fillRect l="0" t="-463089" r="0" b="-463089"/>
              </a:stretch>
            </a:blipFill>
          </p:spPr>
        </p:sp>
        <p:sp>
          <p:nvSpPr>
            <p:cNvPr name="TextBox 48" id="48"/>
            <p:cNvSpPr txBox="true"/>
            <p:nvPr/>
          </p:nvSpPr>
          <p:spPr>
            <a:xfrm>
              <a:off x="0" y="0"/>
              <a:ext cx="19262750" cy="731520"/>
            </a:xfrm>
            <a:prstGeom prst="rect">
              <a:avLst/>
            </a:prstGeom>
          </p:spPr>
          <p:txBody>
            <a:bodyPr anchor="ctr" rtlCol="false" tIns="0" lIns="0" bIns="0" rIns="0"/>
            <a:lstStyle/>
            <a:p>
              <a:pPr algn="l">
                <a:lnSpc>
                  <a:spcPts val="2520"/>
                </a:lnSpc>
              </a:pPr>
              <a:r>
                <a:rPr lang="en-US" sz="2100">
                  <a:solidFill>
                    <a:srgbClr val="2E313D"/>
                  </a:solidFill>
                  <a:latin typeface="Noto Sans"/>
                  <a:ea typeface="Noto Sans"/>
                  <a:cs typeface="Noto Sans"/>
                  <a:sym typeface="Noto Sans"/>
                </a:rPr>
                <a:t>시간 정보와 슬라이드 전환 기록을 연결해 슬라이드별 실제 발화 구분</a:t>
              </a:r>
            </a:p>
          </p:txBody>
        </p:sp>
      </p:grpSp>
      <p:grpSp>
        <p:nvGrpSpPr>
          <p:cNvPr name="Group 49" id="49"/>
          <p:cNvGrpSpPr/>
          <p:nvPr/>
        </p:nvGrpSpPr>
        <p:grpSpPr>
          <a:xfrm rot="0">
            <a:off x="1362075" y="6793611"/>
            <a:ext cx="15563393" cy="38252"/>
            <a:chOff x="0" y="0"/>
            <a:chExt cx="20751190" cy="51003"/>
          </a:xfrm>
        </p:grpSpPr>
        <p:sp>
          <p:nvSpPr>
            <p:cNvPr name="Freeform 50" id="5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CEEF4"/>
            </a:solidFill>
            <a:ln w="19050" cap="sq">
              <a:solidFill>
                <a:srgbClr val="ECEEF4"/>
              </a:solidFill>
              <a:prstDash val="solid"/>
              <a:miter/>
            </a:ln>
          </p:spPr>
        </p:sp>
      </p:grpSp>
      <p:grpSp>
        <p:nvGrpSpPr>
          <p:cNvPr name="Group 51" id="51"/>
          <p:cNvGrpSpPr/>
          <p:nvPr/>
        </p:nvGrpSpPr>
        <p:grpSpPr>
          <a:xfrm rot="0">
            <a:off x="1371600" y="6967728"/>
            <a:ext cx="850392" cy="548640"/>
            <a:chOff x="0" y="0"/>
            <a:chExt cx="1133856" cy="731520"/>
          </a:xfrm>
        </p:grpSpPr>
        <p:sp>
          <p:nvSpPr>
            <p:cNvPr name="Freeform 52" id="52"/>
            <p:cNvSpPr/>
            <p:nvPr/>
          </p:nvSpPr>
          <p:spPr>
            <a:xfrm flipH="false" flipV="false" rot="0">
              <a:off x="0" y="0"/>
              <a:ext cx="1133856" cy="731520"/>
            </a:xfrm>
            <a:custGeom>
              <a:avLst/>
              <a:gdLst/>
              <a:ahLst/>
              <a:cxnLst/>
              <a:rect r="r" b="b" t="t" l="l"/>
              <a:pathLst>
                <a:path h="731520" w="1133856">
                  <a:moveTo>
                    <a:pt x="0" y="0"/>
                  </a:moveTo>
                  <a:lnTo>
                    <a:pt x="1133856" y="0"/>
                  </a:lnTo>
                  <a:lnTo>
                    <a:pt x="1133856" y="731520"/>
                  </a:lnTo>
                  <a:lnTo>
                    <a:pt x="0" y="731520"/>
                  </a:lnTo>
                  <a:close/>
                </a:path>
              </a:pathLst>
            </a:custGeom>
            <a:blipFill>
              <a:blip r:embed="rId3">
                <a:alphaModFix amt="0"/>
              </a:blip>
              <a:stretch>
                <a:fillRect l="-32776" t="0" r="-32776" b="0"/>
              </a:stretch>
            </a:blipFill>
          </p:spPr>
        </p:sp>
        <p:sp>
          <p:nvSpPr>
            <p:cNvPr name="TextBox 53" id="53"/>
            <p:cNvSpPr txBox="true"/>
            <p:nvPr/>
          </p:nvSpPr>
          <p:spPr>
            <a:xfrm>
              <a:off x="0" y="0"/>
              <a:ext cx="1133856" cy="731520"/>
            </a:xfrm>
            <a:prstGeom prst="rect">
              <a:avLst/>
            </a:prstGeom>
          </p:spPr>
          <p:txBody>
            <a:bodyPr anchor="ctr" rtlCol="false" tIns="0" lIns="0" bIns="0" rIns="0"/>
            <a:lstStyle/>
            <a:p>
              <a:pPr algn="l">
                <a:lnSpc>
                  <a:spcPts val="2520"/>
                </a:lnSpc>
              </a:pPr>
              <a:r>
                <a:rPr lang="en-US" sz="2100" b="true">
                  <a:solidFill>
                    <a:srgbClr val="3B73EE"/>
                  </a:solidFill>
                  <a:latin typeface="Noto Sans Bold"/>
                  <a:ea typeface="Noto Sans Bold"/>
                  <a:cs typeface="Noto Sans Bold"/>
                  <a:sym typeface="Noto Sans Bold"/>
                </a:rPr>
                <a:t>05</a:t>
              </a:r>
            </a:p>
          </p:txBody>
        </p:sp>
      </p:grpSp>
      <p:grpSp>
        <p:nvGrpSpPr>
          <p:cNvPr name="Group 54" id="54"/>
          <p:cNvGrpSpPr/>
          <p:nvPr/>
        </p:nvGrpSpPr>
        <p:grpSpPr>
          <a:xfrm rot="0">
            <a:off x="2468880" y="6967728"/>
            <a:ext cx="14447063" cy="548640"/>
            <a:chOff x="0" y="0"/>
            <a:chExt cx="19262750" cy="731520"/>
          </a:xfrm>
        </p:grpSpPr>
        <p:sp>
          <p:nvSpPr>
            <p:cNvPr name="Freeform 55" id="55"/>
            <p:cNvSpPr/>
            <p:nvPr/>
          </p:nvSpPr>
          <p:spPr>
            <a:xfrm flipH="false" flipV="false" rot="0">
              <a:off x="0" y="0"/>
              <a:ext cx="19262750" cy="731520"/>
            </a:xfrm>
            <a:custGeom>
              <a:avLst/>
              <a:gdLst/>
              <a:ahLst/>
              <a:cxnLst/>
              <a:rect r="r" b="b" t="t" l="l"/>
              <a:pathLst>
                <a:path h="731520" w="19262750">
                  <a:moveTo>
                    <a:pt x="0" y="0"/>
                  </a:moveTo>
                  <a:lnTo>
                    <a:pt x="19262750" y="0"/>
                  </a:lnTo>
                  <a:lnTo>
                    <a:pt x="19262750" y="731520"/>
                  </a:lnTo>
                  <a:lnTo>
                    <a:pt x="0" y="731520"/>
                  </a:lnTo>
                  <a:close/>
                </a:path>
              </a:pathLst>
            </a:custGeom>
            <a:blipFill>
              <a:blip r:embed="rId3">
                <a:alphaModFix amt="0"/>
              </a:blip>
              <a:stretch>
                <a:fillRect l="0" t="-463089" r="0" b="-463089"/>
              </a:stretch>
            </a:blipFill>
          </p:spPr>
        </p:sp>
        <p:sp>
          <p:nvSpPr>
            <p:cNvPr name="TextBox 56" id="56"/>
            <p:cNvSpPr txBox="true"/>
            <p:nvPr/>
          </p:nvSpPr>
          <p:spPr>
            <a:xfrm>
              <a:off x="0" y="0"/>
              <a:ext cx="19262750" cy="731520"/>
            </a:xfrm>
            <a:prstGeom prst="rect">
              <a:avLst/>
            </a:prstGeom>
          </p:spPr>
          <p:txBody>
            <a:bodyPr anchor="ctr" rtlCol="false" tIns="0" lIns="0" bIns="0" rIns="0"/>
            <a:lstStyle/>
            <a:p>
              <a:pPr algn="l">
                <a:lnSpc>
                  <a:spcPts val="2520"/>
                </a:lnSpc>
              </a:pPr>
              <a:r>
                <a:rPr lang="en-US" sz="2100">
                  <a:solidFill>
                    <a:srgbClr val="2E313D"/>
                  </a:solidFill>
                  <a:latin typeface="Noto Sans"/>
                  <a:ea typeface="Noto Sans"/>
                  <a:cs typeface="Noto Sans"/>
                  <a:sym typeface="Noto Sans"/>
                </a:rPr>
                <a:t>슬라이드 핵심 내용과 실제 발화를 비교 — 누락 · 반복 표현 · 발표 속도 분석</a:t>
              </a:r>
            </a:p>
          </p:txBody>
        </p:sp>
      </p:grpSp>
      <p:grpSp>
        <p:nvGrpSpPr>
          <p:cNvPr name="Group 57" id="57"/>
          <p:cNvGrpSpPr/>
          <p:nvPr/>
        </p:nvGrpSpPr>
        <p:grpSpPr>
          <a:xfrm rot="0">
            <a:off x="1362075" y="7616571"/>
            <a:ext cx="15563393" cy="38252"/>
            <a:chOff x="0" y="0"/>
            <a:chExt cx="20751190" cy="51003"/>
          </a:xfrm>
        </p:grpSpPr>
        <p:sp>
          <p:nvSpPr>
            <p:cNvPr name="Freeform 58" id="58"/>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CEEF4"/>
            </a:solidFill>
            <a:ln w="19050" cap="sq">
              <a:solidFill>
                <a:srgbClr val="ECEEF4"/>
              </a:solidFill>
              <a:prstDash val="solid"/>
              <a:miter/>
            </a:ln>
          </p:spPr>
        </p:sp>
      </p:grpSp>
      <p:grpSp>
        <p:nvGrpSpPr>
          <p:cNvPr name="Group 59" id="59"/>
          <p:cNvGrpSpPr/>
          <p:nvPr/>
        </p:nvGrpSpPr>
        <p:grpSpPr>
          <a:xfrm rot="0">
            <a:off x="1371600" y="7790688"/>
            <a:ext cx="850392" cy="548640"/>
            <a:chOff x="0" y="0"/>
            <a:chExt cx="1133856" cy="731520"/>
          </a:xfrm>
        </p:grpSpPr>
        <p:sp>
          <p:nvSpPr>
            <p:cNvPr name="Freeform 60" id="60"/>
            <p:cNvSpPr/>
            <p:nvPr/>
          </p:nvSpPr>
          <p:spPr>
            <a:xfrm flipH="false" flipV="false" rot="0">
              <a:off x="0" y="0"/>
              <a:ext cx="1133856" cy="731520"/>
            </a:xfrm>
            <a:custGeom>
              <a:avLst/>
              <a:gdLst/>
              <a:ahLst/>
              <a:cxnLst/>
              <a:rect r="r" b="b" t="t" l="l"/>
              <a:pathLst>
                <a:path h="731520" w="1133856">
                  <a:moveTo>
                    <a:pt x="0" y="0"/>
                  </a:moveTo>
                  <a:lnTo>
                    <a:pt x="1133856" y="0"/>
                  </a:lnTo>
                  <a:lnTo>
                    <a:pt x="1133856" y="731520"/>
                  </a:lnTo>
                  <a:lnTo>
                    <a:pt x="0" y="731520"/>
                  </a:lnTo>
                  <a:close/>
                </a:path>
              </a:pathLst>
            </a:custGeom>
            <a:blipFill>
              <a:blip r:embed="rId3">
                <a:alphaModFix amt="0"/>
              </a:blip>
              <a:stretch>
                <a:fillRect l="-32776" t="0" r="-32776" b="0"/>
              </a:stretch>
            </a:blipFill>
          </p:spPr>
        </p:sp>
        <p:sp>
          <p:nvSpPr>
            <p:cNvPr name="TextBox 61" id="61"/>
            <p:cNvSpPr txBox="true"/>
            <p:nvPr/>
          </p:nvSpPr>
          <p:spPr>
            <a:xfrm>
              <a:off x="0" y="0"/>
              <a:ext cx="1133856" cy="731520"/>
            </a:xfrm>
            <a:prstGeom prst="rect">
              <a:avLst/>
            </a:prstGeom>
          </p:spPr>
          <p:txBody>
            <a:bodyPr anchor="ctr" rtlCol="false" tIns="0" lIns="0" bIns="0" rIns="0"/>
            <a:lstStyle/>
            <a:p>
              <a:pPr algn="l">
                <a:lnSpc>
                  <a:spcPts val="2520"/>
                </a:lnSpc>
              </a:pPr>
              <a:r>
                <a:rPr lang="en-US" sz="2100" b="true">
                  <a:solidFill>
                    <a:srgbClr val="3B73EE"/>
                  </a:solidFill>
                  <a:latin typeface="Noto Sans Bold"/>
                  <a:ea typeface="Noto Sans Bold"/>
                  <a:cs typeface="Noto Sans Bold"/>
                  <a:sym typeface="Noto Sans Bold"/>
                </a:rPr>
                <a:t>06</a:t>
              </a:r>
            </a:p>
          </p:txBody>
        </p:sp>
      </p:grpSp>
      <p:grpSp>
        <p:nvGrpSpPr>
          <p:cNvPr name="Group 62" id="62"/>
          <p:cNvGrpSpPr/>
          <p:nvPr/>
        </p:nvGrpSpPr>
        <p:grpSpPr>
          <a:xfrm rot="0">
            <a:off x="2468880" y="7790688"/>
            <a:ext cx="14447063" cy="548640"/>
            <a:chOff x="0" y="0"/>
            <a:chExt cx="19262750" cy="731520"/>
          </a:xfrm>
        </p:grpSpPr>
        <p:sp>
          <p:nvSpPr>
            <p:cNvPr name="Freeform 63" id="63"/>
            <p:cNvSpPr/>
            <p:nvPr/>
          </p:nvSpPr>
          <p:spPr>
            <a:xfrm flipH="false" flipV="false" rot="0">
              <a:off x="0" y="0"/>
              <a:ext cx="19262750" cy="731520"/>
            </a:xfrm>
            <a:custGeom>
              <a:avLst/>
              <a:gdLst/>
              <a:ahLst/>
              <a:cxnLst/>
              <a:rect r="r" b="b" t="t" l="l"/>
              <a:pathLst>
                <a:path h="731520" w="19262750">
                  <a:moveTo>
                    <a:pt x="0" y="0"/>
                  </a:moveTo>
                  <a:lnTo>
                    <a:pt x="19262750" y="0"/>
                  </a:lnTo>
                  <a:lnTo>
                    <a:pt x="19262750" y="731520"/>
                  </a:lnTo>
                  <a:lnTo>
                    <a:pt x="0" y="731520"/>
                  </a:lnTo>
                  <a:close/>
                </a:path>
              </a:pathLst>
            </a:custGeom>
            <a:blipFill>
              <a:blip r:embed="rId3">
                <a:alphaModFix amt="0"/>
              </a:blip>
              <a:stretch>
                <a:fillRect l="0" t="-463089" r="0" b="-463089"/>
              </a:stretch>
            </a:blipFill>
          </p:spPr>
        </p:sp>
        <p:sp>
          <p:nvSpPr>
            <p:cNvPr name="TextBox 64" id="64"/>
            <p:cNvSpPr txBox="true"/>
            <p:nvPr/>
          </p:nvSpPr>
          <p:spPr>
            <a:xfrm>
              <a:off x="0" y="0"/>
              <a:ext cx="19262750" cy="731520"/>
            </a:xfrm>
            <a:prstGeom prst="rect">
              <a:avLst/>
            </a:prstGeom>
          </p:spPr>
          <p:txBody>
            <a:bodyPr anchor="ctr" rtlCol="false" tIns="0" lIns="0" bIns="0" rIns="0"/>
            <a:lstStyle/>
            <a:p>
              <a:pPr algn="l">
                <a:lnSpc>
                  <a:spcPts val="2520"/>
                </a:lnSpc>
              </a:pPr>
              <a:r>
                <a:rPr lang="en-US" sz="2100">
                  <a:solidFill>
                    <a:srgbClr val="2E313D"/>
                  </a:solidFill>
                  <a:latin typeface="Noto Sans"/>
                  <a:ea typeface="Noto Sans"/>
                  <a:cs typeface="Noto Sans"/>
                  <a:sym typeface="Noto Sans"/>
                </a:rPr>
                <a:t>영상의 시선 · 자세 정보를 결합해 최종 피드백 생성</a:t>
              </a:r>
            </a:p>
          </p:txBody>
        </p:sp>
      </p:grpSp>
    </p:spTree>
  </p:cSld>
  <p:clrMapOvr>
    <a:masterClrMapping/>
  </p:clrMapOvr>
  <p:transition spd="fast">
    <p:fade/>
  </p:transition>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42</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기술 스택</a:t>
            </a:r>
          </a:p>
        </p:txBody>
      </p:sp>
      <p:sp>
        <p:nvSpPr>
          <p:cNvPr name="TextBox 18" id="18"/>
          <p:cNvSpPr txBox="true"/>
          <p:nvPr/>
        </p:nvSpPr>
        <p:spPr>
          <a:xfrm rot="0">
            <a:off x="1371600" y="1522095"/>
            <a:ext cx="15544343" cy="1289685"/>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사용 기술</a:t>
            </a:r>
          </a:p>
        </p:txBody>
      </p:sp>
      <p:grpSp>
        <p:nvGrpSpPr>
          <p:cNvPr name="Group 19" id="19"/>
          <p:cNvGrpSpPr/>
          <p:nvPr/>
        </p:nvGrpSpPr>
        <p:grpSpPr>
          <a:xfrm rot="0">
            <a:off x="1362075" y="4036695"/>
            <a:ext cx="3185046" cy="57455"/>
            <a:chOff x="0" y="0"/>
            <a:chExt cx="4246728" cy="76606"/>
          </a:xfrm>
        </p:grpSpPr>
        <p:sp>
          <p:nvSpPr>
            <p:cNvPr name="Freeform 20" id="20"/>
            <p:cNvSpPr/>
            <p:nvPr/>
          </p:nvSpPr>
          <p:spPr>
            <a:xfrm flipH="false" flipV="false" rot="0">
              <a:off x="0" y="0"/>
              <a:ext cx="4246753" cy="76581"/>
            </a:xfrm>
            <a:custGeom>
              <a:avLst/>
              <a:gdLst/>
              <a:ahLst/>
              <a:cxnLst/>
              <a:rect r="r" b="b" t="t" l="l"/>
              <a:pathLst>
                <a:path h="76581" w="4246753">
                  <a:moveTo>
                    <a:pt x="0" y="0"/>
                  </a:moveTo>
                  <a:lnTo>
                    <a:pt x="4246753" y="0"/>
                  </a:lnTo>
                  <a:lnTo>
                    <a:pt x="4246753" y="76581"/>
                  </a:lnTo>
                  <a:lnTo>
                    <a:pt x="0" y="76581"/>
                  </a:lnTo>
                  <a:close/>
                </a:path>
              </a:pathLst>
            </a:custGeom>
            <a:solidFill>
              <a:srgbClr val="3B73EE"/>
            </a:solidFill>
            <a:ln w="19050" cap="sq">
              <a:solidFill>
                <a:srgbClr val="3B73EE"/>
              </a:solidFill>
              <a:prstDash val="solid"/>
              <a:miter/>
            </a:ln>
          </p:spPr>
        </p:sp>
      </p:grpSp>
      <p:sp>
        <p:nvSpPr>
          <p:cNvPr name="TextBox 21" id="21"/>
          <p:cNvSpPr txBox="true"/>
          <p:nvPr/>
        </p:nvSpPr>
        <p:spPr>
          <a:xfrm rot="0">
            <a:off x="1371600" y="4334256"/>
            <a:ext cx="3165996" cy="521208"/>
          </a:xfrm>
          <a:prstGeom prst="rect">
            <a:avLst/>
          </a:prstGeom>
        </p:spPr>
        <p:txBody>
          <a:bodyPr anchor="t" rtlCol="false" tIns="0" lIns="0" bIns="0" rIns="0">
            <a:spAutoFit/>
          </a:bodyPr>
          <a:lstStyle/>
          <a:p>
            <a:pPr algn="l">
              <a:lnSpc>
                <a:spcPts val="3060"/>
              </a:lnSpc>
            </a:pPr>
            <a:r>
              <a:rPr lang="en-US" sz="2550" b="true">
                <a:solidFill>
                  <a:srgbClr val="1F4FC4"/>
                </a:solidFill>
                <a:latin typeface="Noto Sans Bold"/>
                <a:ea typeface="Noto Sans Bold"/>
                <a:cs typeface="Noto Sans Bold"/>
                <a:sym typeface="Noto Sans Bold"/>
              </a:rPr>
              <a:t>Frontend</a:t>
            </a:r>
          </a:p>
        </p:txBody>
      </p:sp>
      <p:sp>
        <p:nvSpPr>
          <p:cNvPr name="TextBox 22" id="22"/>
          <p:cNvSpPr txBox="true"/>
          <p:nvPr/>
        </p:nvSpPr>
        <p:spPr>
          <a:xfrm rot="0">
            <a:off x="1371600" y="5102352"/>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Vue 3</a:t>
            </a:r>
          </a:p>
        </p:txBody>
      </p:sp>
      <p:grpSp>
        <p:nvGrpSpPr>
          <p:cNvPr name="Group 23" id="23"/>
          <p:cNvGrpSpPr/>
          <p:nvPr/>
        </p:nvGrpSpPr>
        <p:grpSpPr>
          <a:xfrm rot="0">
            <a:off x="1362075" y="5614035"/>
            <a:ext cx="3185046" cy="38252"/>
            <a:chOff x="0" y="0"/>
            <a:chExt cx="4246728" cy="51003"/>
          </a:xfrm>
        </p:grpSpPr>
        <p:sp>
          <p:nvSpPr>
            <p:cNvPr name="Freeform 24" id="24"/>
            <p:cNvSpPr/>
            <p:nvPr/>
          </p:nvSpPr>
          <p:spPr>
            <a:xfrm flipH="false" flipV="false" rot="0">
              <a:off x="0" y="0"/>
              <a:ext cx="4246753" cy="51054"/>
            </a:xfrm>
            <a:custGeom>
              <a:avLst/>
              <a:gdLst/>
              <a:ahLst/>
              <a:cxnLst/>
              <a:rect r="r" b="b" t="t" l="l"/>
              <a:pathLst>
                <a:path h="51054" w="4246753">
                  <a:moveTo>
                    <a:pt x="0" y="0"/>
                  </a:moveTo>
                  <a:lnTo>
                    <a:pt x="4246753" y="0"/>
                  </a:lnTo>
                  <a:lnTo>
                    <a:pt x="4246753" y="51054"/>
                  </a:lnTo>
                  <a:lnTo>
                    <a:pt x="0" y="51054"/>
                  </a:lnTo>
                  <a:close/>
                </a:path>
              </a:pathLst>
            </a:custGeom>
            <a:solidFill>
              <a:srgbClr val="ECEEF4"/>
            </a:solidFill>
            <a:ln w="19050" cap="sq">
              <a:solidFill>
                <a:srgbClr val="ECEEF4"/>
              </a:solidFill>
              <a:prstDash val="solid"/>
              <a:miter/>
            </a:ln>
          </p:spPr>
        </p:sp>
      </p:grpSp>
      <p:sp>
        <p:nvSpPr>
          <p:cNvPr name="TextBox 25" id="25"/>
          <p:cNvSpPr txBox="true"/>
          <p:nvPr/>
        </p:nvSpPr>
        <p:spPr>
          <a:xfrm rot="0">
            <a:off x="1371600" y="5815584"/>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Pinia · Vite</a:t>
            </a:r>
          </a:p>
        </p:txBody>
      </p:sp>
      <p:grpSp>
        <p:nvGrpSpPr>
          <p:cNvPr name="Group 26" id="26"/>
          <p:cNvGrpSpPr/>
          <p:nvPr/>
        </p:nvGrpSpPr>
        <p:grpSpPr>
          <a:xfrm rot="0">
            <a:off x="1362075" y="6327267"/>
            <a:ext cx="3185046" cy="38252"/>
            <a:chOff x="0" y="0"/>
            <a:chExt cx="4246728" cy="51003"/>
          </a:xfrm>
        </p:grpSpPr>
        <p:sp>
          <p:nvSpPr>
            <p:cNvPr name="Freeform 27" id="27"/>
            <p:cNvSpPr/>
            <p:nvPr/>
          </p:nvSpPr>
          <p:spPr>
            <a:xfrm flipH="false" flipV="false" rot="0">
              <a:off x="0" y="0"/>
              <a:ext cx="4246753" cy="51054"/>
            </a:xfrm>
            <a:custGeom>
              <a:avLst/>
              <a:gdLst/>
              <a:ahLst/>
              <a:cxnLst/>
              <a:rect r="r" b="b" t="t" l="l"/>
              <a:pathLst>
                <a:path h="51054" w="4246753">
                  <a:moveTo>
                    <a:pt x="0" y="0"/>
                  </a:moveTo>
                  <a:lnTo>
                    <a:pt x="4246753" y="0"/>
                  </a:lnTo>
                  <a:lnTo>
                    <a:pt x="4246753" y="51054"/>
                  </a:lnTo>
                  <a:lnTo>
                    <a:pt x="0" y="51054"/>
                  </a:lnTo>
                  <a:close/>
                </a:path>
              </a:pathLst>
            </a:custGeom>
            <a:solidFill>
              <a:srgbClr val="ECEEF4"/>
            </a:solidFill>
            <a:ln w="19050" cap="sq">
              <a:solidFill>
                <a:srgbClr val="ECEEF4"/>
              </a:solidFill>
              <a:prstDash val="solid"/>
              <a:miter/>
            </a:ln>
          </p:spPr>
        </p:sp>
      </p:grpSp>
      <p:sp>
        <p:nvSpPr>
          <p:cNvPr name="TextBox 28" id="28"/>
          <p:cNvSpPr txBox="true"/>
          <p:nvPr/>
        </p:nvSpPr>
        <p:spPr>
          <a:xfrm rot="0">
            <a:off x="1371600" y="6528816"/>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Vitest</a:t>
            </a:r>
          </a:p>
        </p:txBody>
      </p:sp>
      <p:grpSp>
        <p:nvGrpSpPr>
          <p:cNvPr name="Group 29" id="29"/>
          <p:cNvGrpSpPr/>
          <p:nvPr/>
        </p:nvGrpSpPr>
        <p:grpSpPr>
          <a:xfrm rot="0">
            <a:off x="5488191" y="4036695"/>
            <a:ext cx="3185046" cy="57455"/>
            <a:chOff x="0" y="0"/>
            <a:chExt cx="4246728" cy="76606"/>
          </a:xfrm>
        </p:grpSpPr>
        <p:sp>
          <p:nvSpPr>
            <p:cNvPr name="Freeform 30" id="30"/>
            <p:cNvSpPr/>
            <p:nvPr/>
          </p:nvSpPr>
          <p:spPr>
            <a:xfrm flipH="false" flipV="false" rot="0">
              <a:off x="0" y="0"/>
              <a:ext cx="4246753" cy="76581"/>
            </a:xfrm>
            <a:custGeom>
              <a:avLst/>
              <a:gdLst/>
              <a:ahLst/>
              <a:cxnLst/>
              <a:rect r="r" b="b" t="t" l="l"/>
              <a:pathLst>
                <a:path h="76581" w="4246753">
                  <a:moveTo>
                    <a:pt x="0" y="0"/>
                  </a:moveTo>
                  <a:lnTo>
                    <a:pt x="4246753" y="0"/>
                  </a:lnTo>
                  <a:lnTo>
                    <a:pt x="4246753" y="76581"/>
                  </a:lnTo>
                  <a:lnTo>
                    <a:pt x="0" y="76581"/>
                  </a:lnTo>
                  <a:close/>
                </a:path>
              </a:pathLst>
            </a:custGeom>
            <a:solidFill>
              <a:srgbClr val="3B73EE"/>
            </a:solidFill>
            <a:ln w="19050" cap="sq">
              <a:solidFill>
                <a:srgbClr val="3B73EE"/>
              </a:solidFill>
              <a:prstDash val="solid"/>
              <a:miter/>
            </a:ln>
          </p:spPr>
        </p:sp>
      </p:grpSp>
      <p:sp>
        <p:nvSpPr>
          <p:cNvPr name="TextBox 31" id="31"/>
          <p:cNvSpPr txBox="true"/>
          <p:nvPr/>
        </p:nvSpPr>
        <p:spPr>
          <a:xfrm rot="0">
            <a:off x="5497716" y="4334256"/>
            <a:ext cx="3165996" cy="521208"/>
          </a:xfrm>
          <a:prstGeom prst="rect">
            <a:avLst/>
          </a:prstGeom>
        </p:spPr>
        <p:txBody>
          <a:bodyPr anchor="t" rtlCol="false" tIns="0" lIns="0" bIns="0" rIns="0">
            <a:spAutoFit/>
          </a:bodyPr>
          <a:lstStyle/>
          <a:p>
            <a:pPr algn="l">
              <a:lnSpc>
                <a:spcPts val="3060"/>
              </a:lnSpc>
            </a:pPr>
            <a:r>
              <a:rPr lang="en-US" sz="2550" b="true">
                <a:solidFill>
                  <a:srgbClr val="1F4FC4"/>
                </a:solidFill>
                <a:latin typeface="Noto Sans Bold"/>
                <a:ea typeface="Noto Sans Bold"/>
                <a:cs typeface="Noto Sans Bold"/>
                <a:sym typeface="Noto Sans Bold"/>
              </a:rPr>
              <a:t>Backend</a:t>
            </a:r>
          </a:p>
        </p:txBody>
      </p:sp>
      <p:sp>
        <p:nvSpPr>
          <p:cNvPr name="TextBox 32" id="32"/>
          <p:cNvSpPr txBox="true"/>
          <p:nvPr/>
        </p:nvSpPr>
        <p:spPr>
          <a:xfrm rot="0">
            <a:off x="5497716" y="5102352"/>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Spring Boot</a:t>
            </a:r>
          </a:p>
        </p:txBody>
      </p:sp>
      <p:grpSp>
        <p:nvGrpSpPr>
          <p:cNvPr name="Group 33" id="33"/>
          <p:cNvGrpSpPr/>
          <p:nvPr/>
        </p:nvGrpSpPr>
        <p:grpSpPr>
          <a:xfrm rot="0">
            <a:off x="5488191" y="5614035"/>
            <a:ext cx="3185046" cy="38252"/>
            <a:chOff x="0" y="0"/>
            <a:chExt cx="4246728" cy="51003"/>
          </a:xfrm>
        </p:grpSpPr>
        <p:sp>
          <p:nvSpPr>
            <p:cNvPr name="Freeform 34" id="34"/>
            <p:cNvSpPr/>
            <p:nvPr/>
          </p:nvSpPr>
          <p:spPr>
            <a:xfrm flipH="false" flipV="false" rot="0">
              <a:off x="0" y="0"/>
              <a:ext cx="4246753" cy="51054"/>
            </a:xfrm>
            <a:custGeom>
              <a:avLst/>
              <a:gdLst/>
              <a:ahLst/>
              <a:cxnLst/>
              <a:rect r="r" b="b" t="t" l="l"/>
              <a:pathLst>
                <a:path h="51054" w="4246753">
                  <a:moveTo>
                    <a:pt x="0" y="0"/>
                  </a:moveTo>
                  <a:lnTo>
                    <a:pt x="4246753" y="0"/>
                  </a:lnTo>
                  <a:lnTo>
                    <a:pt x="4246753" y="51054"/>
                  </a:lnTo>
                  <a:lnTo>
                    <a:pt x="0" y="51054"/>
                  </a:lnTo>
                  <a:close/>
                </a:path>
              </a:pathLst>
            </a:custGeom>
            <a:solidFill>
              <a:srgbClr val="ECEEF4"/>
            </a:solidFill>
            <a:ln w="19050" cap="sq">
              <a:solidFill>
                <a:srgbClr val="ECEEF4"/>
              </a:solidFill>
              <a:prstDash val="solid"/>
              <a:miter/>
            </a:ln>
          </p:spPr>
        </p:sp>
      </p:grpSp>
      <p:sp>
        <p:nvSpPr>
          <p:cNvPr name="TextBox 35" id="35"/>
          <p:cNvSpPr txBox="true"/>
          <p:nvPr/>
        </p:nvSpPr>
        <p:spPr>
          <a:xfrm rot="0">
            <a:off x="5497716" y="5815584"/>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PostgreSQL</a:t>
            </a:r>
          </a:p>
        </p:txBody>
      </p:sp>
      <p:grpSp>
        <p:nvGrpSpPr>
          <p:cNvPr name="Group 36" id="36"/>
          <p:cNvGrpSpPr/>
          <p:nvPr/>
        </p:nvGrpSpPr>
        <p:grpSpPr>
          <a:xfrm rot="0">
            <a:off x="5488191" y="6327267"/>
            <a:ext cx="3185046" cy="38252"/>
            <a:chOff x="0" y="0"/>
            <a:chExt cx="4246728" cy="51003"/>
          </a:xfrm>
        </p:grpSpPr>
        <p:sp>
          <p:nvSpPr>
            <p:cNvPr name="Freeform 37" id="37"/>
            <p:cNvSpPr/>
            <p:nvPr/>
          </p:nvSpPr>
          <p:spPr>
            <a:xfrm flipH="false" flipV="false" rot="0">
              <a:off x="0" y="0"/>
              <a:ext cx="4246753" cy="51054"/>
            </a:xfrm>
            <a:custGeom>
              <a:avLst/>
              <a:gdLst/>
              <a:ahLst/>
              <a:cxnLst/>
              <a:rect r="r" b="b" t="t" l="l"/>
              <a:pathLst>
                <a:path h="51054" w="4246753">
                  <a:moveTo>
                    <a:pt x="0" y="0"/>
                  </a:moveTo>
                  <a:lnTo>
                    <a:pt x="4246753" y="0"/>
                  </a:lnTo>
                  <a:lnTo>
                    <a:pt x="4246753" y="51054"/>
                  </a:lnTo>
                  <a:lnTo>
                    <a:pt x="0" y="51054"/>
                  </a:lnTo>
                  <a:close/>
                </a:path>
              </a:pathLst>
            </a:custGeom>
            <a:solidFill>
              <a:srgbClr val="ECEEF4"/>
            </a:solidFill>
            <a:ln w="19050" cap="sq">
              <a:solidFill>
                <a:srgbClr val="ECEEF4"/>
              </a:solidFill>
              <a:prstDash val="solid"/>
              <a:miter/>
            </a:ln>
          </p:spPr>
        </p:sp>
      </p:grpSp>
      <p:sp>
        <p:nvSpPr>
          <p:cNvPr name="TextBox 38" id="38"/>
          <p:cNvSpPr txBox="true"/>
          <p:nvPr/>
        </p:nvSpPr>
        <p:spPr>
          <a:xfrm rot="0">
            <a:off x="5497716" y="6528816"/>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RabbitMQ</a:t>
            </a:r>
          </a:p>
        </p:txBody>
      </p:sp>
      <p:grpSp>
        <p:nvGrpSpPr>
          <p:cNvPr name="Group 39" id="39"/>
          <p:cNvGrpSpPr/>
          <p:nvPr/>
        </p:nvGrpSpPr>
        <p:grpSpPr>
          <a:xfrm rot="0">
            <a:off x="9614306" y="4036695"/>
            <a:ext cx="3185046" cy="57455"/>
            <a:chOff x="0" y="0"/>
            <a:chExt cx="4246728" cy="76606"/>
          </a:xfrm>
        </p:grpSpPr>
        <p:sp>
          <p:nvSpPr>
            <p:cNvPr name="Freeform 40" id="40"/>
            <p:cNvSpPr/>
            <p:nvPr/>
          </p:nvSpPr>
          <p:spPr>
            <a:xfrm flipH="false" flipV="false" rot="0">
              <a:off x="0" y="0"/>
              <a:ext cx="4246753" cy="76581"/>
            </a:xfrm>
            <a:custGeom>
              <a:avLst/>
              <a:gdLst/>
              <a:ahLst/>
              <a:cxnLst/>
              <a:rect r="r" b="b" t="t" l="l"/>
              <a:pathLst>
                <a:path h="76581" w="4246753">
                  <a:moveTo>
                    <a:pt x="0" y="0"/>
                  </a:moveTo>
                  <a:lnTo>
                    <a:pt x="4246753" y="0"/>
                  </a:lnTo>
                  <a:lnTo>
                    <a:pt x="4246753" y="76581"/>
                  </a:lnTo>
                  <a:lnTo>
                    <a:pt x="0" y="76581"/>
                  </a:lnTo>
                  <a:close/>
                </a:path>
              </a:pathLst>
            </a:custGeom>
            <a:solidFill>
              <a:srgbClr val="3B73EE"/>
            </a:solidFill>
            <a:ln w="19050" cap="sq">
              <a:solidFill>
                <a:srgbClr val="3B73EE"/>
              </a:solidFill>
              <a:prstDash val="solid"/>
              <a:miter/>
            </a:ln>
          </p:spPr>
        </p:sp>
      </p:grpSp>
      <p:sp>
        <p:nvSpPr>
          <p:cNvPr name="TextBox 41" id="41"/>
          <p:cNvSpPr txBox="true"/>
          <p:nvPr/>
        </p:nvSpPr>
        <p:spPr>
          <a:xfrm rot="0">
            <a:off x="9623831" y="4334256"/>
            <a:ext cx="3165996" cy="521208"/>
          </a:xfrm>
          <a:prstGeom prst="rect">
            <a:avLst/>
          </a:prstGeom>
        </p:spPr>
        <p:txBody>
          <a:bodyPr anchor="t" rtlCol="false" tIns="0" lIns="0" bIns="0" rIns="0">
            <a:spAutoFit/>
          </a:bodyPr>
          <a:lstStyle/>
          <a:p>
            <a:pPr algn="l">
              <a:lnSpc>
                <a:spcPts val="3060"/>
              </a:lnSpc>
            </a:pPr>
            <a:r>
              <a:rPr lang="en-US" sz="2550" b="true">
                <a:solidFill>
                  <a:srgbClr val="1F4FC4"/>
                </a:solidFill>
                <a:latin typeface="Noto Sans Bold"/>
                <a:ea typeface="Noto Sans Bold"/>
                <a:cs typeface="Noto Sans Bold"/>
                <a:sym typeface="Noto Sans Bold"/>
              </a:rPr>
              <a:t>AI</a:t>
            </a:r>
          </a:p>
        </p:txBody>
      </p:sp>
      <p:sp>
        <p:nvSpPr>
          <p:cNvPr name="TextBox 42" id="42"/>
          <p:cNvSpPr txBox="true"/>
          <p:nvPr/>
        </p:nvSpPr>
        <p:spPr>
          <a:xfrm rot="0">
            <a:off x="9623831" y="5102352"/>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FastAPI</a:t>
            </a:r>
          </a:p>
        </p:txBody>
      </p:sp>
      <p:grpSp>
        <p:nvGrpSpPr>
          <p:cNvPr name="Group 43" id="43"/>
          <p:cNvGrpSpPr/>
          <p:nvPr/>
        </p:nvGrpSpPr>
        <p:grpSpPr>
          <a:xfrm rot="0">
            <a:off x="9614306" y="5614035"/>
            <a:ext cx="3185046" cy="38252"/>
            <a:chOff x="0" y="0"/>
            <a:chExt cx="4246728" cy="51003"/>
          </a:xfrm>
        </p:grpSpPr>
        <p:sp>
          <p:nvSpPr>
            <p:cNvPr name="Freeform 44" id="44"/>
            <p:cNvSpPr/>
            <p:nvPr/>
          </p:nvSpPr>
          <p:spPr>
            <a:xfrm flipH="false" flipV="false" rot="0">
              <a:off x="0" y="0"/>
              <a:ext cx="4246753" cy="51054"/>
            </a:xfrm>
            <a:custGeom>
              <a:avLst/>
              <a:gdLst/>
              <a:ahLst/>
              <a:cxnLst/>
              <a:rect r="r" b="b" t="t" l="l"/>
              <a:pathLst>
                <a:path h="51054" w="4246753">
                  <a:moveTo>
                    <a:pt x="0" y="0"/>
                  </a:moveTo>
                  <a:lnTo>
                    <a:pt x="4246753" y="0"/>
                  </a:lnTo>
                  <a:lnTo>
                    <a:pt x="4246753" y="51054"/>
                  </a:lnTo>
                  <a:lnTo>
                    <a:pt x="0" y="51054"/>
                  </a:lnTo>
                  <a:close/>
                </a:path>
              </a:pathLst>
            </a:custGeom>
            <a:solidFill>
              <a:srgbClr val="ECEEF4"/>
            </a:solidFill>
            <a:ln w="19050" cap="sq">
              <a:solidFill>
                <a:srgbClr val="ECEEF4"/>
              </a:solidFill>
              <a:prstDash val="solid"/>
              <a:miter/>
            </a:ln>
          </p:spPr>
        </p:sp>
      </p:grpSp>
      <p:sp>
        <p:nvSpPr>
          <p:cNvPr name="TextBox 45" id="45"/>
          <p:cNvSpPr txBox="true"/>
          <p:nvPr/>
        </p:nvSpPr>
        <p:spPr>
          <a:xfrm rot="0">
            <a:off x="9623831" y="5815584"/>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STT 모델</a:t>
            </a:r>
          </a:p>
        </p:txBody>
      </p:sp>
      <p:grpSp>
        <p:nvGrpSpPr>
          <p:cNvPr name="Group 46" id="46"/>
          <p:cNvGrpSpPr/>
          <p:nvPr/>
        </p:nvGrpSpPr>
        <p:grpSpPr>
          <a:xfrm rot="0">
            <a:off x="9614306" y="6327267"/>
            <a:ext cx="3185046" cy="38252"/>
            <a:chOff x="0" y="0"/>
            <a:chExt cx="4246728" cy="51003"/>
          </a:xfrm>
        </p:grpSpPr>
        <p:sp>
          <p:nvSpPr>
            <p:cNvPr name="Freeform 47" id="47"/>
            <p:cNvSpPr/>
            <p:nvPr/>
          </p:nvSpPr>
          <p:spPr>
            <a:xfrm flipH="false" flipV="false" rot="0">
              <a:off x="0" y="0"/>
              <a:ext cx="4246753" cy="51054"/>
            </a:xfrm>
            <a:custGeom>
              <a:avLst/>
              <a:gdLst/>
              <a:ahLst/>
              <a:cxnLst/>
              <a:rect r="r" b="b" t="t" l="l"/>
              <a:pathLst>
                <a:path h="51054" w="4246753">
                  <a:moveTo>
                    <a:pt x="0" y="0"/>
                  </a:moveTo>
                  <a:lnTo>
                    <a:pt x="4246753" y="0"/>
                  </a:lnTo>
                  <a:lnTo>
                    <a:pt x="4246753" y="51054"/>
                  </a:lnTo>
                  <a:lnTo>
                    <a:pt x="0" y="51054"/>
                  </a:lnTo>
                  <a:close/>
                </a:path>
              </a:pathLst>
            </a:custGeom>
            <a:solidFill>
              <a:srgbClr val="ECEEF4"/>
            </a:solidFill>
            <a:ln w="19050" cap="sq">
              <a:solidFill>
                <a:srgbClr val="ECEEF4"/>
              </a:solidFill>
              <a:prstDash val="solid"/>
              <a:miter/>
            </a:ln>
          </p:spPr>
        </p:sp>
      </p:grpSp>
      <p:sp>
        <p:nvSpPr>
          <p:cNvPr name="TextBox 48" id="48"/>
          <p:cNvSpPr txBox="true"/>
          <p:nvPr/>
        </p:nvSpPr>
        <p:spPr>
          <a:xfrm rot="0">
            <a:off x="9623831" y="6528816"/>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멀티모달 LLM</a:t>
            </a:r>
          </a:p>
        </p:txBody>
      </p:sp>
      <p:grpSp>
        <p:nvGrpSpPr>
          <p:cNvPr name="Group 49" id="49"/>
          <p:cNvGrpSpPr/>
          <p:nvPr/>
        </p:nvGrpSpPr>
        <p:grpSpPr>
          <a:xfrm rot="0">
            <a:off x="13740422" y="4036695"/>
            <a:ext cx="3185046" cy="57455"/>
            <a:chOff x="0" y="0"/>
            <a:chExt cx="4246728" cy="76606"/>
          </a:xfrm>
        </p:grpSpPr>
        <p:sp>
          <p:nvSpPr>
            <p:cNvPr name="Freeform 50" id="50"/>
            <p:cNvSpPr/>
            <p:nvPr/>
          </p:nvSpPr>
          <p:spPr>
            <a:xfrm flipH="false" flipV="false" rot="0">
              <a:off x="0" y="0"/>
              <a:ext cx="4246753" cy="76581"/>
            </a:xfrm>
            <a:custGeom>
              <a:avLst/>
              <a:gdLst/>
              <a:ahLst/>
              <a:cxnLst/>
              <a:rect r="r" b="b" t="t" l="l"/>
              <a:pathLst>
                <a:path h="76581" w="4246753">
                  <a:moveTo>
                    <a:pt x="0" y="0"/>
                  </a:moveTo>
                  <a:lnTo>
                    <a:pt x="4246753" y="0"/>
                  </a:lnTo>
                  <a:lnTo>
                    <a:pt x="4246753" y="76581"/>
                  </a:lnTo>
                  <a:lnTo>
                    <a:pt x="0" y="76581"/>
                  </a:lnTo>
                  <a:close/>
                </a:path>
              </a:pathLst>
            </a:custGeom>
            <a:solidFill>
              <a:srgbClr val="3B73EE"/>
            </a:solidFill>
            <a:ln w="19050" cap="sq">
              <a:solidFill>
                <a:srgbClr val="3B73EE"/>
              </a:solidFill>
              <a:prstDash val="solid"/>
              <a:miter/>
            </a:ln>
          </p:spPr>
        </p:sp>
      </p:grpSp>
      <p:sp>
        <p:nvSpPr>
          <p:cNvPr name="TextBox 51" id="51"/>
          <p:cNvSpPr txBox="true"/>
          <p:nvPr/>
        </p:nvSpPr>
        <p:spPr>
          <a:xfrm rot="0">
            <a:off x="13749947" y="4334256"/>
            <a:ext cx="3165996" cy="521208"/>
          </a:xfrm>
          <a:prstGeom prst="rect">
            <a:avLst/>
          </a:prstGeom>
        </p:spPr>
        <p:txBody>
          <a:bodyPr anchor="t" rtlCol="false" tIns="0" lIns="0" bIns="0" rIns="0">
            <a:spAutoFit/>
          </a:bodyPr>
          <a:lstStyle/>
          <a:p>
            <a:pPr algn="l">
              <a:lnSpc>
                <a:spcPts val="3060"/>
              </a:lnSpc>
            </a:pPr>
            <a:r>
              <a:rPr lang="en-US" sz="2550" b="true">
                <a:solidFill>
                  <a:srgbClr val="1F4FC4"/>
                </a:solidFill>
                <a:latin typeface="Noto Sans Bold"/>
                <a:ea typeface="Noto Sans Bold"/>
                <a:cs typeface="Noto Sans Bold"/>
                <a:sym typeface="Noto Sans Bold"/>
              </a:rPr>
              <a:t>Infra</a:t>
            </a:r>
          </a:p>
        </p:txBody>
      </p:sp>
      <p:sp>
        <p:nvSpPr>
          <p:cNvPr name="TextBox 52" id="52"/>
          <p:cNvSpPr txBox="true"/>
          <p:nvPr/>
        </p:nvSpPr>
        <p:spPr>
          <a:xfrm rot="0">
            <a:off x="13749947" y="5102352"/>
            <a:ext cx="3165996" cy="493776"/>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AWS S3</a:t>
            </a:r>
          </a:p>
        </p:txBody>
      </p:sp>
      <p:grpSp>
        <p:nvGrpSpPr>
          <p:cNvPr name="Group 53" id="53"/>
          <p:cNvGrpSpPr/>
          <p:nvPr/>
        </p:nvGrpSpPr>
        <p:grpSpPr>
          <a:xfrm rot="0">
            <a:off x="13740422" y="5614035"/>
            <a:ext cx="3185046" cy="38252"/>
            <a:chOff x="0" y="0"/>
            <a:chExt cx="4246728" cy="51003"/>
          </a:xfrm>
        </p:grpSpPr>
        <p:sp>
          <p:nvSpPr>
            <p:cNvPr name="Freeform 54" id="54"/>
            <p:cNvSpPr/>
            <p:nvPr/>
          </p:nvSpPr>
          <p:spPr>
            <a:xfrm flipH="false" flipV="false" rot="0">
              <a:off x="0" y="0"/>
              <a:ext cx="4246753" cy="51054"/>
            </a:xfrm>
            <a:custGeom>
              <a:avLst/>
              <a:gdLst/>
              <a:ahLst/>
              <a:cxnLst/>
              <a:rect r="r" b="b" t="t" l="l"/>
              <a:pathLst>
                <a:path h="51054" w="4246753">
                  <a:moveTo>
                    <a:pt x="0" y="0"/>
                  </a:moveTo>
                  <a:lnTo>
                    <a:pt x="4246753" y="0"/>
                  </a:lnTo>
                  <a:lnTo>
                    <a:pt x="4246753" y="51054"/>
                  </a:lnTo>
                  <a:lnTo>
                    <a:pt x="0" y="51054"/>
                  </a:lnTo>
                  <a:close/>
                </a:path>
              </a:pathLst>
            </a:custGeom>
            <a:solidFill>
              <a:srgbClr val="ECEEF4"/>
            </a:solidFill>
            <a:ln w="19050" cap="sq">
              <a:solidFill>
                <a:srgbClr val="ECEEF4"/>
              </a:solidFill>
              <a:prstDash val="solid"/>
              <a:miter/>
            </a:ln>
          </p:spPr>
        </p:sp>
      </p:grpSp>
      <p:sp>
        <p:nvSpPr>
          <p:cNvPr name="TextBox 55" id="55"/>
          <p:cNvSpPr txBox="true"/>
          <p:nvPr/>
        </p:nvSpPr>
        <p:spPr>
          <a:xfrm rot="0">
            <a:off x="13749947" y="5815584"/>
            <a:ext cx="3165996" cy="314325"/>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Docker · Nginx</a:t>
            </a:r>
          </a:p>
        </p:txBody>
      </p:sp>
      <p:grpSp>
        <p:nvGrpSpPr>
          <p:cNvPr name="Group 56" id="56"/>
          <p:cNvGrpSpPr/>
          <p:nvPr/>
        </p:nvGrpSpPr>
        <p:grpSpPr>
          <a:xfrm rot="0">
            <a:off x="13740422" y="6327267"/>
            <a:ext cx="3185046" cy="38252"/>
            <a:chOff x="0" y="0"/>
            <a:chExt cx="4246728" cy="51003"/>
          </a:xfrm>
        </p:grpSpPr>
        <p:sp>
          <p:nvSpPr>
            <p:cNvPr name="Freeform 57" id="57"/>
            <p:cNvSpPr/>
            <p:nvPr/>
          </p:nvSpPr>
          <p:spPr>
            <a:xfrm flipH="false" flipV="false" rot="0">
              <a:off x="0" y="0"/>
              <a:ext cx="4246753" cy="51054"/>
            </a:xfrm>
            <a:custGeom>
              <a:avLst/>
              <a:gdLst/>
              <a:ahLst/>
              <a:cxnLst/>
              <a:rect r="r" b="b" t="t" l="l"/>
              <a:pathLst>
                <a:path h="51054" w="4246753">
                  <a:moveTo>
                    <a:pt x="0" y="0"/>
                  </a:moveTo>
                  <a:lnTo>
                    <a:pt x="4246753" y="0"/>
                  </a:lnTo>
                  <a:lnTo>
                    <a:pt x="4246753" y="51054"/>
                  </a:lnTo>
                  <a:lnTo>
                    <a:pt x="0" y="51054"/>
                  </a:lnTo>
                  <a:close/>
                </a:path>
              </a:pathLst>
            </a:custGeom>
            <a:solidFill>
              <a:srgbClr val="ECEEF4"/>
            </a:solidFill>
            <a:ln w="19050" cap="sq">
              <a:solidFill>
                <a:srgbClr val="ECEEF4"/>
              </a:solidFill>
              <a:prstDash val="solid"/>
              <a:miter/>
            </a:ln>
          </p:spPr>
        </p:sp>
      </p:grpSp>
      <p:sp>
        <p:nvSpPr>
          <p:cNvPr name="TextBox 58" id="58"/>
          <p:cNvSpPr txBox="true"/>
          <p:nvPr/>
        </p:nvSpPr>
        <p:spPr>
          <a:xfrm rot="0">
            <a:off x="13749947" y="6528816"/>
            <a:ext cx="3165996" cy="314325"/>
          </a:xfrm>
          <a:prstGeom prst="rect">
            <a:avLst/>
          </a:prstGeom>
        </p:spPr>
        <p:txBody>
          <a:bodyPr anchor="t" rtlCol="false" tIns="0" lIns="0" bIns="0" rIns="0">
            <a:spAutoFit/>
          </a:bodyPr>
          <a:lstStyle/>
          <a:p>
            <a:pPr algn="l">
              <a:lnSpc>
                <a:spcPts val="2520"/>
              </a:lnSpc>
            </a:pPr>
            <a:r>
              <a:rPr lang="en-US" sz="2100">
                <a:solidFill>
                  <a:srgbClr val="2E313D"/>
                </a:solidFill>
                <a:latin typeface="Noto Sans"/>
                <a:ea typeface="Noto Sans"/>
                <a:cs typeface="Noto Sans"/>
                <a:sym typeface="Noto Sans"/>
              </a:rPr>
              <a:t>Grafana · Loki</a:t>
            </a:r>
          </a:p>
        </p:txBody>
      </p:sp>
      <p:sp>
        <p:nvSpPr>
          <p:cNvPr name="TextBox 59" id="59"/>
          <p:cNvSpPr txBox="true"/>
          <p:nvPr/>
        </p:nvSpPr>
        <p:spPr>
          <a:xfrm rot="0">
            <a:off x="1371600" y="8033385"/>
            <a:ext cx="15544343" cy="429387"/>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실시간 피드백은 브라우저에서, 저장 · 분석 · 모니터링은 서버에서 역할을 나눠 맡습니다.</a:t>
            </a:r>
          </a:p>
        </p:txBody>
      </p:sp>
    </p:spTree>
  </p:cSld>
  <p:clrMapOvr>
    <a:masterClrMapping/>
  </p:clrMapOvr>
  <p:transition spd="fast">
    <p:fade/>
  </p:transition>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43</a:t>
              </a:r>
            </a:p>
          </p:txBody>
        </p:sp>
      </p:grpSp>
      <p:grpSp>
        <p:nvGrpSpPr>
          <p:cNvPr name="Group 17" id="17"/>
          <p:cNvGrpSpPr/>
          <p:nvPr/>
        </p:nvGrpSpPr>
        <p:grpSpPr>
          <a:xfrm rot="0">
            <a:off x="1362075" y="3062859"/>
            <a:ext cx="15563393" cy="38252"/>
            <a:chOff x="0" y="0"/>
            <a:chExt cx="20751190" cy="51003"/>
          </a:xfrm>
        </p:grpSpPr>
        <p:sp>
          <p:nvSpPr>
            <p:cNvPr name="Freeform 18" id="18"/>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graphicFrame>
        <p:nvGraphicFramePr>
          <p:cNvPr name="Object 19" id="19"/>
          <p:cNvGraphicFramePr/>
          <p:nvPr/>
        </p:nvGraphicFramePr>
        <p:xfrm>
          <a:off x="1371600" y="3929786"/>
          <a:ext cx="9429750" cy="3771900"/>
        </p:xfrm>
        <a:graphic>
          <a:graphicData uri="http://schemas.openxmlformats.org/presentationml/2006/ole">
            <p:oleObj imgW="11315700" imgH="5651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20" id="20"/>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모델 성능 개선</a:t>
            </a:r>
          </a:p>
        </p:txBody>
      </p:sp>
      <p:sp>
        <p:nvSpPr>
          <p:cNvPr name="TextBox 21" id="21"/>
          <p:cNvSpPr txBox="true"/>
          <p:nvPr/>
        </p:nvSpPr>
        <p:spPr>
          <a:xfrm rot="0">
            <a:off x="1371600" y="1541145"/>
            <a:ext cx="15544343" cy="834771"/>
          </a:xfrm>
          <a:prstGeom prst="rect">
            <a:avLst/>
          </a:prstGeom>
        </p:spPr>
        <p:txBody>
          <a:bodyPr anchor="t" rtlCol="false" tIns="0" lIns="0" bIns="0" rIns="0">
            <a:spAutoFit/>
          </a:bodyPr>
          <a:lstStyle/>
          <a:p>
            <a:pPr algn="l">
              <a:lnSpc>
                <a:spcPts val="6912"/>
              </a:lnSpc>
            </a:pPr>
            <a:r>
              <a:rPr lang="en-US" sz="4800" b="true">
                <a:solidFill>
                  <a:srgbClr val="11131B"/>
                </a:solidFill>
                <a:latin typeface="Noto Sans Bold"/>
                <a:ea typeface="Noto Sans Bold"/>
                <a:cs typeface="Noto Sans Bold"/>
                <a:sym typeface="Noto Sans Bold"/>
              </a:rPr>
              <a:t>사용 AI 정리</a:t>
            </a:r>
          </a:p>
        </p:txBody>
      </p:sp>
      <p:sp>
        <p:nvSpPr>
          <p:cNvPr name="TextBox 22" id="22"/>
          <p:cNvSpPr txBox="true"/>
          <p:nvPr/>
        </p:nvSpPr>
        <p:spPr>
          <a:xfrm rot="0">
            <a:off x="1337742" y="3358286"/>
            <a:ext cx="1610767" cy="314325"/>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Noto Sans"/>
                <a:ea typeface="Noto Sans"/>
                <a:cs typeface="Noto Sans"/>
                <a:sym typeface="Noto Sans"/>
              </a:rPr>
              <a:t>모델 비교 결과</a:t>
            </a:r>
          </a:p>
        </p:txBody>
      </p:sp>
      <p:sp>
        <p:nvSpPr>
          <p:cNvPr name="TextBox 23" id="23"/>
          <p:cNvSpPr txBox="true"/>
          <p:nvPr/>
        </p:nvSpPr>
        <p:spPr>
          <a:xfrm rot="0">
            <a:off x="4958358" y="8330336"/>
            <a:ext cx="8371284" cy="62865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Noto Sans"/>
                <a:ea typeface="Noto Sans"/>
                <a:cs typeface="Noto Sans"/>
                <a:sym typeface="Noto Sans"/>
              </a:rPr>
              <a:t>faster-whisper는 보정으로 F1이 가장 크게 향상됐으며(+0.4228), </a:t>
            </a:r>
          </a:p>
          <a:p>
            <a:pPr algn="ctr">
              <a:lnSpc>
                <a:spcPts val="2520"/>
              </a:lnSpc>
              <a:spcBef>
                <a:spcPct val="0"/>
              </a:spcBef>
            </a:pPr>
            <a:r>
              <a:rPr lang="en-US" sz="2100">
                <a:solidFill>
                  <a:srgbClr val="000000"/>
                </a:solidFill>
                <a:latin typeface="Noto Sans"/>
                <a:ea typeface="Noto Sans"/>
                <a:cs typeface="Noto Sans"/>
                <a:sym typeface="Noto Sans"/>
              </a:rPr>
              <a:t>최고 F1 모델과 근접한 성능을 유지하면서 약 9.6배 빠른 처리 속도를 보였다.</a:t>
            </a:r>
          </a:p>
        </p:txBody>
      </p:sp>
    </p:spTree>
  </p:cSld>
  <p:clrMapOvr>
    <a:masterClrMapping/>
  </p:clrMapOvr>
  <p:transition spd="fast">
    <p:fade/>
  </p:transition>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43</a:t>
              </a:r>
            </a:p>
          </p:txBody>
        </p:sp>
      </p:grpSp>
      <p:grpSp>
        <p:nvGrpSpPr>
          <p:cNvPr name="Group 17" id="17"/>
          <p:cNvGrpSpPr/>
          <p:nvPr/>
        </p:nvGrpSpPr>
        <p:grpSpPr>
          <a:xfrm rot="0">
            <a:off x="1362075" y="3062859"/>
            <a:ext cx="15563393" cy="38252"/>
            <a:chOff x="0" y="0"/>
            <a:chExt cx="20751190" cy="51003"/>
          </a:xfrm>
        </p:grpSpPr>
        <p:sp>
          <p:nvSpPr>
            <p:cNvPr name="Freeform 18" id="18"/>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graphicFrame>
        <p:nvGraphicFramePr>
          <p:cNvPr name="Object 19" id="19"/>
          <p:cNvGraphicFramePr/>
          <p:nvPr/>
        </p:nvGraphicFramePr>
        <p:xfrm>
          <a:off x="1371600" y="3929786"/>
          <a:ext cx="9429750" cy="3771900"/>
        </p:xfrm>
        <a:graphic>
          <a:graphicData uri="http://schemas.openxmlformats.org/presentationml/2006/ole">
            <p:oleObj imgW="11315700" imgH="5651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20" id="20"/>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모델 성능 개선</a:t>
            </a:r>
          </a:p>
        </p:txBody>
      </p:sp>
      <p:sp>
        <p:nvSpPr>
          <p:cNvPr name="TextBox 21" id="21"/>
          <p:cNvSpPr txBox="true"/>
          <p:nvPr/>
        </p:nvSpPr>
        <p:spPr>
          <a:xfrm rot="0">
            <a:off x="1371600" y="1541145"/>
            <a:ext cx="15544343" cy="834771"/>
          </a:xfrm>
          <a:prstGeom prst="rect">
            <a:avLst/>
          </a:prstGeom>
        </p:spPr>
        <p:txBody>
          <a:bodyPr anchor="t" rtlCol="false" tIns="0" lIns="0" bIns="0" rIns="0">
            <a:spAutoFit/>
          </a:bodyPr>
          <a:lstStyle/>
          <a:p>
            <a:pPr algn="l">
              <a:lnSpc>
                <a:spcPts val="6912"/>
              </a:lnSpc>
            </a:pPr>
            <a:r>
              <a:rPr lang="en-US" sz="4800" b="true">
                <a:solidFill>
                  <a:srgbClr val="11131B"/>
                </a:solidFill>
                <a:latin typeface="Noto Sans Bold"/>
                <a:ea typeface="Noto Sans Bold"/>
                <a:cs typeface="Noto Sans Bold"/>
                <a:sym typeface="Noto Sans Bold"/>
              </a:rPr>
              <a:t>추임새 인식 모델 선정</a:t>
            </a:r>
          </a:p>
        </p:txBody>
      </p:sp>
      <p:sp>
        <p:nvSpPr>
          <p:cNvPr name="TextBox 22" id="22"/>
          <p:cNvSpPr txBox="true"/>
          <p:nvPr/>
        </p:nvSpPr>
        <p:spPr>
          <a:xfrm rot="0">
            <a:off x="1337742" y="3358286"/>
            <a:ext cx="1610767" cy="314325"/>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Noto Sans"/>
                <a:ea typeface="Noto Sans"/>
                <a:cs typeface="Noto Sans"/>
                <a:sym typeface="Noto Sans"/>
              </a:rPr>
              <a:t>모델 비교 결과</a:t>
            </a:r>
          </a:p>
        </p:txBody>
      </p:sp>
      <p:sp>
        <p:nvSpPr>
          <p:cNvPr name="TextBox 23" id="23"/>
          <p:cNvSpPr txBox="true"/>
          <p:nvPr/>
        </p:nvSpPr>
        <p:spPr>
          <a:xfrm rot="0">
            <a:off x="4958358" y="8330336"/>
            <a:ext cx="8371284" cy="62865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Noto Sans"/>
                <a:ea typeface="Noto Sans"/>
                <a:cs typeface="Noto Sans"/>
                <a:sym typeface="Noto Sans"/>
              </a:rPr>
              <a:t>faster-whisper는 보정으로 F1이 가장 크게 향상됐으며(+0.4228), </a:t>
            </a:r>
          </a:p>
          <a:p>
            <a:pPr algn="ctr">
              <a:lnSpc>
                <a:spcPts val="2520"/>
              </a:lnSpc>
              <a:spcBef>
                <a:spcPct val="0"/>
              </a:spcBef>
            </a:pPr>
            <a:r>
              <a:rPr lang="en-US" sz="2100">
                <a:solidFill>
                  <a:srgbClr val="000000"/>
                </a:solidFill>
                <a:latin typeface="Noto Sans"/>
                <a:ea typeface="Noto Sans"/>
                <a:cs typeface="Noto Sans"/>
                <a:sym typeface="Noto Sans"/>
              </a:rPr>
              <a:t>최고 F1 모델과 근접한 성능을 유지하면서 약 9.6배 빠른 처리 속도를 보였다.</a:t>
            </a:r>
          </a:p>
        </p:txBody>
      </p:sp>
    </p:spTree>
  </p:cSld>
  <p:clrMapOvr>
    <a:masterClrMapping/>
  </p:clrMapOvr>
  <p:transition spd="fast">
    <p:fade/>
  </p:transition>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0D0E12"/>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44</a:t>
              </a:r>
            </a:p>
          </p:txBody>
        </p:sp>
      </p:grpSp>
      <p:grpSp>
        <p:nvGrpSpPr>
          <p:cNvPr name="Group 17" id="17"/>
          <p:cNvGrpSpPr/>
          <p:nvPr/>
        </p:nvGrpSpPr>
        <p:grpSpPr>
          <a:xfrm rot="0">
            <a:off x="1371600" y="3223260"/>
            <a:ext cx="4114800" cy="2057400"/>
            <a:chOff x="0" y="0"/>
            <a:chExt cx="5486400" cy="2743200"/>
          </a:xfrm>
        </p:grpSpPr>
        <p:sp>
          <p:nvSpPr>
            <p:cNvPr name="Freeform 18" id="18"/>
            <p:cNvSpPr/>
            <p:nvPr/>
          </p:nvSpPr>
          <p:spPr>
            <a:xfrm flipH="false" flipV="false" rot="0">
              <a:off x="0" y="0"/>
              <a:ext cx="5486400" cy="2743200"/>
            </a:xfrm>
            <a:custGeom>
              <a:avLst/>
              <a:gdLst/>
              <a:ahLst/>
              <a:cxnLst/>
              <a:rect r="r" b="b" t="t" l="l"/>
              <a:pathLst>
                <a:path h="2743200" w="5486400">
                  <a:moveTo>
                    <a:pt x="0" y="0"/>
                  </a:moveTo>
                  <a:lnTo>
                    <a:pt x="5486400" y="0"/>
                  </a:lnTo>
                  <a:lnTo>
                    <a:pt x="5486400" y="2743200"/>
                  </a:lnTo>
                  <a:lnTo>
                    <a:pt x="0" y="2743200"/>
                  </a:lnTo>
                  <a:close/>
                </a:path>
              </a:pathLst>
            </a:custGeom>
            <a:blipFill>
              <a:blip r:embed="rId3">
                <a:alphaModFix amt="0"/>
              </a:blip>
              <a:stretch>
                <a:fillRect l="-14151" t="0" r="-14151" b="0"/>
              </a:stretch>
            </a:blipFill>
          </p:spPr>
        </p:sp>
        <p:sp>
          <p:nvSpPr>
            <p:cNvPr name="TextBox 19" id="19"/>
            <p:cNvSpPr txBox="true"/>
            <p:nvPr/>
          </p:nvSpPr>
          <p:spPr>
            <a:xfrm>
              <a:off x="0" y="0"/>
              <a:ext cx="5486400" cy="2743200"/>
            </a:xfrm>
            <a:prstGeom prst="rect">
              <a:avLst/>
            </a:prstGeom>
          </p:spPr>
          <p:txBody>
            <a:bodyPr anchor="ctr" rtlCol="false" tIns="0" lIns="0" bIns="0" rIns="0"/>
            <a:lstStyle/>
            <a:p>
              <a:pPr algn="l">
                <a:lnSpc>
                  <a:spcPts val="17280"/>
                </a:lnSpc>
              </a:pPr>
              <a:r>
                <a:rPr lang="en-US" sz="14400" b="true">
                  <a:solidFill>
                    <a:srgbClr val="3B73EE"/>
                  </a:solidFill>
                  <a:latin typeface="Noto Sans Bold"/>
                  <a:ea typeface="Noto Sans Bold"/>
                  <a:cs typeface="Noto Sans Bold"/>
                  <a:sym typeface="Noto Sans Bold"/>
                </a:rPr>
                <a:t>06</a:t>
              </a:r>
            </a:p>
          </p:txBody>
        </p:sp>
      </p:grpSp>
      <p:sp>
        <p:nvSpPr>
          <p:cNvPr name="TextBox 20" id="20"/>
          <p:cNvSpPr txBox="true"/>
          <p:nvPr/>
        </p:nvSpPr>
        <p:spPr>
          <a:xfrm rot="0">
            <a:off x="1371600" y="5417820"/>
            <a:ext cx="15544343" cy="1234440"/>
          </a:xfrm>
          <a:prstGeom prst="rect">
            <a:avLst/>
          </a:prstGeom>
        </p:spPr>
        <p:txBody>
          <a:bodyPr anchor="t" rtlCol="false" tIns="0" lIns="0" bIns="0" rIns="0">
            <a:spAutoFit/>
          </a:bodyPr>
          <a:lstStyle/>
          <a:p>
            <a:pPr algn="l">
              <a:lnSpc>
                <a:spcPts val="7920"/>
              </a:lnSpc>
            </a:pPr>
            <a:r>
              <a:rPr lang="en-US" sz="6600" b="true">
                <a:solidFill>
                  <a:srgbClr val="FFFFFF"/>
                </a:solidFill>
                <a:latin typeface="Noto Sans Bold"/>
                <a:ea typeface="Noto Sans Bold"/>
                <a:cs typeface="Noto Sans Bold"/>
                <a:sym typeface="Noto Sans Bold"/>
              </a:rPr>
              <a:t>의의 · 향후 계획</a:t>
            </a:r>
          </a:p>
        </p:txBody>
      </p:sp>
      <p:sp>
        <p:nvSpPr>
          <p:cNvPr name="TextBox 21" id="21"/>
          <p:cNvSpPr txBox="true"/>
          <p:nvPr/>
        </p:nvSpPr>
        <p:spPr>
          <a:xfrm rot="0">
            <a:off x="1371600" y="6830568"/>
            <a:ext cx="15544343" cy="548640"/>
          </a:xfrm>
          <a:prstGeom prst="rect">
            <a:avLst/>
          </a:prstGeom>
        </p:spPr>
        <p:txBody>
          <a:bodyPr anchor="t" rtlCol="false" tIns="0" lIns="0" bIns="0" rIns="0">
            <a:spAutoFit/>
          </a:bodyPr>
          <a:lstStyle/>
          <a:p>
            <a:pPr algn="l">
              <a:lnSpc>
                <a:spcPts val="2520"/>
              </a:lnSpc>
            </a:pPr>
            <a:r>
              <a:rPr lang="en-US" sz="2100">
                <a:solidFill>
                  <a:srgbClr val="A6ADBD"/>
                </a:solidFill>
                <a:latin typeface="Noto Sans"/>
                <a:ea typeface="Noto Sans"/>
                <a:cs typeface="Noto Sans"/>
                <a:sym typeface="Noto Sans"/>
              </a:rPr>
              <a:t>평가가 아닌, 개선을 위한 서비스</a:t>
            </a:r>
          </a:p>
        </p:txBody>
      </p:sp>
    </p:spTree>
  </p:cSld>
  <p:clrMapOvr>
    <a:masterClrMapping/>
  </p:clrMapOvr>
  <p:transition spd="fast">
    <p:fade/>
  </p:transition>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45</a:t>
              </a:r>
            </a:p>
          </p:txBody>
        </p:sp>
      </p:grpSp>
      <p:grpSp>
        <p:nvGrpSpPr>
          <p:cNvPr name="Group 17" id="17"/>
          <p:cNvGrpSpPr/>
          <p:nvPr/>
        </p:nvGrpSpPr>
        <p:grpSpPr>
          <a:xfrm rot="0">
            <a:off x="1362075" y="6554905"/>
            <a:ext cx="2129714" cy="57455"/>
            <a:chOff x="0" y="0"/>
            <a:chExt cx="2839618" cy="76606"/>
          </a:xfrm>
        </p:grpSpPr>
        <p:sp>
          <p:nvSpPr>
            <p:cNvPr name="Freeform 18" id="18"/>
            <p:cNvSpPr/>
            <p:nvPr/>
          </p:nvSpPr>
          <p:spPr>
            <a:xfrm flipH="false" flipV="false" rot="0">
              <a:off x="0" y="0"/>
              <a:ext cx="2839593" cy="76581"/>
            </a:xfrm>
            <a:custGeom>
              <a:avLst/>
              <a:gdLst/>
              <a:ahLst/>
              <a:cxnLst/>
              <a:rect r="r" b="b" t="t" l="l"/>
              <a:pathLst>
                <a:path h="76581" w="2839593">
                  <a:moveTo>
                    <a:pt x="0" y="0"/>
                  </a:moveTo>
                  <a:lnTo>
                    <a:pt x="2839593" y="0"/>
                  </a:lnTo>
                  <a:lnTo>
                    <a:pt x="2839593" y="76581"/>
                  </a:lnTo>
                  <a:lnTo>
                    <a:pt x="0" y="76581"/>
                  </a:lnTo>
                  <a:close/>
                </a:path>
              </a:pathLst>
            </a:custGeom>
            <a:solidFill>
              <a:srgbClr val="3B73EE"/>
            </a:solidFill>
            <a:ln w="19050" cap="sq">
              <a:solidFill>
                <a:srgbClr val="3B73EE"/>
              </a:solidFill>
              <a:prstDash val="solid"/>
              <a:miter/>
            </a:ln>
          </p:spPr>
        </p:sp>
      </p:grpSp>
      <p:grpSp>
        <p:nvGrpSpPr>
          <p:cNvPr name="Group 19" id="19"/>
          <p:cNvGrpSpPr/>
          <p:nvPr/>
        </p:nvGrpSpPr>
        <p:grpSpPr>
          <a:xfrm rot="0">
            <a:off x="4048811" y="6554905"/>
            <a:ext cx="2129714" cy="57455"/>
            <a:chOff x="0" y="0"/>
            <a:chExt cx="2839618" cy="76606"/>
          </a:xfrm>
        </p:grpSpPr>
        <p:sp>
          <p:nvSpPr>
            <p:cNvPr name="Freeform 20" id="20"/>
            <p:cNvSpPr/>
            <p:nvPr/>
          </p:nvSpPr>
          <p:spPr>
            <a:xfrm flipH="false" flipV="false" rot="0">
              <a:off x="0" y="0"/>
              <a:ext cx="2839593" cy="76581"/>
            </a:xfrm>
            <a:custGeom>
              <a:avLst/>
              <a:gdLst/>
              <a:ahLst/>
              <a:cxnLst/>
              <a:rect r="r" b="b" t="t" l="l"/>
              <a:pathLst>
                <a:path h="76581" w="2839593">
                  <a:moveTo>
                    <a:pt x="0" y="0"/>
                  </a:moveTo>
                  <a:lnTo>
                    <a:pt x="2839593" y="0"/>
                  </a:lnTo>
                  <a:lnTo>
                    <a:pt x="2839593" y="76581"/>
                  </a:lnTo>
                  <a:lnTo>
                    <a:pt x="0" y="76581"/>
                  </a:lnTo>
                  <a:close/>
                </a:path>
              </a:pathLst>
            </a:custGeom>
            <a:solidFill>
              <a:srgbClr val="3B73EE"/>
            </a:solidFill>
            <a:ln w="19050" cap="sq">
              <a:solidFill>
                <a:srgbClr val="3B73EE"/>
              </a:solidFill>
              <a:prstDash val="solid"/>
              <a:miter/>
            </a:ln>
          </p:spPr>
        </p:sp>
      </p:grpSp>
      <p:grpSp>
        <p:nvGrpSpPr>
          <p:cNvPr name="Group 21" id="21"/>
          <p:cNvGrpSpPr/>
          <p:nvPr/>
        </p:nvGrpSpPr>
        <p:grpSpPr>
          <a:xfrm rot="0">
            <a:off x="6735547" y="6554905"/>
            <a:ext cx="2129714" cy="57455"/>
            <a:chOff x="0" y="0"/>
            <a:chExt cx="2839618" cy="76606"/>
          </a:xfrm>
        </p:grpSpPr>
        <p:sp>
          <p:nvSpPr>
            <p:cNvPr name="Freeform 22" id="22"/>
            <p:cNvSpPr/>
            <p:nvPr/>
          </p:nvSpPr>
          <p:spPr>
            <a:xfrm flipH="false" flipV="false" rot="0">
              <a:off x="0" y="0"/>
              <a:ext cx="2839593" cy="76581"/>
            </a:xfrm>
            <a:custGeom>
              <a:avLst/>
              <a:gdLst/>
              <a:ahLst/>
              <a:cxnLst/>
              <a:rect r="r" b="b" t="t" l="l"/>
              <a:pathLst>
                <a:path h="76581" w="2839593">
                  <a:moveTo>
                    <a:pt x="0" y="0"/>
                  </a:moveTo>
                  <a:lnTo>
                    <a:pt x="2839593" y="0"/>
                  </a:lnTo>
                  <a:lnTo>
                    <a:pt x="2839593" y="76581"/>
                  </a:lnTo>
                  <a:lnTo>
                    <a:pt x="0" y="76581"/>
                  </a:lnTo>
                  <a:close/>
                </a:path>
              </a:pathLst>
            </a:custGeom>
            <a:solidFill>
              <a:srgbClr val="3B73EE"/>
            </a:solidFill>
            <a:ln w="19050" cap="sq">
              <a:solidFill>
                <a:srgbClr val="3B73EE"/>
              </a:solidFill>
              <a:prstDash val="solid"/>
              <a:miter/>
            </a:ln>
          </p:spPr>
        </p:sp>
      </p:grpSp>
      <p:grpSp>
        <p:nvGrpSpPr>
          <p:cNvPr name="Group 23" id="23"/>
          <p:cNvGrpSpPr/>
          <p:nvPr/>
        </p:nvGrpSpPr>
        <p:grpSpPr>
          <a:xfrm rot="0">
            <a:off x="9422282" y="6554905"/>
            <a:ext cx="2129714" cy="57455"/>
            <a:chOff x="0" y="0"/>
            <a:chExt cx="2839618" cy="76606"/>
          </a:xfrm>
        </p:grpSpPr>
        <p:sp>
          <p:nvSpPr>
            <p:cNvPr name="Freeform 24" id="24"/>
            <p:cNvSpPr/>
            <p:nvPr/>
          </p:nvSpPr>
          <p:spPr>
            <a:xfrm flipH="false" flipV="false" rot="0">
              <a:off x="0" y="0"/>
              <a:ext cx="2839593" cy="76581"/>
            </a:xfrm>
            <a:custGeom>
              <a:avLst/>
              <a:gdLst/>
              <a:ahLst/>
              <a:cxnLst/>
              <a:rect r="r" b="b" t="t" l="l"/>
              <a:pathLst>
                <a:path h="76581" w="2839593">
                  <a:moveTo>
                    <a:pt x="0" y="0"/>
                  </a:moveTo>
                  <a:lnTo>
                    <a:pt x="2839593" y="0"/>
                  </a:lnTo>
                  <a:lnTo>
                    <a:pt x="2839593" y="76581"/>
                  </a:lnTo>
                  <a:lnTo>
                    <a:pt x="0" y="76581"/>
                  </a:lnTo>
                  <a:close/>
                </a:path>
              </a:pathLst>
            </a:custGeom>
            <a:solidFill>
              <a:srgbClr val="3B73EE"/>
            </a:solidFill>
            <a:ln w="19050" cap="sq">
              <a:solidFill>
                <a:srgbClr val="3B73EE"/>
              </a:solidFill>
              <a:prstDash val="solid"/>
              <a:miter/>
            </a:ln>
          </p:spPr>
        </p:sp>
      </p:grpSp>
      <p:grpSp>
        <p:nvGrpSpPr>
          <p:cNvPr name="Group 25" id="25"/>
          <p:cNvGrpSpPr/>
          <p:nvPr/>
        </p:nvGrpSpPr>
        <p:grpSpPr>
          <a:xfrm rot="0">
            <a:off x="12109018" y="6554905"/>
            <a:ext cx="2129714" cy="57455"/>
            <a:chOff x="0" y="0"/>
            <a:chExt cx="2839618" cy="76606"/>
          </a:xfrm>
        </p:grpSpPr>
        <p:sp>
          <p:nvSpPr>
            <p:cNvPr name="Freeform 26" id="26"/>
            <p:cNvSpPr/>
            <p:nvPr/>
          </p:nvSpPr>
          <p:spPr>
            <a:xfrm flipH="false" flipV="false" rot="0">
              <a:off x="0" y="0"/>
              <a:ext cx="2839593" cy="76581"/>
            </a:xfrm>
            <a:custGeom>
              <a:avLst/>
              <a:gdLst/>
              <a:ahLst/>
              <a:cxnLst/>
              <a:rect r="r" b="b" t="t" l="l"/>
              <a:pathLst>
                <a:path h="76581" w="2839593">
                  <a:moveTo>
                    <a:pt x="0" y="0"/>
                  </a:moveTo>
                  <a:lnTo>
                    <a:pt x="2839593" y="0"/>
                  </a:lnTo>
                  <a:lnTo>
                    <a:pt x="2839593" y="76581"/>
                  </a:lnTo>
                  <a:lnTo>
                    <a:pt x="0" y="76581"/>
                  </a:lnTo>
                  <a:close/>
                </a:path>
              </a:pathLst>
            </a:custGeom>
            <a:solidFill>
              <a:srgbClr val="3B73EE"/>
            </a:solidFill>
            <a:ln w="19050" cap="sq">
              <a:solidFill>
                <a:srgbClr val="3B73EE"/>
              </a:solidFill>
              <a:prstDash val="solid"/>
              <a:miter/>
            </a:ln>
          </p:spPr>
        </p:sp>
      </p:grpSp>
      <p:grpSp>
        <p:nvGrpSpPr>
          <p:cNvPr name="Group 27" id="27"/>
          <p:cNvGrpSpPr/>
          <p:nvPr/>
        </p:nvGrpSpPr>
        <p:grpSpPr>
          <a:xfrm rot="0">
            <a:off x="14795754" y="6554905"/>
            <a:ext cx="2129714" cy="57455"/>
            <a:chOff x="0" y="0"/>
            <a:chExt cx="2839618" cy="76606"/>
          </a:xfrm>
        </p:grpSpPr>
        <p:sp>
          <p:nvSpPr>
            <p:cNvPr name="Freeform 28" id="28"/>
            <p:cNvSpPr/>
            <p:nvPr/>
          </p:nvSpPr>
          <p:spPr>
            <a:xfrm flipH="false" flipV="false" rot="0">
              <a:off x="0" y="0"/>
              <a:ext cx="2839593" cy="76581"/>
            </a:xfrm>
            <a:custGeom>
              <a:avLst/>
              <a:gdLst/>
              <a:ahLst/>
              <a:cxnLst/>
              <a:rect r="r" b="b" t="t" l="l"/>
              <a:pathLst>
                <a:path h="76581" w="2839593">
                  <a:moveTo>
                    <a:pt x="0" y="0"/>
                  </a:moveTo>
                  <a:lnTo>
                    <a:pt x="2839593" y="0"/>
                  </a:lnTo>
                  <a:lnTo>
                    <a:pt x="2839593" y="76581"/>
                  </a:lnTo>
                  <a:lnTo>
                    <a:pt x="0" y="76581"/>
                  </a:lnTo>
                  <a:close/>
                </a:path>
              </a:pathLst>
            </a:custGeom>
            <a:solidFill>
              <a:srgbClr val="3B73EE"/>
            </a:solidFill>
            <a:ln w="19050" cap="sq">
              <a:solidFill>
                <a:srgbClr val="3B73EE"/>
              </a:solidFill>
              <a:prstDash val="solid"/>
              <a:miter/>
            </a:ln>
          </p:spPr>
        </p:sp>
      </p:grpSp>
      <p:grpSp>
        <p:nvGrpSpPr>
          <p:cNvPr name="Group 29" id="29"/>
          <p:cNvGrpSpPr/>
          <p:nvPr/>
        </p:nvGrpSpPr>
        <p:grpSpPr>
          <a:xfrm rot="0">
            <a:off x="1363485" y="3688356"/>
            <a:ext cx="2118779" cy="2118779"/>
            <a:chOff x="0" y="0"/>
            <a:chExt cx="2825039" cy="2825039"/>
          </a:xfrm>
        </p:grpSpPr>
        <p:sp>
          <p:nvSpPr>
            <p:cNvPr name="Freeform 30" id="30"/>
            <p:cNvSpPr/>
            <p:nvPr/>
          </p:nvSpPr>
          <p:spPr>
            <a:xfrm flipH="false" flipV="false" rot="0">
              <a:off x="0" y="0"/>
              <a:ext cx="2824988" cy="2824988"/>
            </a:xfrm>
            <a:custGeom>
              <a:avLst/>
              <a:gdLst/>
              <a:ahLst/>
              <a:cxnLst/>
              <a:rect r="r" b="b" t="t" l="l"/>
              <a:pathLst>
                <a:path h="2824988" w="2824988">
                  <a:moveTo>
                    <a:pt x="0" y="1412494"/>
                  </a:moveTo>
                  <a:cubicBezTo>
                    <a:pt x="0" y="632460"/>
                    <a:pt x="632460" y="0"/>
                    <a:pt x="1412494" y="0"/>
                  </a:cubicBezTo>
                  <a:cubicBezTo>
                    <a:pt x="2192528" y="0"/>
                    <a:pt x="2824988" y="632460"/>
                    <a:pt x="2824988" y="1412494"/>
                  </a:cubicBezTo>
                  <a:cubicBezTo>
                    <a:pt x="2824988" y="2192528"/>
                    <a:pt x="2192528" y="2824988"/>
                    <a:pt x="1412494" y="2824988"/>
                  </a:cubicBezTo>
                  <a:cubicBezTo>
                    <a:pt x="632460" y="2824988"/>
                    <a:pt x="0" y="2192655"/>
                    <a:pt x="0" y="1412494"/>
                  </a:cubicBezTo>
                  <a:close/>
                </a:path>
              </a:pathLst>
            </a:custGeom>
            <a:blipFill>
              <a:blip r:embed="rId4"/>
              <a:stretch>
                <a:fillRect l="0" t="0" r="0" b="0"/>
              </a:stretch>
            </a:blipFill>
          </p:spPr>
        </p:sp>
      </p:grpSp>
      <p:grpSp>
        <p:nvGrpSpPr>
          <p:cNvPr name="Group 31" id="31"/>
          <p:cNvGrpSpPr/>
          <p:nvPr/>
        </p:nvGrpSpPr>
        <p:grpSpPr>
          <a:xfrm rot="0">
            <a:off x="4051840" y="3688356"/>
            <a:ext cx="2118779" cy="2118779"/>
            <a:chOff x="0" y="0"/>
            <a:chExt cx="2825039" cy="2825039"/>
          </a:xfrm>
        </p:grpSpPr>
        <p:sp>
          <p:nvSpPr>
            <p:cNvPr name="Freeform 32" id="32"/>
            <p:cNvSpPr/>
            <p:nvPr/>
          </p:nvSpPr>
          <p:spPr>
            <a:xfrm flipH="false" flipV="false" rot="0">
              <a:off x="0" y="0"/>
              <a:ext cx="2824988" cy="2824988"/>
            </a:xfrm>
            <a:custGeom>
              <a:avLst/>
              <a:gdLst/>
              <a:ahLst/>
              <a:cxnLst/>
              <a:rect r="r" b="b" t="t" l="l"/>
              <a:pathLst>
                <a:path h="2824988" w="2824988">
                  <a:moveTo>
                    <a:pt x="0" y="1412494"/>
                  </a:moveTo>
                  <a:cubicBezTo>
                    <a:pt x="0" y="632460"/>
                    <a:pt x="632460" y="0"/>
                    <a:pt x="1412494" y="0"/>
                  </a:cubicBezTo>
                  <a:cubicBezTo>
                    <a:pt x="2192528" y="0"/>
                    <a:pt x="2824988" y="632460"/>
                    <a:pt x="2824988" y="1412494"/>
                  </a:cubicBezTo>
                  <a:cubicBezTo>
                    <a:pt x="2824988" y="2192528"/>
                    <a:pt x="2192528" y="2824988"/>
                    <a:pt x="1412494" y="2824988"/>
                  </a:cubicBezTo>
                  <a:cubicBezTo>
                    <a:pt x="632460" y="2824988"/>
                    <a:pt x="0" y="2192655"/>
                    <a:pt x="0" y="1412494"/>
                  </a:cubicBezTo>
                  <a:close/>
                </a:path>
              </a:pathLst>
            </a:custGeom>
            <a:blipFill>
              <a:blip r:embed="rId5"/>
              <a:stretch>
                <a:fillRect l="0" t="-16562" r="0" b="-16562"/>
              </a:stretch>
            </a:blipFill>
          </p:spPr>
        </p:sp>
      </p:grpSp>
      <p:grpSp>
        <p:nvGrpSpPr>
          <p:cNvPr name="Group 33" id="33"/>
          <p:cNvGrpSpPr/>
          <p:nvPr/>
        </p:nvGrpSpPr>
        <p:grpSpPr>
          <a:xfrm rot="0">
            <a:off x="6740204" y="3688356"/>
            <a:ext cx="2118779" cy="2118779"/>
            <a:chOff x="0" y="0"/>
            <a:chExt cx="2825039" cy="2825039"/>
          </a:xfrm>
        </p:grpSpPr>
        <p:sp>
          <p:nvSpPr>
            <p:cNvPr name="Freeform 34" id="34"/>
            <p:cNvSpPr/>
            <p:nvPr/>
          </p:nvSpPr>
          <p:spPr>
            <a:xfrm flipH="false" flipV="false" rot="0">
              <a:off x="0" y="0"/>
              <a:ext cx="2824988" cy="2824988"/>
            </a:xfrm>
            <a:custGeom>
              <a:avLst/>
              <a:gdLst/>
              <a:ahLst/>
              <a:cxnLst/>
              <a:rect r="r" b="b" t="t" l="l"/>
              <a:pathLst>
                <a:path h="2824988" w="2824988">
                  <a:moveTo>
                    <a:pt x="0" y="1412494"/>
                  </a:moveTo>
                  <a:cubicBezTo>
                    <a:pt x="0" y="632460"/>
                    <a:pt x="632460" y="0"/>
                    <a:pt x="1412494" y="0"/>
                  </a:cubicBezTo>
                  <a:cubicBezTo>
                    <a:pt x="2192528" y="0"/>
                    <a:pt x="2824988" y="632460"/>
                    <a:pt x="2824988" y="1412494"/>
                  </a:cubicBezTo>
                  <a:cubicBezTo>
                    <a:pt x="2824988" y="2192528"/>
                    <a:pt x="2192528" y="2824988"/>
                    <a:pt x="1412494" y="2824988"/>
                  </a:cubicBezTo>
                  <a:cubicBezTo>
                    <a:pt x="632460" y="2824988"/>
                    <a:pt x="0" y="2192655"/>
                    <a:pt x="0" y="1412494"/>
                  </a:cubicBezTo>
                  <a:close/>
                </a:path>
              </a:pathLst>
            </a:custGeom>
            <a:blipFill>
              <a:blip r:embed="rId6"/>
              <a:stretch>
                <a:fillRect l="0" t="-16562" r="0" b="-16562"/>
              </a:stretch>
            </a:blipFill>
          </p:spPr>
        </p:sp>
      </p:grpSp>
      <p:grpSp>
        <p:nvGrpSpPr>
          <p:cNvPr name="Group 35" id="35"/>
          <p:cNvGrpSpPr/>
          <p:nvPr/>
        </p:nvGrpSpPr>
        <p:grpSpPr>
          <a:xfrm rot="0">
            <a:off x="9428559" y="3688356"/>
            <a:ext cx="2118779" cy="2118779"/>
            <a:chOff x="0" y="0"/>
            <a:chExt cx="2825039" cy="2825039"/>
          </a:xfrm>
        </p:grpSpPr>
        <p:sp>
          <p:nvSpPr>
            <p:cNvPr name="Freeform 36" id="36"/>
            <p:cNvSpPr/>
            <p:nvPr/>
          </p:nvSpPr>
          <p:spPr>
            <a:xfrm flipH="false" flipV="false" rot="0">
              <a:off x="0" y="0"/>
              <a:ext cx="2824988" cy="2824988"/>
            </a:xfrm>
            <a:custGeom>
              <a:avLst/>
              <a:gdLst/>
              <a:ahLst/>
              <a:cxnLst/>
              <a:rect r="r" b="b" t="t" l="l"/>
              <a:pathLst>
                <a:path h="2824988" w="2824988">
                  <a:moveTo>
                    <a:pt x="0" y="1412494"/>
                  </a:moveTo>
                  <a:cubicBezTo>
                    <a:pt x="0" y="632460"/>
                    <a:pt x="632460" y="0"/>
                    <a:pt x="1412494" y="0"/>
                  </a:cubicBezTo>
                  <a:cubicBezTo>
                    <a:pt x="2192528" y="0"/>
                    <a:pt x="2824988" y="632460"/>
                    <a:pt x="2824988" y="1412494"/>
                  </a:cubicBezTo>
                  <a:cubicBezTo>
                    <a:pt x="2824988" y="2192528"/>
                    <a:pt x="2192528" y="2824988"/>
                    <a:pt x="1412494" y="2824988"/>
                  </a:cubicBezTo>
                  <a:cubicBezTo>
                    <a:pt x="632460" y="2824988"/>
                    <a:pt x="0" y="2192655"/>
                    <a:pt x="0" y="1412494"/>
                  </a:cubicBezTo>
                  <a:close/>
                </a:path>
              </a:pathLst>
            </a:custGeom>
            <a:blipFill>
              <a:blip r:embed="rId7"/>
              <a:stretch>
                <a:fillRect l="0" t="-14218" r="0" b="-14218"/>
              </a:stretch>
            </a:blipFill>
          </p:spPr>
        </p:sp>
      </p:grpSp>
      <p:grpSp>
        <p:nvGrpSpPr>
          <p:cNvPr name="Group 37" id="37"/>
          <p:cNvGrpSpPr/>
          <p:nvPr/>
        </p:nvGrpSpPr>
        <p:grpSpPr>
          <a:xfrm rot="0">
            <a:off x="12116924" y="3688356"/>
            <a:ext cx="2118779" cy="2118779"/>
            <a:chOff x="0" y="0"/>
            <a:chExt cx="2825039" cy="2825039"/>
          </a:xfrm>
        </p:grpSpPr>
        <p:sp>
          <p:nvSpPr>
            <p:cNvPr name="Freeform 38" id="38"/>
            <p:cNvSpPr/>
            <p:nvPr/>
          </p:nvSpPr>
          <p:spPr>
            <a:xfrm flipH="false" flipV="false" rot="0">
              <a:off x="0" y="0"/>
              <a:ext cx="2824988" cy="2824988"/>
            </a:xfrm>
            <a:custGeom>
              <a:avLst/>
              <a:gdLst/>
              <a:ahLst/>
              <a:cxnLst/>
              <a:rect r="r" b="b" t="t" l="l"/>
              <a:pathLst>
                <a:path h="2824988" w="2824988">
                  <a:moveTo>
                    <a:pt x="0" y="1412494"/>
                  </a:moveTo>
                  <a:cubicBezTo>
                    <a:pt x="0" y="632460"/>
                    <a:pt x="632460" y="0"/>
                    <a:pt x="1412494" y="0"/>
                  </a:cubicBezTo>
                  <a:cubicBezTo>
                    <a:pt x="2192528" y="0"/>
                    <a:pt x="2824988" y="632460"/>
                    <a:pt x="2824988" y="1412494"/>
                  </a:cubicBezTo>
                  <a:cubicBezTo>
                    <a:pt x="2824988" y="2192528"/>
                    <a:pt x="2192528" y="2824988"/>
                    <a:pt x="1412494" y="2824988"/>
                  </a:cubicBezTo>
                  <a:cubicBezTo>
                    <a:pt x="632460" y="2824988"/>
                    <a:pt x="0" y="2192655"/>
                    <a:pt x="0" y="1412494"/>
                  </a:cubicBezTo>
                  <a:close/>
                </a:path>
              </a:pathLst>
            </a:custGeom>
            <a:blipFill>
              <a:blip r:embed="rId8"/>
              <a:stretch>
                <a:fillRect l="0" t="-16562" r="0" b="-16562"/>
              </a:stretch>
            </a:blipFill>
          </p:spPr>
        </p:sp>
      </p:grpSp>
      <p:grpSp>
        <p:nvGrpSpPr>
          <p:cNvPr name="Group 39" id="39"/>
          <p:cNvGrpSpPr/>
          <p:nvPr/>
        </p:nvGrpSpPr>
        <p:grpSpPr>
          <a:xfrm rot="0">
            <a:off x="14805279" y="3688356"/>
            <a:ext cx="2118779" cy="2118779"/>
            <a:chOff x="0" y="0"/>
            <a:chExt cx="2825039" cy="2825039"/>
          </a:xfrm>
        </p:grpSpPr>
        <p:sp>
          <p:nvSpPr>
            <p:cNvPr name="Freeform 40" id="40"/>
            <p:cNvSpPr/>
            <p:nvPr/>
          </p:nvSpPr>
          <p:spPr>
            <a:xfrm flipH="false" flipV="false" rot="0">
              <a:off x="0" y="0"/>
              <a:ext cx="2824988" cy="2824988"/>
            </a:xfrm>
            <a:custGeom>
              <a:avLst/>
              <a:gdLst/>
              <a:ahLst/>
              <a:cxnLst/>
              <a:rect r="r" b="b" t="t" l="l"/>
              <a:pathLst>
                <a:path h="2824988" w="2824988">
                  <a:moveTo>
                    <a:pt x="0" y="1412494"/>
                  </a:moveTo>
                  <a:cubicBezTo>
                    <a:pt x="0" y="632460"/>
                    <a:pt x="632460" y="0"/>
                    <a:pt x="1412494" y="0"/>
                  </a:cubicBezTo>
                  <a:cubicBezTo>
                    <a:pt x="2192528" y="0"/>
                    <a:pt x="2824988" y="632460"/>
                    <a:pt x="2824988" y="1412494"/>
                  </a:cubicBezTo>
                  <a:cubicBezTo>
                    <a:pt x="2824988" y="2192528"/>
                    <a:pt x="2192528" y="2824988"/>
                    <a:pt x="1412494" y="2824988"/>
                  </a:cubicBezTo>
                  <a:cubicBezTo>
                    <a:pt x="632460" y="2824988"/>
                    <a:pt x="0" y="2192655"/>
                    <a:pt x="0" y="1412494"/>
                  </a:cubicBezTo>
                  <a:close/>
                </a:path>
              </a:pathLst>
            </a:custGeom>
            <a:blipFill>
              <a:blip r:embed="rId9"/>
              <a:stretch>
                <a:fillRect l="0" t="-16562" r="0" b="-16562"/>
              </a:stretch>
            </a:blipFill>
          </p:spPr>
        </p:sp>
      </p:grpSp>
      <p:sp>
        <p:nvSpPr>
          <p:cNvPr name="TextBox 41" id="41"/>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팀 소개</a:t>
            </a:r>
          </a:p>
        </p:txBody>
      </p:sp>
      <p:sp>
        <p:nvSpPr>
          <p:cNvPr name="TextBox 42" id="42"/>
          <p:cNvSpPr txBox="true"/>
          <p:nvPr/>
        </p:nvSpPr>
        <p:spPr>
          <a:xfrm rot="0">
            <a:off x="1371600" y="1503045"/>
            <a:ext cx="15544343" cy="1308735"/>
          </a:xfrm>
          <a:prstGeom prst="rect">
            <a:avLst/>
          </a:prstGeom>
        </p:spPr>
        <p:txBody>
          <a:bodyPr anchor="t" rtlCol="false" tIns="0" lIns="0" bIns="0" rIns="0">
            <a:spAutoFit/>
          </a:bodyPr>
          <a:lstStyle/>
          <a:p>
            <a:pPr algn="l">
              <a:lnSpc>
                <a:spcPts val="8208"/>
              </a:lnSpc>
            </a:pPr>
            <a:r>
              <a:rPr lang="en-US" sz="5700" b="true">
                <a:solidFill>
                  <a:srgbClr val="11131B"/>
                </a:solidFill>
                <a:latin typeface="Noto Sans Bold"/>
                <a:ea typeface="Noto Sans Bold"/>
                <a:cs typeface="Noto Sans Bold"/>
                <a:sym typeface="Noto Sans Bold"/>
              </a:rPr>
              <a:t>백구 (B109)</a:t>
            </a:r>
          </a:p>
        </p:txBody>
      </p:sp>
      <p:sp>
        <p:nvSpPr>
          <p:cNvPr name="TextBox 43" id="43"/>
          <p:cNvSpPr txBox="true"/>
          <p:nvPr/>
        </p:nvSpPr>
        <p:spPr>
          <a:xfrm rot="0">
            <a:off x="1371600" y="6893614"/>
            <a:ext cx="2172386" cy="476250"/>
          </a:xfrm>
          <a:prstGeom prst="rect">
            <a:avLst/>
          </a:prstGeom>
        </p:spPr>
        <p:txBody>
          <a:bodyPr anchor="t" rtlCol="false" tIns="0" lIns="0" bIns="0" rIns="0">
            <a:spAutoFit/>
          </a:bodyPr>
          <a:lstStyle/>
          <a:p>
            <a:pPr algn="l">
              <a:lnSpc>
                <a:spcPts val="3779"/>
              </a:lnSpc>
            </a:pPr>
            <a:r>
              <a:rPr lang="en-US" sz="3150" b="true">
                <a:solidFill>
                  <a:srgbClr val="11131B"/>
                </a:solidFill>
                <a:latin typeface="Noto Sans Bold"/>
                <a:ea typeface="Noto Sans Bold"/>
                <a:cs typeface="Noto Sans Bold"/>
                <a:sym typeface="Noto Sans Bold"/>
              </a:rPr>
              <a:t>채승규(팀장)</a:t>
            </a:r>
          </a:p>
        </p:txBody>
      </p:sp>
      <p:sp>
        <p:nvSpPr>
          <p:cNvPr name="TextBox 44" id="44"/>
          <p:cNvSpPr txBox="true"/>
          <p:nvPr/>
        </p:nvSpPr>
        <p:spPr>
          <a:xfrm rot="0">
            <a:off x="4058336" y="6893614"/>
            <a:ext cx="2110664" cy="685800"/>
          </a:xfrm>
          <a:prstGeom prst="rect">
            <a:avLst/>
          </a:prstGeom>
        </p:spPr>
        <p:txBody>
          <a:bodyPr anchor="t" rtlCol="false" tIns="0" lIns="0" bIns="0" rIns="0">
            <a:spAutoFit/>
          </a:bodyPr>
          <a:lstStyle/>
          <a:p>
            <a:pPr algn="l">
              <a:lnSpc>
                <a:spcPts val="3779"/>
              </a:lnSpc>
            </a:pPr>
            <a:r>
              <a:rPr lang="en-US" sz="3150" b="true">
                <a:solidFill>
                  <a:srgbClr val="11131B"/>
                </a:solidFill>
                <a:latin typeface="Noto Sans Bold"/>
                <a:ea typeface="Noto Sans Bold"/>
                <a:cs typeface="Noto Sans Bold"/>
                <a:sym typeface="Noto Sans Bold"/>
              </a:rPr>
              <a:t>박민규</a:t>
            </a:r>
          </a:p>
        </p:txBody>
      </p:sp>
      <p:sp>
        <p:nvSpPr>
          <p:cNvPr name="TextBox 45" id="45"/>
          <p:cNvSpPr txBox="true"/>
          <p:nvPr/>
        </p:nvSpPr>
        <p:spPr>
          <a:xfrm rot="0">
            <a:off x="6745072" y="6893614"/>
            <a:ext cx="2110664" cy="685800"/>
          </a:xfrm>
          <a:prstGeom prst="rect">
            <a:avLst/>
          </a:prstGeom>
        </p:spPr>
        <p:txBody>
          <a:bodyPr anchor="t" rtlCol="false" tIns="0" lIns="0" bIns="0" rIns="0">
            <a:spAutoFit/>
          </a:bodyPr>
          <a:lstStyle/>
          <a:p>
            <a:pPr algn="l">
              <a:lnSpc>
                <a:spcPts val="3779"/>
              </a:lnSpc>
            </a:pPr>
            <a:r>
              <a:rPr lang="en-US" sz="3150" b="true">
                <a:solidFill>
                  <a:srgbClr val="11131B"/>
                </a:solidFill>
                <a:latin typeface="Noto Sans Bold"/>
                <a:ea typeface="Noto Sans Bold"/>
                <a:cs typeface="Noto Sans Bold"/>
                <a:sym typeface="Noto Sans Bold"/>
              </a:rPr>
              <a:t>서가은</a:t>
            </a:r>
          </a:p>
        </p:txBody>
      </p:sp>
      <p:sp>
        <p:nvSpPr>
          <p:cNvPr name="TextBox 46" id="46"/>
          <p:cNvSpPr txBox="true"/>
          <p:nvPr/>
        </p:nvSpPr>
        <p:spPr>
          <a:xfrm rot="0">
            <a:off x="9431807" y="6893614"/>
            <a:ext cx="2110664" cy="685800"/>
          </a:xfrm>
          <a:prstGeom prst="rect">
            <a:avLst/>
          </a:prstGeom>
        </p:spPr>
        <p:txBody>
          <a:bodyPr anchor="t" rtlCol="false" tIns="0" lIns="0" bIns="0" rIns="0">
            <a:spAutoFit/>
          </a:bodyPr>
          <a:lstStyle/>
          <a:p>
            <a:pPr algn="l">
              <a:lnSpc>
                <a:spcPts val="3779"/>
              </a:lnSpc>
            </a:pPr>
            <a:r>
              <a:rPr lang="en-US" sz="3150" b="true">
                <a:solidFill>
                  <a:srgbClr val="11131B"/>
                </a:solidFill>
                <a:latin typeface="Noto Sans Bold"/>
                <a:ea typeface="Noto Sans Bold"/>
                <a:cs typeface="Noto Sans Bold"/>
                <a:sym typeface="Noto Sans Bold"/>
              </a:rPr>
              <a:t>윤성빈	</a:t>
            </a:r>
          </a:p>
        </p:txBody>
      </p:sp>
      <p:sp>
        <p:nvSpPr>
          <p:cNvPr name="TextBox 47" id="47"/>
          <p:cNvSpPr txBox="true"/>
          <p:nvPr/>
        </p:nvSpPr>
        <p:spPr>
          <a:xfrm rot="0">
            <a:off x="12118543" y="6893614"/>
            <a:ext cx="2110664" cy="685800"/>
          </a:xfrm>
          <a:prstGeom prst="rect">
            <a:avLst/>
          </a:prstGeom>
        </p:spPr>
        <p:txBody>
          <a:bodyPr anchor="t" rtlCol="false" tIns="0" lIns="0" bIns="0" rIns="0">
            <a:spAutoFit/>
          </a:bodyPr>
          <a:lstStyle/>
          <a:p>
            <a:pPr algn="l">
              <a:lnSpc>
                <a:spcPts val="3779"/>
              </a:lnSpc>
            </a:pPr>
            <a:r>
              <a:rPr lang="en-US" sz="3150" b="true">
                <a:solidFill>
                  <a:srgbClr val="11131B"/>
                </a:solidFill>
                <a:latin typeface="Noto Sans Bold"/>
                <a:ea typeface="Noto Sans Bold"/>
                <a:cs typeface="Noto Sans Bold"/>
                <a:sym typeface="Noto Sans Bold"/>
              </a:rPr>
              <a:t>윤재용</a:t>
            </a:r>
          </a:p>
        </p:txBody>
      </p:sp>
      <p:sp>
        <p:nvSpPr>
          <p:cNvPr name="TextBox 48" id="48"/>
          <p:cNvSpPr txBox="true"/>
          <p:nvPr/>
        </p:nvSpPr>
        <p:spPr>
          <a:xfrm rot="0">
            <a:off x="14805279" y="6893614"/>
            <a:ext cx="2110664" cy="685800"/>
          </a:xfrm>
          <a:prstGeom prst="rect">
            <a:avLst/>
          </a:prstGeom>
        </p:spPr>
        <p:txBody>
          <a:bodyPr anchor="t" rtlCol="false" tIns="0" lIns="0" bIns="0" rIns="0">
            <a:spAutoFit/>
          </a:bodyPr>
          <a:lstStyle/>
          <a:p>
            <a:pPr algn="l">
              <a:lnSpc>
                <a:spcPts val="3779"/>
              </a:lnSpc>
            </a:pPr>
            <a:r>
              <a:rPr lang="en-US" sz="3150" b="true">
                <a:solidFill>
                  <a:srgbClr val="11131B"/>
                </a:solidFill>
                <a:latin typeface="Noto Sans Bold"/>
                <a:ea typeface="Noto Sans Bold"/>
                <a:cs typeface="Noto Sans Bold"/>
                <a:sym typeface="Noto Sans Bold"/>
              </a:rPr>
              <a:t>최현철</a:t>
            </a:r>
          </a:p>
        </p:txBody>
      </p:sp>
      <p:sp>
        <p:nvSpPr>
          <p:cNvPr name="TextBox 49" id="49"/>
          <p:cNvSpPr txBox="true"/>
          <p:nvPr/>
        </p:nvSpPr>
        <p:spPr>
          <a:xfrm rot="0">
            <a:off x="1374867" y="6027353"/>
            <a:ext cx="1610001" cy="400050"/>
          </a:xfrm>
          <a:prstGeom prst="rect">
            <a:avLst/>
          </a:prstGeom>
        </p:spPr>
        <p:txBody>
          <a:bodyPr anchor="t" rtlCol="false" tIns="0" lIns="0" bIns="0" rIns="0">
            <a:spAutoFit/>
          </a:bodyPr>
          <a:lstStyle/>
          <a:p>
            <a:pPr algn="l">
              <a:lnSpc>
                <a:spcPts val="2879"/>
              </a:lnSpc>
            </a:pPr>
            <a:r>
              <a:rPr lang="en-US" sz="2400">
                <a:solidFill>
                  <a:srgbClr val="000000"/>
                </a:solidFill>
                <a:latin typeface="Calibri (MS)"/>
                <a:ea typeface="Calibri (MS)"/>
                <a:cs typeface="Calibri (MS)"/>
                <a:sym typeface="Calibri (MS)"/>
              </a:rPr>
              <a:t>BE</a:t>
            </a:r>
          </a:p>
        </p:txBody>
      </p:sp>
      <p:sp>
        <p:nvSpPr>
          <p:cNvPr name="TextBox 50" id="50"/>
          <p:cNvSpPr txBox="true"/>
          <p:nvPr/>
        </p:nvSpPr>
        <p:spPr>
          <a:xfrm rot="0">
            <a:off x="4127859" y="6027353"/>
            <a:ext cx="1610001" cy="454495"/>
          </a:xfrm>
          <a:prstGeom prst="rect">
            <a:avLst/>
          </a:prstGeom>
        </p:spPr>
        <p:txBody>
          <a:bodyPr anchor="t" rtlCol="false" tIns="0" lIns="0" bIns="0" rIns="0">
            <a:spAutoFit/>
          </a:bodyPr>
          <a:lstStyle/>
          <a:p>
            <a:pPr algn="l">
              <a:lnSpc>
                <a:spcPts val="2879"/>
              </a:lnSpc>
            </a:pPr>
            <a:r>
              <a:rPr lang="en-US" sz="2400">
                <a:solidFill>
                  <a:srgbClr val="000000"/>
                </a:solidFill>
                <a:latin typeface="Calibri (MS)"/>
                <a:ea typeface="Calibri (MS)"/>
                <a:cs typeface="Calibri (MS)"/>
                <a:sym typeface="Calibri (MS)"/>
              </a:rPr>
              <a:t>AI</a:t>
            </a:r>
          </a:p>
        </p:txBody>
      </p:sp>
      <p:sp>
        <p:nvSpPr>
          <p:cNvPr name="TextBox 51" id="51"/>
          <p:cNvSpPr txBox="true"/>
          <p:nvPr/>
        </p:nvSpPr>
        <p:spPr>
          <a:xfrm rot="0">
            <a:off x="6836512" y="6027353"/>
            <a:ext cx="1610001" cy="454495"/>
          </a:xfrm>
          <a:prstGeom prst="rect">
            <a:avLst/>
          </a:prstGeom>
        </p:spPr>
        <p:txBody>
          <a:bodyPr anchor="t" rtlCol="false" tIns="0" lIns="0" bIns="0" rIns="0">
            <a:spAutoFit/>
          </a:bodyPr>
          <a:lstStyle/>
          <a:p>
            <a:pPr algn="l">
              <a:lnSpc>
                <a:spcPts val="2879"/>
              </a:lnSpc>
            </a:pPr>
            <a:r>
              <a:rPr lang="en-US" sz="2400">
                <a:solidFill>
                  <a:srgbClr val="000000"/>
                </a:solidFill>
                <a:latin typeface="Calibri (MS)"/>
                <a:ea typeface="Calibri (MS)"/>
                <a:cs typeface="Calibri (MS)"/>
                <a:sym typeface="Calibri (MS)"/>
              </a:rPr>
              <a:t>FE</a:t>
            </a:r>
          </a:p>
        </p:txBody>
      </p:sp>
      <p:sp>
        <p:nvSpPr>
          <p:cNvPr name="TextBox 52" id="52"/>
          <p:cNvSpPr txBox="true"/>
          <p:nvPr/>
        </p:nvSpPr>
        <p:spPr>
          <a:xfrm rot="0">
            <a:off x="9523247" y="6027353"/>
            <a:ext cx="1610001" cy="454495"/>
          </a:xfrm>
          <a:prstGeom prst="rect">
            <a:avLst/>
          </a:prstGeom>
        </p:spPr>
        <p:txBody>
          <a:bodyPr anchor="t" rtlCol="false" tIns="0" lIns="0" bIns="0" rIns="0">
            <a:spAutoFit/>
          </a:bodyPr>
          <a:lstStyle/>
          <a:p>
            <a:pPr algn="l">
              <a:lnSpc>
                <a:spcPts val="2879"/>
              </a:lnSpc>
            </a:pPr>
            <a:r>
              <a:rPr lang="en-US" sz="2400">
                <a:solidFill>
                  <a:srgbClr val="000000"/>
                </a:solidFill>
                <a:latin typeface="Calibri (MS)"/>
                <a:ea typeface="Calibri (MS)"/>
                <a:cs typeface="Calibri (MS)"/>
                <a:sym typeface="Calibri (MS)"/>
              </a:rPr>
              <a:t>BE</a:t>
            </a:r>
          </a:p>
        </p:txBody>
      </p:sp>
      <p:sp>
        <p:nvSpPr>
          <p:cNvPr name="TextBox 53" id="53"/>
          <p:cNvSpPr txBox="true"/>
          <p:nvPr/>
        </p:nvSpPr>
        <p:spPr>
          <a:xfrm rot="0">
            <a:off x="12209983" y="6027353"/>
            <a:ext cx="1610001" cy="454495"/>
          </a:xfrm>
          <a:prstGeom prst="rect">
            <a:avLst/>
          </a:prstGeom>
        </p:spPr>
        <p:txBody>
          <a:bodyPr anchor="t" rtlCol="false" tIns="0" lIns="0" bIns="0" rIns="0">
            <a:spAutoFit/>
          </a:bodyPr>
          <a:lstStyle/>
          <a:p>
            <a:pPr algn="l">
              <a:lnSpc>
                <a:spcPts val="2879"/>
              </a:lnSpc>
            </a:pPr>
            <a:r>
              <a:rPr lang="en-US" sz="2400">
                <a:solidFill>
                  <a:srgbClr val="000000"/>
                </a:solidFill>
                <a:latin typeface="Calibri (MS)"/>
                <a:ea typeface="Calibri (MS)"/>
                <a:cs typeface="Calibri (MS)"/>
                <a:sym typeface="Calibri (MS)"/>
              </a:rPr>
              <a:t>Infra/FE</a:t>
            </a:r>
          </a:p>
        </p:txBody>
      </p:sp>
      <p:sp>
        <p:nvSpPr>
          <p:cNvPr name="TextBox 54" id="54"/>
          <p:cNvSpPr txBox="true"/>
          <p:nvPr/>
        </p:nvSpPr>
        <p:spPr>
          <a:xfrm rot="0">
            <a:off x="14896719" y="6027353"/>
            <a:ext cx="1610001" cy="454495"/>
          </a:xfrm>
          <a:prstGeom prst="rect">
            <a:avLst/>
          </a:prstGeom>
        </p:spPr>
        <p:txBody>
          <a:bodyPr anchor="t" rtlCol="false" tIns="0" lIns="0" bIns="0" rIns="0">
            <a:spAutoFit/>
          </a:bodyPr>
          <a:lstStyle/>
          <a:p>
            <a:pPr algn="l">
              <a:lnSpc>
                <a:spcPts val="2879"/>
              </a:lnSpc>
            </a:pPr>
            <a:r>
              <a:rPr lang="en-US" sz="2400">
                <a:solidFill>
                  <a:srgbClr val="000000"/>
                </a:solidFill>
                <a:latin typeface="Calibri (MS)"/>
                <a:ea typeface="Calibri (MS)"/>
                <a:cs typeface="Calibri (MS)"/>
                <a:sym typeface="Calibri (MS)"/>
              </a:rPr>
              <a:t>BE</a:t>
            </a:r>
          </a:p>
        </p:txBody>
      </p:sp>
    </p:spTree>
  </p:cSld>
  <p:clrMapOvr>
    <a:masterClrMapping/>
  </p:clrMapOvr>
  <p:transition spd="fast">
    <p:fade/>
  </p:transition>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46</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서비스 의의</a:t>
            </a:r>
          </a:p>
        </p:txBody>
      </p:sp>
      <p:grpSp>
        <p:nvGrpSpPr>
          <p:cNvPr name="Group 18" id="18"/>
          <p:cNvGrpSpPr/>
          <p:nvPr/>
        </p:nvGrpSpPr>
        <p:grpSpPr>
          <a:xfrm rot="0">
            <a:off x="1371600" y="3017520"/>
            <a:ext cx="15544343" cy="3566160"/>
            <a:chOff x="0" y="0"/>
            <a:chExt cx="20725790" cy="4754880"/>
          </a:xfrm>
        </p:grpSpPr>
        <p:sp>
          <p:nvSpPr>
            <p:cNvPr name="Freeform 19" id="19"/>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20" id="20"/>
            <p:cNvSpPr txBox="true"/>
            <p:nvPr/>
          </p:nvSpPr>
          <p:spPr>
            <a:xfrm>
              <a:off x="0" y="-180975"/>
              <a:ext cx="20725790" cy="4935855"/>
            </a:xfrm>
            <a:prstGeom prst="rect">
              <a:avLst/>
            </a:prstGeom>
          </p:spPr>
          <p:txBody>
            <a:bodyPr anchor="ctr" rtlCol="false" tIns="0" lIns="0" bIns="0" rIns="0"/>
            <a:lstStyle/>
            <a:p>
              <a:pPr algn="l">
                <a:lnSpc>
                  <a:spcPts val="10800"/>
                </a:lnSpc>
              </a:pPr>
              <a:r>
                <a:rPr lang="en-US" sz="7500" b="true">
                  <a:solidFill>
                    <a:srgbClr val="11131B"/>
                  </a:solidFill>
                  <a:latin typeface="Noto Sans Bold"/>
                  <a:ea typeface="Noto Sans Bold"/>
                  <a:cs typeface="Noto Sans Bold"/>
                  <a:sym typeface="Noto Sans Bold"/>
                </a:rPr>
                <a:t>평가가 아닌,</a:t>
              </a:r>
            </a:p>
            <a:p>
              <a:pPr algn="l">
                <a:lnSpc>
                  <a:spcPts val="10800"/>
                </a:lnSpc>
              </a:pPr>
              <a:r>
                <a:rPr lang="en-US" sz="7500" b="true">
                  <a:solidFill>
                    <a:srgbClr val="11131B"/>
                  </a:solidFill>
                  <a:latin typeface="Noto Sans Bold"/>
                  <a:ea typeface="Noto Sans Bold"/>
                  <a:cs typeface="Noto Sans Bold"/>
                  <a:sym typeface="Noto Sans Bold"/>
                </a:rPr>
                <a:t>개선을 위한 서비스</a:t>
              </a:r>
            </a:p>
          </p:txBody>
        </p:sp>
      </p:grpSp>
    </p:spTree>
  </p:cSld>
  <p:clrMapOvr>
    <a:masterClrMapping/>
  </p:clrMapOvr>
  <p:transition spd="fast">
    <p:fade/>
  </p:transition>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7F9FE"/>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47</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향후 계획</a:t>
            </a:r>
          </a:p>
        </p:txBody>
      </p:sp>
      <p:grpSp>
        <p:nvGrpSpPr>
          <p:cNvPr name="Group 18" id="18"/>
          <p:cNvGrpSpPr/>
          <p:nvPr/>
        </p:nvGrpSpPr>
        <p:grpSpPr>
          <a:xfrm rot="0">
            <a:off x="1371600" y="2880360"/>
            <a:ext cx="15544343" cy="1371600"/>
            <a:chOff x="0" y="0"/>
            <a:chExt cx="20725790" cy="1828800"/>
          </a:xfrm>
        </p:grpSpPr>
        <p:sp>
          <p:nvSpPr>
            <p:cNvPr name="Freeform 19" id="19"/>
            <p:cNvSpPr/>
            <p:nvPr/>
          </p:nvSpPr>
          <p:spPr>
            <a:xfrm flipH="false" flipV="false" rot="0">
              <a:off x="0" y="0"/>
              <a:ext cx="20725791" cy="1828800"/>
            </a:xfrm>
            <a:custGeom>
              <a:avLst/>
              <a:gdLst/>
              <a:ahLst/>
              <a:cxnLst/>
              <a:rect r="r" b="b" t="t" l="l"/>
              <a:pathLst>
                <a:path h="1828800" w="20725791">
                  <a:moveTo>
                    <a:pt x="0" y="0"/>
                  </a:moveTo>
                  <a:lnTo>
                    <a:pt x="20725791" y="0"/>
                  </a:lnTo>
                  <a:lnTo>
                    <a:pt x="20725791" y="1828800"/>
                  </a:lnTo>
                  <a:lnTo>
                    <a:pt x="0" y="1828800"/>
                  </a:lnTo>
                  <a:close/>
                </a:path>
              </a:pathLst>
            </a:custGeom>
            <a:blipFill>
              <a:blip r:embed="rId3">
                <a:alphaModFix amt="0"/>
              </a:blip>
              <a:stretch>
                <a:fillRect l="0" t="-170823" r="0" b="-170823"/>
              </a:stretch>
            </a:blipFill>
          </p:spPr>
        </p:sp>
        <p:sp>
          <p:nvSpPr>
            <p:cNvPr name="TextBox 20" id="20"/>
            <p:cNvSpPr txBox="true"/>
            <p:nvPr/>
          </p:nvSpPr>
          <p:spPr>
            <a:xfrm>
              <a:off x="0" y="-9525"/>
              <a:ext cx="20725790" cy="1838325"/>
            </a:xfrm>
            <a:prstGeom prst="rect">
              <a:avLst/>
            </a:prstGeom>
          </p:spPr>
          <p:txBody>
            <a:bodyPr anchor="ctr" rtlCol="false" tIns="0" lIns="0" bIns="0" rIns="0"/>
            <a:lstStyle/>
            <a:p>
              <a:pPr algn="l">
                <a:lnSpc>
                  <a:spcPts val="9720"/>
                </a:lnSpc>
              </a:pPr>
              <a:r>
                <a:rPr lang="en-US" sz="8100" b="true">
                  <a:solidFill>
                    <a:srgbClr val="C9D8FA"/>
                  </a:solidFill>
                  <a:latin typeface="Noto Sans Bold"/>
                  <a:ea typeface="Noto Sans Bold"/>
                  <a:cs typeface="Noto Sans Bold"/>
                  <a:sym typeface="Noto Sans Bold"/>
                </a:rPr>
                <a:t>01</a:t>
              </a:r>
            </a:p>
          </p:txBody>
        </p:sp>
      </p:grpSp>
      <p:grpSp>
        <p:nvGrpSpPr>
          <p:cNvPr name="Group 21" id="21"/>
          <p:cNvGrpSpPr/>
          <p:nvPr/>
        </p:nvGrpSpPr>
        <p:grpSpPr>
          <a:xfrm rot="0">
            <a:off x="1371600" y="4457700"/>
            <a:ext cx="15544343" cy="1303020"/>
            <a:chOff x="0" y="0"/>
            <a:chExt cx="20725790" cy="1737360"/>
          </a:xfrm>
        </p:grpSpPr>
        <p:sp>
          <p:nvSpPr>
            <p:cNvPr name="Freeform 22" id="22"/>
            <p:cNvSpPr/>
            <p:nvPr/>
          </p:nvSpPr>
          <p:spPr>
            <a:xfrm flipH="false" flipV="false" rot="0">
              <a:off x="0" y="0"/>
              <a:ext cx="20725791" cy="1737360"/>
            </a:xfrm>
            <a:custGeom>
              <a:avLst/>
              <a:gdLst/>
              <a:ahLst/>
              <a:cxnLst/>
              <a:rect r="r" b="b" t="t" l="l"/>
              <a:pathLst>
                <a:path h="1737360" w="20725791">
                  <a:moveTo>
                    <a:pt x="0" y="0"/>
                  </a:moveTo>
                  <a:lnTo>
                    <a:pt x="20725791" y="0"/>
                  </a:lnTo>
                  <a:lnTo>
                    <a:pt x="20725791" y="1737360"/>
                  </a:lnTo>
                  <a:lnTo>
                    <a:pt x="0" y="1737360"/>
                  </a:lnTo>
                  <a:close/>
                </a:path>
              </a:pathLst>
            </a:custGeom>
            <a:blipFill>
              <a:blip r:embed="rId3">
                <a:alphaModFix amt="0"/>
              </a:blip>
              <a:stretch>
                <a:fillRect l="0" t="-182446" r="0" b="-182446"/>
              </a:stretch>
            </a:blipFill>
          </p:spPr>
        </p:sp>
        <p:sp>
          <p:nvSpPr>
            <p:cNvPr name="TextBox 23" id="23"/>
            <p:cNvSpPr txBox="true"/>
            <p:nvPr/>
          </p:nvSpPr>
          <p:spPr>
            <a:xfrm>
              <a:off x="0" y="0"/>
              <a:ext cx="20725790" cy="1737360"/>
            </a:xfrm>
            <a:prstGeom prst="rect">
              <a:avLst/>
            </a:prstGeom>
          </p:spPr>
          <p:txBody>
            <a:bodyPr anchor="ctr" rtlCol="false" tIns="0" lIns="0" bIns="0" rIns="0"/>
            <a:lstStyle/>
            <a:p>
              <a:pPr algn="l">
                <a:lnSpc>
                  <a:spcPts val="7559"/>
                </a:lnSpc>
              </a:pPr>
              <a:r>
                <a:rPr lang="en-US" sz="6300" b="true">
                  <a:solidFill>
                    <a:srgbClr val="11131B"/>
                  </a:solidFill>
                  <a:latin typeface="Noto Sans Bold"/>
                  <a:ea typeface="Noto Sans Bold"/>
                  <a:cs typeface="Noto Sans Bold"/>
                  <a:sym typeface="Noto Sans Bold"/>
                </a:rPr>
                <a:t>반복 연습 전후 비교</a:t>
              </a:r>
            </a:p>
          </p:txBody>
        </p:sp>
      </p:grpSp>
      <p:sp>
        <p:nvSpPr>
          <p:cNvPr name="TextBox 24" id="24"/>
          <p:cNvSpPr txBox="true"/>
          <p:nvPr/>
        </p:nvSpPr>
        <p:spPr>
          <a:xfrm rot="0">
            <a:off x="1371600" y="6103620"/>
            <a:ext cx="15544343" cy="617220"/>
          </a:xfrm>
          <a:prstGeom prst="rect">
            <a:avLst/>
          </a:prstGeom>
        </p:spPr>
        <p:txBody>
          <a:bodyPr anchor="t" rtlCol="false" tIns="0" lIns="0" bIns="0" rIns="0">
            <a:spAutoFit/>
          </a:bodyPr>
          <a:lstStyle/>
          <a:p>
            <a:pPr algn="l">
              <a:lnSpc>
                <a:spcPts val="2700"/>
              </a:lnSpc>
            </a:pPr>
            <a:r>
              <a:rPr lang="en-US" sz="2250">
                <a:solidFill>
                  <a:srgbClr val="2E313D"/>
                </a:solidFill>
                <a:latin typeface="Noto Sans"/>
                <a:ea typeface="Noto Sans"/>
                <a:cs typeface="Noto Sans"/>
                <a:sym typeface="Noto Sans"/>
              </a:rPr>
              <a:t>같은 폴더의 시도끼리 변화를 이어서 비교</a:t>
            </a:r>
          </a:p>
        </p:txBody>
      </p:sp>
    </p:spTree>
  </p:cSld>
  <p:clrMapOvr>
    <a:masterClrMapping/>
  </p:clrMapOvr>
  <p:transition spd="fast">
    <p:fade/>
  </p:transition>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7F9FE"/>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48</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향후 계획</a:t>
            </a:r>
          </a:p>
        </p:txBody>
      </p:sp>
      <p:grpSp>
        <p:nvGrpSpPr>
          <p:cNvPr name="Group 18" id="18"/>
          <p:cNvGrpSpPr/>
          <p:nvPr/>
        </p:nvGrpSpPr>
        <p:grpSpPr>
          <a:xfrm rot="0">
            <a:off x="1371600" y="2880360"/>
            <a:ext cx="15544343" cy="1371600"/>
            <a:chOff x="0" y="0"/>
            <a:chExt cx="20725790" cy="1828800"/>
          </a:xfrm>
        </p:grpSpPr>
        <p:sp>
          <p:nvSpPr>
            <p:cNvPr name="Freeform 19" id="19"/>
            <p:cNvSpPr/>
            <p:nvPr/>
          </p:nvSpPr>
          <p:spPr>
            <a:xfrm flipH="false" flipV="false" rot="0">
              <a:off x="0" y="0"/>
              <a:ext cx="20725791" cy="1828800"/>
            </a:xfrm>
            <a:custGeom>
              <a:avLst/>
              <a:gdLst/>
              <a:ahLst/>
              <a:cxnLst/>
              <a:rect r="r" b="b" t="t" l="l"/>
              <a:pathLst>
                <a:path h="1828800" w="20725791">
                  <a:moveTo>
                    <a:pt x="0" y="0"/>
                  </a:moveTo>
                  <a:lnTo>
                    <a:pt x="20725791" y="0"/>
                  </a:lnTo>
                  <a:lnTo>
                    <a:pt x="20725791" y="1828800"/>
                  </a:lnTo>
                  <a:lnTo>
                    <a:pt x="0" y="1828800"/>
                  </a:lnTo>
                  <a:close/>
                </a:path>
              </a:pathLst>
            </a:custGeom>
            <a:blipFill>
              <a:blip r:embed="rId3">
                <a:alphaModFix amt="0"/>
              </a:blip>
              <a:stretch>
                <a:fillRect l="0" t="-170823" r="0" b="-170823"/>
              </a:stretch>
            </a:blipFill>
          </p:spPr>
        </p:sp>
        <p:sp>
          <p:nvSpPr>
            <p:cNvPr name="TextBox 20" id="20"/>
            <p:cNvSpPr txBox="true"/>
            <p:nvPr/>
          </p:nvSpPr>
          <p:spPr>
            <a:xfrm>
              <a:off x="0" y="-9525"/>
              <a:ext cx="20725790" cy="1838325"/>
            </a:xfrm>
            <a:prstGeom prst="rect">
              <a:avLst/>
            </a:prstGeom>
          </p:spPr>
          <p:txBody>
            <a:bodyPr anchor="ctr" rtlCol="false" tIns="0" lIns="0" bIns="0" rIns="0"/>
            <a:lstStyle/>
            <a:p>
              <a:pPr algn="l">
                <a:lnSpc>
                  <a:spcPts val="9720"/>
                </a:lnSpc>
              </a:pPr>
              <a:r>
                <a:rPr lang="en-US" sz="8100" b="true">
                  <a:solidFill>
                    <a:srgbClr val="C9D8FA"/>
                  </a:solidFill>
                  <a:latin typeface="Noto Sans Bold"/>
                  <a:ea typeface="Noto Sans Bold"/>
                  <a:cs typeface="Noto Sans Bold"/>
                  <a:sym typeface="Noto Sans Bold"/>
                </a:rPr>
                <a:t>02</a:t>
              </a:r>
            </a:p>
          </p:txBody>
        </p:sp>
      </p:grpSp>
      <p:grpSp>
        <p:nvGrpSpPr>
          <p:cNvPr name="Group 21" id="21"/>
          <p:cNvGrpSpPr/>
          <p:nvPr/>
        </p:nvGrpSpPr>
        <p:grpSpPr>
          <a:xfrm rot="0">
            <a:off x="1371600" y="4457700"/>
            <a:ext cx="15544343" cy="1303020"/>
            <a:chOff x="0" y="0"/>
            <a:chExt cx="20725790" cy="1737360"/>
          </a:xfrm>
        </p:grpSpPr>
        <p:sp>
          <p:nvSpPr>
            <p:cNvPr name="Freeform 22" id="22"/>
            <p:cNvSpPr/>
            <p:nvPr/>
          </p:nvSpPr>
          <p:spPr>
            <a:xfrm flipH="false" flipV="false" rot="0">
              <a:off x="0" y="0"/>
              <a:ext cx="20725791" cy="1737360"/>
            </a:xfrm>
            <a:custGeom>
              <a:avLst/>
              <a:gdLst/>
              <a:ahLst/>
              <a:cxnLst/>
              <a:rect r="r" b="b" t="t" l="l"/>
              <a:pathLst>
                <a:path h="1737360" w="20725791">
                  <a:moveTo>
                    <a:pt x="0" y="0"/>
                  </a:moveTo>
                  <a:lnTo>
                    <a:pt x="20725791" y="0"/>
                  </a:lnTo>
                  <a:lnTo>
                    <a:pt x="20725791" y="1737360"/>
                  </a:lnTo>
                  <a:lnTo>
                    <a:pt x="0" y="1737360"/>
                  </a:lnTo>
                  <a:close/>
                </a:path>
              </a:pathLst>
            </a:custGeom>
            <a:blipFill>
              <a:blip r:embed="rId3">
                <a:alphaModFix amt="0"/>
              </a:blip>
              <a:stretch>
                <a:fillRect l="0" t="-182446" r="0" b="-182446"/>
              </a:stretch>
            </a:blipFill>
          </p:spPr>
        </p:sp>
        <p:sp>
          <p:nvSpPr>
            <p:cNvPr name="TextBox 23" id="23"/>
            <p:cNvSpPr txBox="true"/>
            <p:nvPr/>
          </p:nvSpPr>
          <p:spPr>
            <a:xfrm>
              <a:off x="0" y="0"/>
              <a:ext cx="20725790" cy="1737360"/>
            </a:xfrm>
            <a:prstGeom prst="rect">
              <a:avLst/>
            </a:prstGeom>
          </p:spPr>
          <p:txBody>
            <a:bodyPr anchor="ctr" rtlCol="false" tIns="0" lIns="0" bIns="0" rIns="0"/>
            <a:lstStyle/>
            <a:p>
              <a:pPr algn="l">
                <a:lnSpc>
                  <a:spcPts val="7559"/>
                </a:lnSpc>
              </a:pPr>
              <a:r>
                <a:rPr lang="en-US" sz="6300" b="true">
                  <a:solidFill>
                    <a:srgbClr val="11131B"/>
                  </a:solidFill>
                  <a:latin typeface="Noto Sans Bold"/>
                  <a:ea typeface="Noto Sans Bold"/>
                  <a:cs typeface="Noto Sans Bold"/>
                  <a:sym typeface="Noto Sans Bold"/>
                </a:rPr>
                <a:t>사용자별 기준 개인화</a:t>
              </a:r>
            </a:p>
          </p:txBody>
        </p:sp>
      </p:grpSp>
      <p:sp>
        <p:nvSpPr>
          <p:cNvPr name="TextBox 24" id="24"/>
          <p:cNvSpPr txBox="true"/>
          <p:nvPr/>
        </p:nvSpPr>
        <p:spPr>
          <a:xfrm rot="0">
            <a:off x="1371600" y="6103620"/>
            <a:ext cx="15544343" cy="617220"/>
          </a:xfrm>
          <a:prstGeom prst="rect">
            <a:avLst/>
          </a:prstGeom>
        </p:spPr>
        <p:txBody>
          <a:bodyPr anchor="t" rtlCol="false" tIns="0" lIns="0" bIns="0" rIns="0">
            <a:spAutoFit/>
          </a:bodyPr>
          <a:lstStyle/>
          <a:p>
            <a:pPr algn="l">
              <a:lnSpc>
                <a:spcPts val="2700"/>
              </a:lnSpc>
            </a:pPr>
            <a:r>
              <a:rPr lang="en-US" sz="2250">
                <a:solidFill>
                  <a:srgbClr val="2E313D"/>
                </a:solidFill>
                <a:latin typeface="Noto Sans"/>
                <a:ea typeface="Noto Sans"/>
                <a:cs typeface="Noto Sans"/>
                <a:sym typeface="Noto Sans"/>
              </a:rPr>
              <a:t>사람마다 다른 말하기 습관을 기준값에 반영</a:t>
            </a:r>
          </a:p>
        </p:txBody>
      </p:sp>
    </p:spTree>
  </p:cSld>
  <p:clrMapOvr>
    <a:masterClrMapping/>
  </p:clrMapOvr>
  <p:transition spd="fast">
    <p:fade/>
  </p:transition>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7F9FE"/>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49</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향후 계획</a:t>
            </a:r>
          </a:p>
        </p:txBody>
      </p:sp>
      <p:grpSp>
        <p:nvGrpSpPr>
          <p:cNvPr name="Group 18" id="18"/>
          <p:cNvGrpSpPr/>
          <p:nvPr/>
        </p:nvGrpSpPr>
        <p:grpSpPr>
          <a:xfrm rot="0">
            <a:off x="1371600" y="2880360"/>
            <a:ext cx="15544343" cy="1371600"/>
            <a:chOff x="0" y="0"/>
            <a:chExt cx="20725790" cy="1828800"/>
          </a:xfrm>
        </p:grpSpPr>
        <p:sp>
          <p:nvSpPr>
            <p:cNvPr name="Freeform 19" id="19"/>
            <p:cNvSpPr/>
            <p:nvPr/>
          </p:nvSpPr>
          <p:spPr>
            <a:xfrm flipH="false" flipV="false" rot="0">
              <a:off x="0" y="0"/>
              <a:ext cx="20725791" cy="1828800"/>
            </a:xfrm>
            <a:custGeom>
              <a:avLst/>
              <a:gdLst/>
              <a:ahLst/>
              <a:cxnLst/>
              <a:rect r="r" b="b" t="t" l="l"/>
              <a:pathLst>
                <a:path h="1828800" w="20725791">
                  <a:moveTo>
                    <a:pt x="0" y="0"/>
                  </a:moveTo>
                  <a:lnTo>
                    <a:pt x="20725791" y="0"/>
                  </a:lnTo>
                  <a:lnTo>
                    <a:pt x="20725791" y="1828800"/>
                  </a:lnTo>
                  <a:lnTo>
                    <a:pt x="0" y="1828800"/>
                  </a:lnTo>
                  <a:close/>
                </a:path>
              </a:pathLst>
            </a:custGeom>
            <a:blipFill>
              <a:blip r:embed="rId3">
                <a:alphaModFix amt="0"/>
              </a:blip>
              <a:stretch>
                <a:fillRect l="0" t="-170823" r="0" b="-170823"/>
              </a:stretch>
            </a:blipFill>
          </p:spPr>
        </p:sp>
        <p:sp>
          <p:nvSpPr>
            <p:cNvPr name="TextBox 20" id="20"/>
            <p:cNvSpPr txBox="true"/>
            <p:nvPr/>
          </p:nvSpPr>
          <p:spPr>
            <a:xfrm>
              <a:off x="0" y="-9525"/>
              <a:ext cx="20725790" cy="1838325"/>
            </a:xfrm>
            <a:prstGeom prst="rect">
              <a:avLst/>
            </a:prstGeom>
          </p:spPr>
          <p:txBody>
            <a:bodyPr anchor="ctr" rtlCol="false" tIns="0" lIns="0" bIns="0" rIns="0"/>
            <a:lstStyle/>
            <a:p>
              <a:pPr algn="l">
                <a:lnSpc>
                  <a:spcPts val="9720"/>
                </a:lnSpc>
              </a:pPr>
              <a:r>
                <a:rPr lang="en-US" sz="8100" b="true">
                  <a:solidFill>
                    <a:srgbClr val="C9D8FA"/>
                  </a:solidFill>
                  <a:latin typeface="Noto Sans Bold"/>
                  <a:ea typeface="Noto Sans Bold"/>
                  <a:cs typeface="Noto Sans Bold"/>
                  <a:sym typeface="Noto Sans Bold"/>
                </a:rPr>
                <a:t>03</a:t>
              </a:r>
            </a:p>
          </p:txBody>
        </p:sp>
      </p:grpSp>
      <p:grpSp>
        <p:nvGrpSpPr>
          <p:cNvPr name="Group 21" id="21"/>
          <p:cNvGrpSpPr/>
          <p:nvPr/>
        </p:nvGrpSpPr>
        <p:grpSpPr>
          <a:xfrm rot="0">
            <a:off x="1371600" y="4457700"/>
            <a:ext cx="15544343" cy="1303020"/>
            <a:chOff x="0" y="0"/>
            <a:chExt cx="20725790" cy="1737360"/>
          </a:xfrm>
        </p:grpSpPr>
        <p:sp>
          <p:nvSpPr>
            <p:cNvPr name="Freeform 22" id="22"/>
            <p:cNvSpPr/>
            <p:nvPr/>
          </p:nvSpPr>
          <p:spPr>
            <a:xfrm flipH="false" flipV="false" rot="0">
              <a:off x="0" y="0"/>
              <a:ext cx="20725791" cy="1737360"/>
            </a:xfrm>
            <a:custGeom>
              <a:avLst/>
              <a:gdLst/>
              <a:ahLst/>
              <a:cxnLst/>
              <a:rect r="r" b="b" t="t" l="l"/>
              <a:pathLst>
                <a:path h="1737360" w="20725791">
                  <a:moveTo>
                    <a:pt x="0" y="0"/>
                  </a:moveTo>
                  <a:lnTo>
                    <a:pt x="20725791" y="0"/>
                  </a:lnTo>
                  <a:lnTo>
                    <a:pt x="20725791" y="1737360"/>
                  </a:lnTo>
                  <a:lnTo>
                    <a:pt x="0" y="1737360"/>
                  </a:lnTo>
                  <a:close/>
                </a:path>
              </a:pathLst>
            </a:custGeom>
            <a:blipFill>
              <a:blip r:embed="rId3">
                <a:alphaModFix amt="0"/>
              </a:blip>
              <a:stretch>
                <a:fillRect l="0" t="-182446" r="0" b="-182446"/>
              </a:stretch>
            </a:blipFill>
          </p:spPr>
        </p:sp>
        <p:sp>
          <p:nvSpPr>
            <p:cNvPr name="TextBox 23" id="23"/>
            <p:cNvSpPr txBox="true"/>
            <p:nvPr/>
          </p:nvSpPr>
          <p:spPr>
            <a:xfrm>
              <a:off x="0" y="0"/>
              <a:ext cx="20725790" cy="1737360"/>
            </a:xfrm>
            <a:prstGeom prst="rect">
              <a:avLst/>
            </a:prstGeom>
          </p:spPr>
          <p:txBody>
            <a:bodyPr anchor="ctr" rtlCol="false" tIns="0" lIns="0" bIns="0" rIns="0"/>
            <a:lstStyle/>
            <a:p>
              <a:pPr algn="l">
                <a:lnSpc>
                  <a:spcPts val="7559"/>
                </a:lnSpc>
              </a:pPr>
              <a:r>
                <a:rPr lang="en-US" sz="6300" b="true">
                  <a:solidFill>
                    <a:srgbClr val="11131B"/>
                  </a:solidFill>
                  <a:latin typeface="Noto Sans Bold"/>
                  <a:ea typeface="Noto Sans Bold"/>
                  <a:cs typeface="Noto Sans Bold"/>
                  <a:sym typeface="Noto Sans Bold"/>
                </a:rPr>
                <a:t>분석 데이터 기반 성능 개선</a:t>
              </a:r>
            </a:p>
          </p:txBody>
        </p:sp>
      </p:grpSp>
      <p:sp>
        <p:nvSpPr>
          <p:cNvPr name="TextBox 24" id="24"/>
          <p:cNvSpPr txBox="true"/>
          <p:nvPr/>
        </p:nvSpPr>
        <p:spPr>
          <a:xfrm rot="0">
            <a:off x="1371600" y="6103620"/>
            <a:ext cx="15544343" cy="617220"/>
          </a:xfrm>
          <a:prstGeom prst="rect">
            <a:avLst/>
          </a:prstGeom>
        </p:spPr>
        <p:txBody>
          <a:bodyPr anchor="t" rtlCol="false" tIns="0" lIns="0" bIns="0" rIns="0">
            <a:spAutoFit/>
          </a:bodyPr>
          <a:lstStyle/>
          <a:p>
            <a:pPr algn="l">
              <a:lnSpc>
                <a:spcPts val="2700"/>
              </a:lnSpc>
            </a:pPr>
            <a:r>
              <a:rPr lang="en-US" sz="2250">
                <a:solidFill>
                  <a:srgbClr val="2E313D"/>
                </a:solidFill>
                <a:latin typeface="Noto Sans"/>
                <a:ea typeface="Noto Sans"/>
                <a:cs typeface="Noto Sans"/>
                <a:sym typeface="Noto Sans"/>
              </a:rPr>
              <a:t>축적된 분석 데이터로 탐지 모델을 고도화</a:t>
            </a:r>
          </a:p>
        </p:txBody>
      </p:sp>
    </p:spTree>
  </p:cSld>
  <p:clrMapOvr>
    <a:masterClrMapping/>
  </p:clrMapOvr>
  <p:transition spd="fast">
    <p:fade/>
  </p:transition>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50</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다음 무대</a:t>
            </a:r>
          </a:p>
        </p:txBody>
      </p:sp>
      <p:sp>
        <p:nvSpPr>
          <p:cNvPr name="TextBox 18" id="18"/>
          <p:cNvSpPr txBox="true"/>
          <p:nvPr/>
        </p:nvSpPr>
        <p:spPr>
          <a:xfrm rot="0">
            <a:off x="1371600" y="1522095"/>
            <a:ext cx="15544343" cy="1289685"/>
          </a:xfrm>
          <a:prstGeom prst="rect">
            <a:avLst/>
          </a:prstGeom>
        </p:spPr>
        <p:txBody>
          <a:bodyPr anchor="t" rtlCol="false" tIns="0" lIns="0" bIns="0" rIns="0">
            <a:spAutoFit/>
          </a:bodyPr>
          <a:lstStyle/>
          <a:p>
            <a:pPr algn="l">
              <a:lnSpc>
                <a:spcPts val="7344"/>
              </a:lnSpc>
            </a:pPr>
            <a:r>
              <a:rPr lang="en-US" sz="5100" b="true">
                <a:solidFill>
                  <a:srgbClr val="11131B"/>
                </a:solidFill>
                <a:latin typeface="Noto Sans Bold"/>
                <a:ea typeface="Noto Sans Bold"/>
                <a:cs typeface="Noto Sans Bold"/>
                <a:sym typeface="Noto Sans Bold"/>
              </a:rPr>
              <a:t>말하기를 반복해야 하는 모든 순간</a:t>
            </a:r>
          </a:p>
        </p:txBody>
      </p:sp>
      <p:grpSp>
        <p:nvGrpSpPr>
          <p:cNvPr name="Group 19" id="19"/>
          <p:cNvGrpSpPr/>
          <p:nvPr/>
        </p:nvGrpSpPr>
        <p:grpSpPr>
          <a:xfrm rot="0">
            <a:off x="1362075" y="4105275"/>
            <a:ext cx="4468978" cy="57455"/>
            <a:chOff x="0" y="0"/>
            <a:chExt cx="5958637" cy="76606"/>
          </a:xfrm>
        </p:grpSpPr>
        <p:sp>
          <p:nvSpPr>
            <p:cNvPr name="Freeform 20" id="20"/>
            <p:cNvSpPr/>
            <p:nvPr/>
          </p:nvSpPr>
          <p:spPr>
            <a:xfrm flipH="false" flipV="false" rot="0">
              <a:off x="0" y="0"/>
              <a:ext cx="5958586" cy="76581"/>
            </a:xfrm>
            <a:custGeom>
              <a:avLst/>
              <a:gdLst/>
              <a:ahLst/>
              <a:cxnLst/>
              <a:rect r="r" b="b" t="t" l="l"/>
              <a:pathLst>
                <a:path h="76581" w="5958586">
                  <a:moveTo>
                    <a:pt x="0" y="0"/>
                  </a:moveTo>
                  <a:lnTo>
                    <a:pt x="5958586" y="0"/>
                  </a:lnTo>
                  <a:lnTo>
                    <a:pt x="5958586" y="76581"/>
                  </a:lnTo>
                  <a:lnTo>
                    <a:pt x="0" y="76581"/>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445350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01</a:t>
            </a:r>
          </a:p>
        </p:txBody>
      </p:sp>
      <p:sp>
        <p:nvSpPr>
          <p:cNvPr name="TextBox 22" id="22"/>
          <p:cNvSpPr txBox="true"/>
          <p:nvPr/>
        </p:nvSpPr>
        <p:spPr>
          <a:xfrm rot="0">
            <a:off x="1371600" y="5047488"/>
            <a:ext cx="4449928" cy="754380"/>
          </a:xfrm>
          <a:prstGeom prst="rect">
            <a:avLst/>
          </a:prstGeom>
        </p:spPr>
        <p:txBody>
          <a:bodyPr anchor="t" rtlCol="false" tIns="0" lIns="0" bIns="0" rIns="0">
            <a:spAutoFit/>
          </a:bodyPr>
          <a:lstStyle/>
          <a:p>
            <a:pPr algn="l">
              <a:lnSpc>
                <a:spcPts val="4680"/>
              </a:lnSpc>
            </a:pPr>
            <a:r>
              <a:rPr lang="en-US" sz="3900" b="true">
                <a:solidFill>
                  <a:srgbClr val="11131B"/>
                </a:solidFill>
                <a:latin typeface="Noto Sans Bold"/>
                <a:ea typeface="Noto Sans Bold"/>
                <a:cs typeface="Noto Sans Bold"/>
                <a:sym typeface="Noto Sans Bold"/>
              </a:rPr>
              <a:t>학교</a:t>
            </a:r>
          </a:p>
        </p:txBody>
      </p:sp>
      <p:sp>
        <p:nvSpPr>
          <p:cNvPr name="TextBox 23" id="23"/>
          <p:cNvSpPr txBox="true"/>
          <p:nvPr/>
        </p:nvSpPr>
        <p:spPr>
          <a:xfrm rot="0">
            <a:off x="1371600" y="5976747"/>
            <a:ext cx="4449928" cy="908685"/>
          </a:xfrm>
          <a:prstGeom prst="rect">
            <a:avLst/>
          </a:prstGeom>
        </p:spPr>
        <p:txBody>
          <a:bodyPr anchor="t" rtlCol="false" tIns="0" lIns="0" bIns="0" rIns="0">
            <a:spAutoFit/>
          </a:bodyPr>
          <a:lstStyle/>
          <a:p>
            <a:pPr algn="l">
              <a:lnSpc>
                <a:spcPts val="3159"/>
              </a:lnSpc>
            </a:pPr>
            <a:r>
              <a:rPr lang="en-US" sz="1950">
                <a:solidFill>
                  <a:srgbClr val="747987"/>
                </a:solidFill>
                <a:latin typeface="Noto Sans"/>
                <a:ea typeface="Noto Sans"/>
                <a:cs typeface="Noto Sans"/>
                <a:sym typeface="Noto Sans"/>
              </a:rPr>
              <a:t>발표 수업 · 말하기 평가</a:t>
            </a:r>
          </a:p>
        </p:txBody>
      </p:sp>
      <p:grpSp>
        <p:nvGrpSpPr>
          <p:cNvPr name="Group 24" id="24"/>
          <p:cNvGrpSpPr/>
          <p:nvPr/>
        </p:nvGrpSpPr>
        <p:grpSpPr>
          <a:xfrm rot="0">
            <a:off x="6909283" y="4105275"/>
            <a:ext cx="4468978" cy="57455"/>
            <a:chOff x="0" y="0"/>
            <a:chExt cx="5958637" cy="76606"/>
          </a:xfrm>
        </p:grpSpPr>
        <p:sp>
          <p:nvSpPr>
            <p:cNvPr name="Freeform 25" id="25"/>
            <p:cNvSpPr/>
            <p:nvPr/>
          </p:nvSpPr>
          <p:spPr>
            <a:xfrm flipH="false" flipV="false" rot="0">
              <a:off x="0" y="0"/>
              <a:ext cx="5958586" cy="76581"/>
            </a:xfrm>
            <a:custGeom>
              <a:avLst/>
              <a:gdLst/>
              <a:ahLst/>
              <a:cxnLst/>
              <a:rect r="r" b="b" t="t" l="l"/>
              <a:pathLst>
                <a:path h="76581" w="5958586">
                  <a:moveTo>
                    <a:pt x="0" y="0"/>
                  </a:moveTo>
                  <a:lnTo>
                    <a:pt x="5958586" y="0"/>
                  </a:lnTo>
                  <a:lnTo>
                    <a:pt x="5958586" y="76581"/>
                  </a:lnTo>
                  <a:lnTo>
                    <a:pt x="0" y="76581"/>
                  </a:lnTo>
                  <a:close/>
                </a:path>
              </a:pathLst>
            </a:custGeom>
            <a:solidFill>
              <a:srgbClr val="3B73EE"/>
            </a:solidFill>
            <a:ln w="19050" cap="sq">
              <a:solidFill>
                <a:srgbClr val="3B73EE"/>
              </a:solidFill>
              <a:prstDash val="solid"/>
              <a:miter/>
            </a:ln>
          </p:spPr>
        </p:sp>
      </p:grpSp>
      <p:sp>
        <p:nvSpPr>
          <p:cNvPr name="TextBox 26" id="26"/>
          <p:cNvSpPr txBox="true"/>
          <p:nvPr/>
        </p:nvSpPr>
        <p:spPr>
          <a:xfrm rot="0">
            <a:off x="6918808" y="445350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02</a:t>
            </a:r>
          </a:p>
        </p:txBody>
      </p:sp>
      <p:sp>
        <p:nvSpPr>
          <p:cNvPr name="TextBox 27" id="27"/>
          <p:cNvSpPr txBox="true"/>
          <p:nvPr/>
        </p:nvSpPr>
        <p:spPr>
          <a:xfrm rot="0">
            <a:off x="6918808" y="5047488"/>
            <a:ext cx="4449928" cy="590550"/>
          </a:xfrm>
          <a:prstGeom prst="rect">
            <a:avLst/>
          </a:prstGeom>
        </p:spPr>
        <p:txBody>
          <a:bodyPr anchor="t" rtlCol="false" tIns="0" lIns="0" bIns="0" rIns="0">
            <a:spAutoFit/>
          </a:bodyPr>
          <a:lstStyle/>
          <a:p>
            <a:pPr algn="l">
              <a:lnSpc>
                <a:spcPts val="4680"/>
              </a:lnSpc>
            </a:pPr>
            <a:r>
              <a:rPr lang="en-US" sz="3900" b="true">
                <a:solidFill>
                  <a:srgbClr val="11131B"/>
                </a:solidFill>
                <a:latin typeface="Noto Sans Bold"/>
                <a:ea typeface="Noto Sans Bold"/>
                <a:cs typeface="Noto Sans Bold"/>
                <a:sym typeface="Noto Sans Bold"/>
              </a:rPr>
              <a:t>취업</a:t>
            </a:r>
          </a:p>
        </p:txBody>
      </p:sp>
      <p:sp>
        <p:nvSpPr>
          <p:cNvPr name="TextBox 28" id="28"/>
          <p:cNvSpPr txBox="true"/>
          <p:nvPr/>
        </p:nvSpPr>
        <p:spPr>
          <a:xfrm rot="0">
            <a:off x="6918808" y="5976747"/>
            <a:ext cx="4449928" cy="381762"/>
          </a:xfrm>
          <a:prstGeom prst="rect">
            <a:avLst/>
          </a:prstGeom>
        </p:spPr>
        <p:txBody>
          <a:bodyPr anchor="t" rtlCol="false" tIns="0" lIns="0" bIns="0" rIns="0">
            <a:spAutoFit/>
          </a:bodyPr>
          <a:lstStyle/>
          <a:p>
            <a:pPr algn="l">
              <a:lnSpc>
                <a:spcPts val="3159"/>
              </a:lnSpc>
            </a:pPr>
            <a:r>
              <a:rPr lang="en-US" sz="1950">
                <a:solidFill>
                  <a:srgbClr val="747987"/>
                </a:solidFill>
                <a:latin typeface="Noto Sans"/>
                <a:ea typeface="Noto Sans"/>
                <a:cs typeface="Noto Sans"/>
                <a:sym typeface="Noto Sans"/>
              </a:rPr>
              <a:t>면접 대비</a:t>
            </a:r>
          </a:p>
        </p:txBody>
      </p:sp>
      <p:grpSp>
        <p:nvGrpSpPr>
          <p:cNvPr name="Group 29" id="29"/>
          <p:cNvGrpSpPr/>
          <p:nvPr/>
        </p:nvGrpSpPr>
        <p:grpSpPr>
          <a:xfrm rot="0">
            <a:off x="12456490" y="4105275"/>
            <a:ext cx="4468978" cy="57455"/>
            <a:chOff x="0" y="0"/>
            <a:chExt cx="5958637" cy="76606"/>
          </a:xfrm>
        </p:grpSpPr>
        <p:sp>
          <p:nvSpPr>
            <p:cNvPr name="Freeform 30" id="30"/>
            <p:cNvSpPr/>
            <p:nvPr/>
          </p:nvSpPr>
          <p:spPr>
            <a:xfrm flipH="false" flipV="false" rot="0">
              <a:off x="0" y="0"/>
              <a:ext cx="5958586" cy="76581"/>
            </a:xfrm>
            <a:custGeom>
              <a:avLst/>
              <a:gdLst/>
              <a:ahLst/>
              <a:cxnLst/>
              <a:rect r="r" b="b" t="t" l="l"/>
              <a:pathLst>
                <a:path h="76581" w="5958586">
                  <a:moveTo>
                    <a:pt x="0" y="0"/>
                  </a:moveTo>
                  <a:lnTo>
                    <a:pt x="5958586" y="0"/>
                  </a:lnTo>
                  <a:lnTo>
                    <a:pt x="5958586" y="76581"/>
                  </a:lnTo>
                  <a:lnTo>
                    <a:pt x="0" y="76581"/>
                  </a:lnTo>
                  <a:close/>
                </a:path>
              </a:pathLst>
            </a:custGeom>
            <a:solidFill>
              <a:srgbClr val="E4E6EE"/>
            </a:solidFill>
            <a:ln w="19050" cap="sq">
              <a:solidFill>
                <a:srgbClr val="E4E6EE"/>
              </a:solidFill>
              <a:prstDash val="solid"/>
              <a:miter/>
            </a:ln>
          </p:spPr>
        </p:sp>
      </p:grpSp>
      <p:sp>
        <p:nvSpPr>
          <p:cNvPr name="TextBox 31" id="31"/>
          <p:cNvSpPr txBox="true"/>
          <p:nvPr/>
        </p:nvSpPr>
        <p:spPr>
          <a:xfrm rot="0">
            <a:off x="12466015" y="4453509"/>
            <a:ext cx="1371600" cy="429387"/>
          </a:xfrm>
          <a:prstGeom prst="rect">
            <a:avLst/>
          </a:prstGeom>
        </p:spPr>
        <p:txBody>
          <a:bodyPr anchor="t" rtlCol="false" tIns="0" lIns="0" bIns="0" rIns="0">
            <a:spAutoFit/>
          </a:bodyPr>
          <a:lstStyle/>
          <a:p>
            <a:pPr algn="l">
              <a:lnSpc>
                <a:spcPts val="2160"/>
              </a:lnSpc>
            </a:pPr>
            <a:r>
              <a:rPr lang="en-US" sz="1800" b="true">
                <a:solidFill>
                  <a:srgbClr val="3B73EE"/>
                </a:solidFill>
                <a:latin typeface="Noto Sans Bold"/>
                <a:ea typeface="Noto Sans Bold"/>
                <a:cs typeface="Noto Sans Bold"/>
                <a:sym typeface="Noto Sans Bold"/>
              </a:rPr>
              <a:t>03</a:t>
            </a:r>
          </a:p>
        </p:txBody>
      </p:sp>
      <p:sp>
        <p:nvSpPr>
          <p:cNvPr name="TextBox 32" id="32"/>
          <p:cNvSpPr txBox="true"/>
          <p:nvPr/>
        </p:nvSpPr>
        <p:spPr>
          <a:xfrm rot="0">
            <a:off x="12466015" y="5047488"/>
            <a:ext cx="4449928" cy="754380"/>
          </a:xfrm>
          <a:prstGeom prst="rect">
            <a:avLst/>
          </a:prstGeom>
        </p:spPr>
        <p:txBody>
          <a:bodyPr anchor="t" rtlCol="false" tIns="0" lIns="0" bIns="0" rIns="0">
            <a:spAutoFit/>
          </a:bodyPr>
          <a:lstStyle/>
          <a:p>
            <a:pPr algn="l">
              <a:lnSpc>
                <a:spcPts val="4680"/>
              </a:lnSpc>
            </a:pPr>
            <a:r>
              <a:rPr lang="en-US" sz="3900" b="true">
                <a:solidFill>
                  <a:srgbClr val="11131B"/>
                </a:solidFill>
                <a:latin typeface="Noto Sans Bold"/>
                <a:ea typeface="Noto Sans Bold"/>
                <a:cs typeface="Noto Sans Bold"/>
                <a:sym typeface="Noto Sans Bold"/>
              </a:rPr>
              <a:t>기업</a:t>
            </a:r>
          </a:p>
        </p:txBody>
      </p:sp>
      <p:sp>
        <p:nvSpPr>
          <p:cNvPr name="TextBox 33" id="33"/>
          <p:cNvSpPr txBox="true"/>
          <p:nvPr/>
        </p:nvSpPr>
        <p:spPr>
          <a:xfrm rot="0">
            <a:off x="12466015" y="5976747"/>
            <a:ext cx="4449928" cy="908685"/>
          </a:xfrm>
          <a:prstGeom prst="rect">
            <a:avLst/>
          </a:prstGeom>
        </p:spPr>
        <p:txBody>
          <a:bodyPr anchor="t" rtlCol="false" tIns="0" lIns="0" bIns="0" rIns="0">
            <a:spAutoFit/>
          </a:bodyPr>
          <a:lstStyle/>
          <a:p>
            <a:pPr algn="l">
              <a:lnSpc>
                <a:spcPts val="3159"/>
              </a:lnSpc>
            </a:pPr>
            <a:r>
              <a:rPr lang="en-US" sz="1950">
                <a:solidFill>
                  <a:srgbClr val="747987"/>
                </a:solidFill>
                <a:latin typeface="Noto Sans"/>
                <a:ea typeface="Noto Sans"/>
                <a:cs typeface="Noto Sans"/>
                <a:sym typeface="Noto Sans"/>
              </a:rPr>
              <a:t>사내 발표 · 세일즈 피칭</a:t>
            </a:r>
          </a:p>
        </p:txBody>
      </p:sp>
      <p:sp>
        <p:nvSpPr>
          <p:cNvPr name="TextBox 34" id="34"/>
          <p:cNvSpPr txBox="true"/>
          <p:nvPr/>
        </p:nvSpPr>
        <p:spPr>
          <a:xfrm rot="0">
            <a:off x="1371600" y="8033385"/>
            <a:ext cx="15544343" cy="429387"/>
          </a:xfrm>
          <a:prstGeom prst="rect">
            <a:avLst/>
          </a:prstGeom>
        </p:spPr>
        <p:txBody>
          <a:bodyPr anchor="t" rtlCol="false" tIns="0" lIns="0" bIns="0" rIns="0">
            <a:spAutoFit/>
          </a:bodyPr>
          <a:lstStyle/>
          <a:p>
            <a:pPr algn="l">
              <a:lnSpc>
                <a:spcPts val="2160"/>
              </a:lnSpc>
            </a:pPr>
            <a:r>
              <a:rPr lang="en-US" sz="1800">
                <a:solidFill>
                  <a:srgbClr val="747987"/>
                </a:solidFill>
                <a:latin typeface="Noto Sans"/>
                <a:ea typeface="Noto Sans"/>
                <a:cs typeface="Noto Sans"/>
                <a:sym typeface="Noto Sans"/>
              </a:rPr>
              <a:t>개인의 리허설에서, 조직의 말하기 인프라로 확장할 수 있습니다.</a:t>
            </a:r>
          </a:p>
        </p:txBody>
      </p:sp>
    </p:spTree>
  </p:cSld>
  <p:clrMapOvr>
    <a:masterClrMapping/>
  </p:clrMapOvr>
  <p:transition spd="fast">
    <p:fade/>
  </p:transition>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2A2D36"/>
            </a:solidFill>
            <a:ln w="19050" cap="sq">
              <a:solidFill>
                <a:srgbClr val="2A2D36"/>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4A4E5A"/>
                  </a:solidFill>
                  <a:latin typeface="Noto Sans"/>
                  <a:ea typeface="Noto Sans"/>
                  <a:cs typeface="Noto Sans"/>
                  <a:sym typeface="Noto Sans"/>
                </a:rPr>
                <a:t>51</a:t>
              </a:r>
            </a:p>
          </p:txBody>
        </p:sp>
      </p:grpSp>
      <p:grpSp>
        <p:nvGrpSpPr>
          <p:cNvPr name="Group 17" id="17"/>
          <p:cNvGrpSpPr/>
          <p:nvPr/>
        </p:nvGrpSpPr>
        <p:grpSpPr>
          <a:xfrm rot="0">
            <a:off x="1371600" y="2743200"/>
            <a:ext cx="15544343" cy="3291840"/>
            <a:chOff x="0" y="0"/>
            <a:chExt cx="20725790" cy="4389120"/>
          </a:xfrm>
        </p:grpSpPr>
        <p:sp>
          <p:nvSpPr>
            <p:cNvPr name="Freeform 18" id="18"/>
            <p:cNvSpPr/>
            <p:nvPr/>
          </p:nvSpPr>
          <p:spPr>
            <a:xfrm flipH="false" flipV="false" rot="0">
              <a:off x="0" y="0"/>
              <a:ext cx="20725791" cy="4389120"/>
            </a:xfrm>
            <a:custGeom>
              <a:avLst/>
              <a:gdLst/>
              <a:ahLst/>
              <a:cxnLst/>
              <a:rect r="r" b="b" t="t" l="l"/>
              <a:pathLst>
                <a:path h="4389120" w="20725791">
                  <a:moveTo>
                    <a:pt x="0" y="0"/>
                  </a:moveTo>
                  <a:lnTo>
                    <a:pt x="20725791" y="0"/>
                  </a:lnTo>
                  <a:lnTo>
                    <a:pt x="20725791" y="4389120"/>
                  </a:lnTo>
                  <a:lnTo>
                    <a:pt x="0" y="4389120"/>
                  </a:lnTo>
                  <a:close/>
                </a:path>
              </a:pathLst>
            </a:custGeom>
            <a:blipFill>
              <a:blip r:embed="rId3">
                <a:alphaModFix amt="0"/>
              </a:blip>
              <a:stretch>
                <a:fillRect l="0" t="-42009" r="0" b="-42009"/>
              </a:stretch>
            </a:blipFill>
          </p:spPr>
        </p:sp>
        <p:sp>
          <p:nvSpPr>
            <p:cNvPr name="TextBox 19" id="19"/>
            <p:cNvSpPr txBox="true"/>
            <p:nvPr/>
          </p:nvSpPr>
          <p:spPr>
            <a:xfrm>
              <a:off x="0" y="-209550"/>
              <a:ext cx="20725790" cy="4598670"/>
            </a:xfrm>
            <a:prstGeom prst="rect">
              <a:avLst/>
            </a:prstGeom>
          </p:spPr>
          <p:txBody>
            <a:bodyPr anchor="ctr" rtlCol="false" tIns="0" lIns="0" bIns="0" rIns="0"/>
            <a:lstStyle/>
            <a:p>
              <a:pPr algn="ctr">
                <a:lnSpc>
                  <a:spcPts val="11858"/>
                </a:lnSpc>
              </a:pPr>
              <a:r>
                <a:rPr lang="en-US" sz="8100" b="true">
                  <a:solidFill>
                    <a:srgbClr val="FFFFFF"/>
                  </a:solidFill>
                  <a:latin typeface="Noto Sans Bold"/>
                  <a:ea typeface="Noto Sans Bold"/>
                  <a:cs typeface="Noto Sans Bold"/>
                  <a:sym typeface="Noto Sans Bold"/>
                </a:rPr>
                <a:t>말하기의 순간을</a:t>
              </a:r>
            </a:p>
            <a:p>
              <a:pPr algn="ctr">
                <a:lnSpc>
                  <a:spcPts val="11858"/>
                </a:lnSpc>
              </a:pPr>
              <a:r>
                <a:rPr lang="en-US" sz="8100" b="true">
                  <a:solidFill>
                    <a:srgbClr val="FFFFFF"/>
                  </a:solidFill>
                  <a:latin typeface="Noto Sans Bold"/>
                  <a:ea typeface="Noto Sans Bold"/>
                  <a:cs typeface="Noto Sans Bold"/>
                  <a:sym typeface="Noto Sans Bold"/>
                </a:rPr>
                <a:t>성장의 데이터로.</a:t>
              </a:r>
            </a:p>
          </p:txBody>
        </p:sp>
      </p:grpSp>
      <p:sp>
        <p:nvSpPr>
          <p:cNvPr name="TextBox 20" id="20"/>
          <p:cNvSpPr txBox="true"/>
          <p:nvPr/>
        </p:nvSpPr>
        <p:spPr>
          <a:xfrm rot="0">
            <a:off x="1371600" y="6336792"/>
            <a:ext cx="15544343" cy="685800"/>
          </a:xfrm>
          <a:prstGeom prst="rect">
            <a:avLst/>
          </a:prstGeom>
        </p:spPr>
        <p:txBody>
          <a:bodyPr anchor="t" rtlCol="false" tIns="0" lIns="0" bIns="0" rIns="0">
            <a:spAutoFit/>
          </a:bodyPr>
          <a:lstStyle/>
          <a:p>
            <a:pPr algn="ctr">
              <a:lnSpc>
                <a:spcPts val="3060"/>
              </a:lnSpc>
            </a:pPr>
            <a:r>
              <a:rPr lang="en-US" sz="2550" b="true">
                <a:solidFill>
                  <a:srgbClr val="8FA9F5"/>
                </a:solidFill>
                <a:latin typeface="Noto Sans Bold"/>
                <a:ea typeface="Noto Sans Bold"/>
                <a:cs typeface="Noto Sans Bold"/>
                <a:sym typeface="Noto Sans Bold"/>
              </a:rPr>
              <a:t>혼자 하는 연습에, 확신을 더하다.</a:t>
            </a:r>
          </a:p>
        </p:txBody>
      </p:sp>
      <p:grpSp>
        <p:nvGrpSpPr>
          <p:cNvPr name="Group 21" id="21"/>
          <p:cNvGrpSpPr/>
          <p:nvPr/>
        </p:nvGrpSpPr>
        <p:grpSpPr>
          <a:xfrm rot="0">
            <a:off x="6812051" y="6679692"/>
            <a:ext cx="4663440" cy="2619756"/>
            <a:chOff x="0" y="0"/>
            <a:chExt cx="6217920" cy="3493008"/>
          </a:xfrm>
        </p:grpSpPr>
        <p:sp>
          <p:nvSpPr>
            <p:cNvPr name="Freeform 22" id="22" descr="C:\Users\SSAFY\Desktop\aivo\outputs\v2pitch\assets\logo_dark.png"/>
            <p:cNvSpPr/>
            <p:nvPr/>
          </p:nvSpPr>
          <p:spPr>
            <a:xfrm flipH="false" flipV="false" rot="0">
              <a:off x="0" y="0"/>
              <a:ext cx="6217920" cy="3493008"/>
            </a:xfrm>
            <a:custGeom>
              <a:avLst/>
              <a:gdLst/>
              <a:ahLst/>
              <a:cxnLst/>
              <a:rect r="r" b="b" t="t" l="l"/>
              <a:pathLst>
                <a:path h="3493008" w="6217920">
                  <a:moveTo>
                    <a:pt x="0" y="0"/>
                  </a:moveTo>
                  <a:lnTo>
                    <a:pt x="6217920" y="0"/>
                  </a:lnTo>
                  <a:lnTo>
                    <a:pt x="6217920" y="3493008"/>
                  </a:lnTo>
                  <a:lnTo>
                    <a:pt x="0" y="3493008"/>
                  </a:lnTo>
                  <a:lnTo>
                    <a:pt x="0" y="0"/>
                  </a:lnTo>
                  <a:close/>
                </a:path>
              </a:pathLst>
            </a:custGeom>
            <a:blipFill>
              <a:blip r:embed="rId4"/>
              <a:stretch>
                <a:fillRect l="0" t="-91" r="0" b="-91"/>
              </a:stretch>
            </a:blipFill>
          </p:spPr>
        </p:sp>
      </p:grpSp>
    </p:spTree>
  </p:cSld>
  <p:clrMapOvr>
    <a:masterClrMapping/>
  </p:clrMapOvr>
  <p:transition spd="fast">
    <p:fade/>
  </p:transition>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7F9FE"/>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52</a:t>
              </a:r>
            </a:p>
          </p:txBody>
        </p:sp>
      </p:grpSp>
      <p:grpSp>
        <p:nvGrpSpPr>
          <p:cNvPr name="Group 17" id="17"/>
          <p:cNvGrpSpPr/>
          <p:nvPr/>
        </p:nvGrpSpPr>
        <p:grpSpPr>
          <a:xfrm rot="0">
            <a:off x="1371600" y="3017520"/>
            <a:ext cx="15544343" cy="3566160"/>
            <a:chOff x="0" y="0"/>
            <a:chExt cx="20725790" cy="4754880"/>
          </a:xfrm>
        </p:grpSpPr>
        <p:sp>
          <p:nvSpPr>
            <p:cNvPr name="Freeform 18" id="18"/>
            <p:cNvSpPr/>
            <p:nvPr/>
          </p:nvSpPr>
          <p:spPr>
            <a:xfrm flipH="false" flipV="false" rot="0">
              <a:off x="0" y="0"/>
              <a:ext cx="20725791" cy="4754880"/>
            </a:xfrm>
            <a:custGeom>
              <a:avLst/>
              <a:gdLst/>
              <a:ahLst/>
              <a:cxnLst/>
              <a:rect r="r" b="b" t="t" l="l"/>
              <a:pathLst>
                <a:path h="4754880" w="20725791">
                  <a:moveTo>
                    <a:pt x="0" y="0"/>
                  </a:moveTo>
                  <a:lnTo>
                    <a:pt x="20725791" y="0"/>
                  </a:lnTo>
                  <a:lnTo>
                    <a:pt x="20725791" y="4754880"/>
                  </a:lnTo>
                  <a:lnTo>
                    <a:pt x="0" y="4754880"/>
                  </a:lnTo>
                  <a:close/>
                </a:path>
              </a:pathLst>
            </a:custGeom>
            <a:blipFill>
              <a:blip r:embed="rId3">
                <a:alphaModFix amt="0"/>
              </a:blip>
              <a:stretch>
                <a:fillRect l="0" t="-34932" r="0" b="-34932"/>
              </a:stretch>
            </a:blipFill>
          </p:spPr>
        </p:sp>
        <p:sp>
          <p:nvSpPr>
            <p:cNvPr name="TextBox 19" id="19"/>
            <p:cNvSpPr txBox="true"/>
            <p:nvPr/>
          </p:nvSpPr>
          <p:spPr>
            <a:xfrm>
              <a:off x="0" y="-190500"/>
              <a:ext cx="20725790" cy="4945380"/>
            </a:xfrm>
            <a:prstGeom prst="rect">
              <a:avLst/>
            </a:prstGeom>
          </p:spPr>
          <p:txBody>
            <a:bodyPr anchor="ctr" rtlCol="false" tIns="0" lIns="0" bIns="0" rIns="0"/>
            <a:lstStyle/>
            <a:p>
              <a:pPr algn="ctr">
                <a:lnSpc>
                  <a:spcPts val="12096"/>
                </a:lnSpc>
              </a:pPr>
              <a:r>
                <a:rPr lang="en-US" sz="8400" b="true">
                  <a:solidFill>
                    <a:srgbClr val="11131B"/>
                  </a:solidFill>
                  <a:latin typeface="Noto Sans Bold"/>
                  <a:ea typeface="Noto Sans Bold"/>
                  <a:cs typeface="Noto Sans Bold"/>
                  <a:sym typeface="Noto Sans Bold"/>
                </a:rPr>
                <a:t>예상 질문</a:t>
              </a:r>
            </a:p>
          </p:txBody>
        </p:sp>
      </p:grpSp>
    </p:spTree>
  </p:cSld>
  <p:clrMapOvr>
    <a:masterClrMapping/>
  </p:clrMapOvr>
  <p:transition spd="fast">
    <p:fade/>
  </p:transition>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53</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예상 질문 · 01</a:t>
            </a:r>
          </a:p>
        </p:txBody>
      </p:sp>
      <p:sp>
        <p:nvSpPr>
          <p:cNvPr name="TextBox 18" id="18"/>
          <p:cNvSpPr txBox="true"/>
          <p:nvPr/>
        </p:nvSpPr>
        <p:spPr>
          <a:xfrm rot="0">
            <a:off x="1371600" y="2207895"/>
            <a:ext cx="15544343" cy="2044065"/>
          </a:xfrm>
          <a:prstGeom prst="rect">
            <a:avLst/>
          </a:prstGeom>
        </p:spPr>
        <p:txBody>
          <a:bodyPr anchor="t" rtlCol="false" tIns="0" lIns="0" bIns="0" rIns="0">
            <a:spAutoFit/>
          </a:bodyPr>
          <a:lstStyle/>
          <a:p>
            <a:pPr algn="l">
              <a:lnSpc>
                <a:spcPts val="6750"/>
              </a:lnSpc>
            </a:pPr>
            <a:r>
              <a:rPr lang="en-US" sz="4500" b="true">
                <a:solidFill>
                  <a:srgbClr val="11131B"/>
                </a:solidFill>
                <a:latin typeface="Noto Sans Bold"/>
                <a:ea typeface="Noto Sans Bold"/>
                <a:cs typeface="Noto Sans Bold"/>
                <a:sym typeface="Noto Sans Bold"/>
              </a:rPr>
              <a:t>음성 인식 정확도는 충분한가요?</a:t>
            </a:r>
          </a:p>
        </p:txBody>
      </p:sp>
      <p:grpSp>
        <p:nvGrpSpPr>
          <p:cNvPr name="Group 19" id="19"/>
          <p:cNvGrpSpPr/>
          <p:nvPr/>
        </p:nvGrpSpPr>
        <p:grpSpPr>
          <a:xfrm rot="0">
            <a:off x="1362075" y="4585335"/>
            <a:ext cx="15563393" cy="38252"/>
            <a:chOff x="0" y="0"/>
            <a:chExt cx="20751190" cy="51003"/>
          </a:xfrm>
        </p:grpSpPr>
        <p:sp>
          <p:nvSpPr>
            <p:cNvPr name="Freeform 20" id="2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4949952"/>
            <a:ext cx="13624103" cy="2621280"/>
          </a:xfrm>
          <a:prstGeom prst="rect">
            <a:avLst/>
          </a:prstGeom>
        </p:spPr>
        <p:txBody>
          <a:bodyPr anchor="t" rtlCol="false" tIns="0" lIns="0" bIns="0" rIns="0">
            <a:spAutoFit/>
          </a:bodyPr>
          <a:lstStyle/>
          <a:p>
            <a:pPr algn="l">
              <a:lnSpc>
                <a:spcPts val="4320"/>
              </a:lnSpc>
            </a:pPr>
            <a:r>
              <a:rPr lang="en-US" sz="2250">
                <a:solidFill>
                  <a:srgbClr val="2E313D"/>
                </a:solidFill>
                <a:latin typeface="Noto Sans"/>
                <a:ea typeface="Noto Sans"/>
                <a:cs typeface="Noto Sans"/>
                <a:sym typeface="Noto Sans"/>
              </a:rPr>
              <a:t>실시간 자막은 브라우저 STT를 사용합니다. 인식되지 않은 구간에서 필러 값을 임의로 만들지 않습니다.</a:t>
            </a:r>
          </a:p>
        </p:txBody>
      </p:sp>
    </p:spTree>
  </p:cSld>
  <p:clrMapOvr>
    <a:masterClrMapping/>
  </p:clrMapOvr>
  <p:transition spd="fast">
    <p:fade/>
  </p:transition>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7F9FE"/>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54</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예상 질문 · 02</a:t>
            </a:r>
          </a:p>
        </p:txBody>
      </p:sp>
      <p:sp>
        <p:nvSpPr>
          <p:cNvPr name="TextBox 18" id="18"/>
          <p:cNvSpPr txBox="true"/>
          <p:nvPr/>
        </p:nvSpPr>
        <p:spPr>
          <a:xfrm rot="0">
            <a:off x="1371600" y="2207895"/>
            <a:ext cx="15544343" cy="2044065"/>
          </a:xfrm>
          <a:prstGeom prst="rect">
            <a:avLst/>
          </a:prstGeom>
        </p:spPr>
        <p:txBody>
          <a:bodyPr anchor="t" rtlCol="false" tIns="0" lIns="0" bIns="0" rIns="0">
            <a:spAutoFit/>
          </a:bodyPr>
          <a:lstStyle/>
          <a:p>
            <a:pPr algn="l">
              <a:lnSpc>
                <a:spcPts val="6750"/>
              </a:lnSpc>
            </a:pPr>
            <a:r>
              <a:rPr lang="en-US" sz="4500" b="true">
                <a:solidFill>
                  <a:srgbClr val="11131B"/>
                </a:solidFill>
                <a:latin typeface="Noto Sans Bold"/>
                <a:ea typeface="Noto Sans Bold"/>
                <a:cs typeface="Noto Sans Bold"/>
                <a:sym typeface="Noto Sans Bold"/>
              </a:rPr>
              <a:t>녹화 영상의 프라이버시는 어떻게 지키나요?</a:t>
            </a:r>
          </a:p>
        </p:txBody>
      </p:sp>
      <p:grpSp>
        <p:nvGrpSpPr>
          <p:cNvPr name="Group 19" id="19"/>
          <p:cNvGrpSpPr/>
          <p:nvPr/>
        </p:nvGrpSpPr>
        <p:grpSpPr>
          <a:xfrm rot="0">
            <a:off x="1362075" y="4585335"/>
            <a:ext cx="15563393" cy="38252"/>
            <a:chOff x="0" y="0"/>
            <a:chExt cx="20751190" cy="51003"/>
          </a:xfrm>
        </p:grpSpPr>
        <p:sp>
          <p:nvSpPr>
            <p:cNvPr name="Freeform 20" id="2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4949952"/>
            <a:ext cx="13624103" cy="2621280"/>
          </a:xfrm>
          <a:prstGeom prst="rect">
            <a:avLst/>
          </a:prstGeom>
        </p:spPr>
        <p:txBody>
          <a:bodyPr anchor="t" rtlCol="false" tIns="0" lIns="0" bIns="0" rIns="0">
            <a:spAutoFit/>
          </a:bodyPr>
          <a:lstStyle/>
          <a:p>
            <a:pPr algn="l">
              <a:lnSpc>
                <a:spcPts val="4320"/>
              </a:lnSpc>
            </a:pPr>
            <a:r>
              <a:rPr lang="en-US" sz="2250">
                <a:solidFill>
                  <a:srgbClr val="2E313D"/>
                </a:solidFill>
                <a:latin typeface="Noto Sans"/>
                <a:ea typeface="Noto Sans"/>
                <a:cs typeface="Noto Sans"/>
                <a:sym typeface="Noto Sans"/>
              </a:rPr>
              <a:t>시선 · 자세 분석은 브라우저 안에서 처리하고, 녹화 원본은 사용자가 저장을 선택한 경우에만 서버로 갑니다.</a:t>
            </a:r>
          </a:p>
        </p:txBody>
      </p:sp>
    </p:spTree>
  </p:cSld>
  <p:clrMapOvr>
    <a:masterClrMapping/>
  </p:clrMapOvr>
  <p:transition spd="fast">
    <p:fade/>
  </p:transition>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55</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예상 질문 · 03</a:t>
            </a:r>
          </a:p>
        </p:txBody>
      </p:sp>
      <p:sp>
        <p:nvSpPr>
          <p:cNvPr name="TextBox 18" id="18"/>
          <p:cNvSpPr txBox="true"/>
          <p:nvPr/>
        </p:nvSpPr>
        <p:spPr>
          <a:xfrm rot="0">
            <a:off x="1371600" y="2207895"/>
            <a:ext cx="15544343" cy="2044065"/>
          </a:xfrm>
          <a:prstGeom prst="rect">
            <a:avLst/>
          </a:prstGeom>
        </p:spPr>
        <p:txBody>
          <a:bodyPr anchor="t" rtlCol="false" tIns="0" lIns="0" bIns="0" rIns="0">
            <a:spAutoFit/>
          </a:bodyPr>
          <a:lstStyle/>
          <a:p>
            <a:pPr algn="l">
              <a:lnSpc>
                <a:spcPts val="6750"/>
              </a:lnSpc>
            </a:pPr>
            <a:r>
              <a:rPr lang="en-US" sz="4500" b="true">
                <a:solidFill>
                  <a:srgbClr val="11131B"/>
                </a:solidFill>
                <a:latin typeface="Noto Sans Bold"/>
                <a:ea typeface="Noto Sans Bold"/>
                <a:cs typeface="Noto Sans Bold"/>
                <a:sym typeface="Noto Sans Bold"/>
              </a:rPr>
              <a:t>기존 AI 면접 서비스와 무엇이 다른가요?</a:t>
            </a:r>
          </a:p>
        </p:txBody>
      </p:sp>
      <p:grpSp>
        <p:nvGrpSpPr>
          <p:cNvPr name="Group 19" id="19"/>
          <p:cNvGrpSpPr/>
          <p:nvPr/>
        </p:nvGrpSpPr>
        <p:grpSpPr>
          <a:xfrm rot="0">
            <a:off x="1362075" y="4585335"/>
            <a:ext cx="15563393" cy="38252"/>
            <a:chOff x="0" y="0"/>
            <a:chExt cx="20751190" cy="51003"/>
          </a:xfrm>
        </p:grpSpPr>
        <p:sp>
          <p:nvSpPr>
            <p:cNvPr name="Freeform 20" id="2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4949952"/>
            <a:ext cx="13624103" cy="2621280"/>
          </a:xfrm>
          <a:prstGeom prst="rect">
            <a:avLst/>
          </a:prstGeom>
        </p:spPr>
        <p:txBody>
          <a:bodyPr anchor="t" rtlCol="false" tIns="0" lIns="0" bIns="0" rIns="0">
            <a:spAutoFit/>
          </a:bodyPr>
          <a:lstStyle/>
          <a:p>
            <a:pPr algn="l">
              <a:lnSpc>
                <a:spcPts val="4320"/>
              </a:lnSpc>
            </a:pPr>
            <a:r>
              <a:rPr lang="en-US" sz="2250">
                <a:solidFill>
                  <a:srgbClr val="2E313D"/>
                </a:solidFill>
                <a:latin typeface="Noto Sans"/>
                <a:ea typeface="Noto Sans"/>
                <a:cs typeface="Noto Sans"/>
                <a:sym typeface="Noto Sans"/>
              </a:rPr>
              <a:t>한 번 평가하고 끝나지 않습니다. 준비 → 문제 구간 재생 → 이전 시도 비교로 이어지는 반복 리허설 루프입니다.</a:t>
            </a:r>
          </a:p>
        </p:txBody>
      </p:sp>
    </p:spTree>
  </p:cSld>
  <p:clrMapOvr>
    <a:masterClrMapping/>
  </p:clrMapOvr>
  <p:transition spd="fast">
    <p:fade/>
  </p:transition>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F7F9FE"/>
        </a:solidFill>
      </p:bgPr>
    </p:bg>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56</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예상 질문 · 04</a:t>
            </a:r>
          </a:p>
        </p:txBody>
      </p:sp>
      <p:sp>
        <p:nvSpPr>
          <p:cNvPr name="TextBox 18" id="18"/>
          <p:cNvSpPr txBox="true"/>
          <p:nvPr/>
        </p:nvSpPr>
        <p:spPr>
          <a:xfrm rot="0">
            <a:off x="1371600" y="2207895"/>
            <a:ext cx="15544343" cy="2044065"/>
          </a:xfrm>
          <a:prstGeom prst="rect">
            <a:avLst/>
          </a:prstGeom>
        </p:spPr>
        <p:txBody>
          <a:bodyPr anchor="t" rtlCol="false" tIns="0" lIns="0" bIns="0" rIns="0">
            <a:spAutoFit/>
          </a:bodyPr>
          <a:lstStyle/>
          <a:p>
            <a:pPr algn="l">
              <a:lnSpc>
                <a:spcPts val="6750"/>
              </a:lnSpc>
            </a:pPr>
            <a:r>
              <a:rPr lang="en-US" sz="4500" b="true">
                <a:solidFill>
                  <a:srgbClr val="11131B"/>
                </a:solidFill>
                <a:latin typeface="Noto Sans Bold"/>
                <a:ea typeface="Noto Sans Bold"/>
                <a:cs typeface="Noto Sans Bold"/>
                <a:sym typeface="Noto Sans Bold"/>
              </a:rPr>
              <a:t>LLM 평가는 믿을 수 있나요?</a:t>
            </a:r>
          </a:p>
        </p:txBody>
      </p:sp>
      <p:grpSp>
        <p:nvGrpSpPr>
          <p:cNvPr name="Group 19" id="19"/>
          <p:cNvGrpSpPr/>
          <p:nvPr/>
        </p:nvGrpSpPr>
        <p:grpSpPr>
          <a:xfrm rot="0">
            <a:off x="1362075" y="4585335"/>
            <a:ext cx="15563393" cy="38252"/>
            <a:chOff x="0" y="0"/>
            <a:chExt cx="20751190" cy="51003"/>
          </a:xfrm>
        </p:grpSpPr>
        <p:sp>
          <p:nvSpPr>
            <p:cNvPr name="Freeform 20" id="2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4949952"/>
            <a:ext cx="13624103" cy="2621280"/>
          </a:xfrm>
          <a:prstGeom prst="rect">
            <a:avLst/>
          </a:prstGeom>
        </p:spPr>
        <p:txBody>
          <a:bodyPr anchor="t" rtlCol="false" tIns="0" lIns="0" bIns="0" rIns="0">
            <a:spAutoFit/>
          </a:bodyPr>
          <a:lstStyle/>
          <a:p>
            <a:pPr algn="l">
              <a:lnSpc>
                <a:spcPts val="4320"/>
              </a:lnSpc>
            </a:pPr>
            <a:r>
              <a:rPr lang="en-US" sz="2250">
                <a:solidFill>
                  <a:srgbClr val="2E313D"/>
                </a:solidFill>
                <a:latin typeface="Noto Sans"/>
                <a:ea typeface="Noto Sans"/>
                <a:cs typeface="Noto Sans"/>
                <a:sym typeface="Noto Sans"/>
              </a:rPr>
              <a:t>결과를 항상 실제 발화와 함께 보여 근거를 확인할 수 있게 했습니다.</a:t>
            </a:r>
          </a:p>
        </p:txBody>
      </p:sp>
    </p:spTree>
  </p:cSld>
  <p:clrMapOvr>
    <a:masterClrMapping/>
  </p:clrMapOvr>
  <p:transition spd="fast">
    <p:fade/>
  </p:transition>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86662" y="1087755"/>
            <a:ext cx="375666" cy="94488"/>
            <a:chOff x="0" y="0"/>
            <a:chExt cx="500888" cy="125984"/>
          </a:xfrm>
        </p:grpSpPr>
        <p:sp>
          <p:nvSpPr>
            <p:cNvPr name="Freeform 3" id="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4" id="4"/>
          <p:cNvGrpSpPr/>
          <p:nvPr/>
        </p:nvGrpSpPr>
        <p:grpSpPr>
          <a:xfrm rot="0">
            <a:off x="14739290" y="1087755"/>
            <a:ext cx="375666" cy="94488"/>
            <a:chOff x="0" y="0"/>
            <a:chExt cx="500888" cy="125984"/>
          </a:xfrm>
        </p:grpSpPr>
        <p:sp>
          <p:nvSpPr>
            <p:cNvPr name="Freeform 5" id="5"/>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6" id="6"/>
          <p:cNvGrpSpPr/>
          <p:nvPr/>
        </p:nvGrpSpPr>
        <p:grpSpPr>
          <a:xfrm rot="0">
            <a:off x="15191918" y="1087755"/>
            <a:ext cx="375666" cy="94488"/>
            <a:chOff x="0" y="0"/>
            <a:chExt cx="500888" cy="125984"/>
          </a:xfrm>
        </p:grpSpPr>
        <p:sp>
          <p:nvSpPr>
            <p:cNvPr name="Freeform 7" id="7"/>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8" id="8"/>
          <p:cNvGrpSpPr/>
          <p:nvPr/>
        </p:nvGrpSpPr>
        <p:grpSpPr>
          <a:xfrm rot="0">
            <a:off x="15644546" y="1087755"/>
            <a:ext cx="375666" cy="94488"/>
            <a:chOff x="0" y="0"/>
            <a:chExt cx="500888" cy="125984"/>
          </a:xfrm>
        </p:grpSpPr>
        <p:sp>
          <p:nvSpPr>
            <p:cNvPr name="Freeform 9" id="9"/>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0" id="10"/>
          <p:cNvGrpSpPr/>
          <p:nvPr/>
        </p:nvGrpSpPr>
        <p:grpSpPr>
          <a:xfrm rot="0">
            <a:off x="16097174" y="1087755"/>
            <a:ext cx="375666" cy="94488"/>
            <a:chOff x="0" y="0"/>
            <a:chExt cx="500888" cy="125984"/>
          </a:xfrm>
        </p:grpSpPr>
        <p:sp>
          <p:nvSpPr>
            <p:cNvPr name="Freeform 11" id="11"/>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E4E6EE"/>
            </a:solidFill>
            <a:ln w="19050" cap="sq">
              <a:solidFill>
                <a:srgbClr val="E4E6EE"/>
              </a:solidFill>
              <a:prstDash val="solid"/>
              <a:miter/>
            </a:ln>
          </p:spPr>
        </p:sp>
      </p:grpSp>
      <p:grpSp>
        <p:nvGrpSpPr>
          <p:cNvPr name="Group 12" id="12"/>
          <p:cNvGrpSpPr/>
          <p:nvPr/>
        </p:nvGrpSpPr>
        <p:grpSpPr>
          <a:xfrm rot="0">
            <a:off x="16549802" y="1087755"/>
            <a:ext cx="375666" cy="94488"/>
            <a:chOff x="0" y="0"/>
            <a:chExt cx="500888" cy="125984"/>
          </a:xfrm>
        </p:grpSpPr>
        <p:sp>
          <p:nvSpPr>
            <p:cNvPr name="Freeform 13" id="13"/>
            <p:cNvSpPr/>
            <p:nvPr/>
          </p:nvSpPr>
          <p:spPr>
            <a:xfrm flipH="false" flipV="false" rot="0">
              <a:off x="0" y="0"/>
              <a:ext cx="500888" cy="125984"/>
            </a:xfrm>
            <a:custGeom>
              <a:avLst/>
              <a:gdLst/>
              <a:ahLst/>
              <a:cxnLst/>
              <a:rect r="r" b="b" t="t" l="l"/>
              <a:pathLst>
                <a:path h="125984" w="500888">
                  <a:moveTo>
                    <a:pt x="0" y="61849"/>
                  </a:moveTo>
                  <a:cubicBezTo>
                    <a:pt x="0" y="27686"/>
                    <a:pt x="27686" y="0"/>
                    <a:pt x="61849" y="0"/>
                  </a:cubicBezTo>
                  <a:lnTo>
                    <a:pt x="439039" y="0"/>
                  </a:lnTo>
                  <a:cubicBezTo>
                    <a:pt x="473202" y="0"/>
                    <a:pt x="500888" y="27686"/>
                    <a:pt x="500888" y="61849"/>
                  </a:cubicBezTo>
                  <a:lnTo>
                    <a:pt x="500888" y="64135"/>
                  </a:lnTo>
                  <a:cubicBezTo>
                    <a:pt x="500888" y="98298"/>
                    <a:pt x="473202" y="125984"/>
                    <a:pt x="439039" y="125984"/>
                  </a:cubicBezTo>
                  <a:lnTo>
                    <a:pt x="61849" y="125984"/>
                  </a:lnTo>
                  <a:cubicBezTo>
                    <a:pt x="27686" y="125984"/>
                    <a:pt x="0" y="98298"/>
                    <a:pt x="0" y="64135"/>
                  </a:cubicBezTo>
                  <a:close/>
                </a:path>
              </a:pathLst>
            </a:custGeom>
            <a:solidFill>
              <a:srgbClr val="3B73EE"/>
            </a:solidFill>
            <a:ln w="19050" cap="sq">
              <a:solidFill>
                <a:srgbClr val="3B73EE"/>
              </a:solidFill>
              <a:prstDash val="solid"/>
              <a:miter/>
            </a:ln>
          </p:spPr>
        </p:sp>
      </p:grpSp>
      <p:grpSp>
        <p:nvGrpSpPr>
          <p:cNvPr name="Group 14" id="14"/>
          <p:cNvGrpSpPr/>
          <p:nvPr/>
        </p:nvGrpSpPr>
        <p:grpSpPr>
          <a:xfrm rot="0">
            <a:off x="16778783" y="9491472"/>
            <a:ext cx="685800" cy="301752"/>
            <a:chOff x="0" y="0"/>
            <a:chExt cx="914400" cy="402336"/>
          </a:xfrm>
        </p:grpSpPr>
        <p:sp>
          <p:nvSpPr>
            <p:cNvPr name="Freeform 15" id="15"/>
            <p:cNvSpPr/>
            <p:nvPr/>
          </p:nvSpPr>
          <p:spPr>
            <a:xfrm flipH="false" flipV="false" rot="0">
              <a:off x="0" y="0"/>
              <a:ext cx="914400" cy="402336"/>
            </a:xfrm>
            <a:custGeom>
              <a:avLst/>
              <a:gdLst/>
              <a:ahLst/>
              <a:cxnLst/>
              <a:rect r="r" b="b" t="t" l="l"/>
              <a:pathLst>
                <a:path h="402336" w="914400">
                  <a:moveTo>
                    <a:pt x="0" y="0"/>
                  </a:moveTo>
                  <a:lnTo>
                    <a:pt x="914400" y="0"/>
                  </a:lnTo>
                  <a:lnTo>
                    <a:pt x="914400" y="402336"/>
                  </a:lnTo>
                  <a:lnTo>
                    <a:pt x="0" y="402336"/>
                  </a:lnTo>
                  <a:close/>
                </a:path>
              </a:pathLst>
            </a:custGeom>
            <a:blipFill>
              <a:blip r:embed="rId3">
                <a:alphaModFix amt="0"/>
              </a:blip>
              <a:stretch>
                <a:fillRect l="-6453" t="0" r="-6453" b="0"/>
              </a:stretch>
            </a:blipFill>
          </p:spPr>
        </p:sp>
        <p:sp>
          <p:nvSpPr>
            <p:cNvPr name="TextBox 16" id="16"/>
            <p:cNvSpPr txBox="true"/>
            <p:nvPr/>
          </p:nvSpPr>
          <p:spPr>
            <a:xfrm>
              <a:off x="0" y="-9525"/>
              <a:ext cx="914400" cy="411861"/>
            </a:xfrm>
            <a:prstGeom prst="rect">
              <a:avLst/>
            </a:prstGeom>
          </p:spPr>
          <p:txBody>
            <a:bodyPr anchor="ctr" rtlCol="false" tIns="0" lIns="0" bIns="0" rIns="0"/>
            <a:lstStyle/>
            <a:p>
              <a:pPr algn="r">
                <a:lnSpc>
                  <a:spcPts val="1530"/>
                </a:lnSpc>
              </a:pPr>
              <a:r>
                <a:rPr lang="en-US" sz="1275">
                  <a:solidFill>
                    <a:srgbClr val="A9ADB8"/>
                  </a:solidFill>
                  <a:latin typeface="Noto Sans"/>
                  <a:ea typeface="Noto Sans"/>
                  <a:cs typeface="Noto Sans"/>
                  <a:sym typeface="Noto Sans"/>
                </a:rPr>
                <a:t>57</a:t>
              </a:r>
            </a:p>
          </p:txBody>
        </p:sp>
      </p:grpSp>
      <p:sp>
        <p:nvSpPr>
          <p:cNvPr name="TextBox 17" id="17"/>
          <p:cNvSpPr txBox="true"/>
          <p:nvPr/>
        </p:nvSpPr>
        <p:spPr>
          <a:xfrm rot="0">
            <a:off x="1371600" y="1001268"/>
            <a:ext cx="8915400" cy="384048"/>
          </a:xfrm>
          <a:prstGeom prst="rect">
            <a:avLst/>
          </a:prstGeom>
        </p:spPr>
        <p:txBody>
          <a:bodyPr anchor="t" rtlCol="false" tIns="0" lIns="0" bIns="0" rIns="0">
            <a:spAutoFit/>
          </a:bodyPr>
          <a:lstStyle/>
          <a:p>
            <a:pPr algn="l">
              <a:lnSpc>
                <a:spcPts val="1800"/>
              </a:lnSpc>
            </a:pPr>
            <a:r>
              <a:rPr lang="en-US" b="true" sz="1500" spc="240">
                <a:solidFill>
                  <a:srgbClr val="3B73EE"/>
                </a:solidFill>
                <a:latin typeface="Noto Sans Bold"/>
                <a:ea typeface="Noto Sans Bold"/>
                <a:cs typeface="Noto Sans Bold"/>
                <a:sym typeface="Noto Sans Bold"/>
              </a:rPr>
              <a:t>예상 질문 · 05</a:t>
            </a:r>
          </a:p>
        </p:txBody>
      </p:sp>
      <p:sp>
        <p:nvSpPr>
          <p:cNvPr name="TextBox 18" id="18"/>
          <p:cNvSpPr txBox="true"/>
          <p:nvPr/>
        </p:nvSpPr>
        <p:spPr>
          <a:xfrm rot="0">
            <a:off x="1371600" y="2207895"/>
            <a:ext cx="15544343" cy="2044065"/>
          </a:xfrm>
          <a:prstGeom prst="rect">
            <a:avLst/>
          </a:prstGeom>
        </p:spPr>
        <p:txBody>
          <a:bodyPr anchor="t" rtlCol="false" tIns="0" lIns="0" bIns="0" rIns="0">
            <a:spAutoFit/>
          </a:bodyPr>
          <a:lstStyle/>
          <a:p>
            <a:pPr algn="l">
              <a:lnSpc>
                <a:spcPts val="6750"/>
              </a:lnSpc>
            </a:pPr>
            <a:r>
              <a:rPr lang="en-US" sz="4500" b="true">
                <a:solidFill>
                  <a:srgbClr val="11131B"/>
                </a:solidFill>
                <a:latin typeface="Noto Sans Bold"/>
                <a:ea typeface="Noto Sans Bold"/>
                <a:cs typeface="Noto Sans Bold"/>
                <a:sym typeface="Noto Sans Bold"/>
              </a:rPr>
              <a:t>설치가 필요한가요?</a:t>
            </a:r>
          </a:p>
        </p:txBody>
      </p:sp>
      <p:grpSp>
        <p:nvGrpSpPr>
          <p:cNvPr name="Group 19" id="19"/>
          <p:cNvGrpSpPr/>
          <p:nvPr/>
        </p:nvGrpSpPr>
        <p:grpSpPr>
          <a:xfrm rot="0">
            <a:off x="1362075" y="4585335"/>
            <a:ext cx="15563393" cy="38252"/>
            <a:chOff x="0" y="0"/>
            <a:chExt cx="20751190" cy="51003"/>
          </a:xfrm>
        </p:grpSpPr>
        <p:sp>
          <p:nvSpPr>
            <p:cNvPr name="Freeform 20" id="20"/>
            <p:cNvSpPr/>
            <p:nvPr/>
          </p:nvSpPr>
          <p:spPr>
            <a:xfrm flipH="false" flipV="false" rot="0">
              <a:off x="0" y="0"/>
              <a:ext cx="20751164" cy="51054"/>
            </a:xfrm>
            <a:custGeom>
              <a:avLst/>
              <a:gdLst/>
              <a:ahLst/>
              <a:cxnLst/>
              <a:rect r="r" b="b" t="t" l="l"/>
              <a:pathLst>
                <a:path h="51054" w="20751164">
                  <a:moveTo>
                    <a:pt x="0" y="0"/>
                  </a:moveTo>
                  <a:lnTo>
                    <a:pt x="20751164" y="0"/>
                  </a:lnTo>
                  <a:lnTo>
                    <a:pt x="20751164" y="51054"/>
                  </a:lnTo>
                  <a:lnTo>
                    <a:pt x="0" y="51054"/>
                  </a:lnTo>
                  <a:close/>
                </a:path>
              </a:pathLst>
            </a:custGeom>
            <a:solidFill>
              <a:srgbClr val="E4E6EE"/>
            </a:solidFill>
            <a:ln w="19050" cap="sq">
              <a:solidFill>
                <a:srgbClr val="E4E6EE"/>
              </a:solidFill>
              <a:prstDash val="solid"/>
              <a:miter/>
            </a:ln>
          </p:spPr>
        </p:sp>
      </p:grpSp>
      <p:sp>
        <p:nvSpPr>
          <p:cNvPr name="TextBox 21" id="21"/>
          <p:cNvSpPr txBox="true"/>
          <p:nvPr/>
        </p:nvSpPr>
        <p:spPr>
          <a:xfrm rot="0">
            <a:off x="1371600" y="4949952"/>
            <a:ext cx="13624103" cy="2621280"/>
          </a:xfrm>
          <a:prstGeom prst="rect">
            <a:avLst/>
          </a:prstGeom>
        </p:spPr>
        <p:txBody>
          <a:bodyPr anchor="t" rtlCol="false" tIns="0" lIns="0" bIns="0" rIns="0">
            <a:spAutoFit/>
          </a:bodyPr>
          <a:lstStyle/>
          <a:p>
            <a:pPr algn="l">
              <a:lnSpc>
                <a:spcPts val="4320"/>
              </a:lnSpc>
            </a:pPr>
            <a:r>
              <a:rPr lang="en-US" sz="2250">
                <a:solidFill>
                  <a:srgbClr val="2E313D"/>
                </a:solidFill>
                <a:latin typeface="Noto Sans"/>
                <a:ea typeface="Noto Sans"/>
                <a:cs typeface="Noto Sans"/>
                <a:sym typeface="Noto Sans"/>
              </a:rPr>
              <a:t>브라우저만 있으면 됩니다. 설치도, 예약도 필요 없습니다.</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DAHRb2JKUfA</dc:identifier>
  <dcterms:modified xsi:type="dcterms:W3CDTF">2011-08-01T06:04:30Z</dcterms:modified>
  <cp:revision>1</cp:revision>
  <dc:title>AIVO_발표_Pitch.pptx</dc:title>
</cp:coreProperties>
</file>