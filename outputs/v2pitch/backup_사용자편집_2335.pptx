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45" y="5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08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[빌드업 쇼 · 1분]
가짜 발표자가 인사. 필러(어…, 음…, 그…)를 남발하고 말속도를 빠르게, 공백을 길게.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[빌드업 쇼 클라이맥스]
목차를 읽다 무너진다. "어… 음…" → 진짜 발표자가 마이크를 뺏는다. "잠시만요."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연기를 끊고 정적 2초.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1초 정도 관객을 바라본다.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· 발표] 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· 면접] 약 3분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서비스의 '내 성장 추이' 화면 캡처입니다 (aivotest1 계정, AIVO 최종 발표 준비 폴더 3회: 44 → 54 → 51점).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실측값이 없어 비워 두었습니다. 시도별 정확도를 측정해 채워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표기가 필요하면 각 이름 아래에 한 줄씩 추가하세요.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"AIVO의 목적은 발표를 점수화하는 것이 아닙니다. 놓친 문제를 근거와 함께 보여주고, 다음 연습에서 실제로 개선하도록 돕는 것이 핵심입니다."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50" dirty="0"/>
          </a:p>
        </p:txBody>
      </p:sp>
      <p:pic>
        <p:nvPicPr>
          <p:cNvPr id="3" name="Image 0" descr="C:\Users\SSAFY\Desktop\aivo\outputs\v2pitch\asset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017520" cy="1495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6118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발표와 면접 연습 영상을 분석해</a:t>
            </a:r>
            <a:endParaRPr lang="en-US" sz="27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맞춤형 피드백을 제공하는 AI 코칭 서비스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14400" y="48920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하는 연습에, 확신을 더하다.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5577840"/>
            <a:ext cx="10362895" cy="18288"/>
          </a:xfrm>
          <a:prstGeom prst="rect">
            <a:avLst/>
          </a:prstGeom>
          <a:solidFill>
            <a:srgbClr val="11131B"/>
          </a:solidFill>
          <a:ln w="12700">
            <a:solidFill>
              <a:srgbClr val="11131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779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SSAFY 공통 프로젝트   ·   대전 1반   ·   B109  Team 백구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577900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박민규 · 서가은 · 윤성빈 · 윤재용 · 채승규 · 최현철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순서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3027578" cy="23774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3467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문제 정의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82058" y="2743200"/>
            <a:ext cx="302757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2058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2058" y="33467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AIVO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49717" y="2743200"/>
            <a:ext cx="302757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9717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9717" y="334670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서비스 시연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302757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25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80974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기능 소개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82058" y="4206240"/>
            <a:ext cx="302757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4425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2058" y="480974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 기술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49717" y="4206240"/>
            <a:ext cx="302757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9717" y="4425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49717" y="480974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의의 · 향후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문제 정의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하는 연습이 왜 어려운가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잠시만요.</a:t>
            </a:r>
            <a:endParaRPr lang="en-US" sz="7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여러분은 방금 발표에서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어떤 문제를 발견하셨나요?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발표가 매끄럽지 않았다는 건</a:t>
            </a:r>
            <a:endParaRPr lang="en-US" sz="4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누구나 느낄 수 있습니다.</a:t>
            </a:r>
            <a:endParaRPr lang="en-US" sz="4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방금 발표 분석 결과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하지만 혼자서는 무엇이, 얼마나,</a:t>
            </a:r>
            <a:endParaRPr lang="en-US" sz="3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언제 반복됐는지 알기 어렵습니다.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432304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9</a:t>
            </a:r>
            <a:r>
              <a:rPr lang="en-US" sz="2600" b="1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</a:t>
            </a:r>
            <a:endParaRPr lang="en-US" sz="96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1097280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필러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1937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 · 음 · 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2538" y="297180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4</a:t>
            </a:r>
            <a:r>
              <a:rPr lang="en-US" sz="2600" b="1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</a:t>
            </a:r>
            <a:endParaRPr lang="en-US" sz="9600" dirty="0"/>
          </a:p>
        </p:txBody>
      </p:sp>
      <p:sp>
        <p:nvSpPr>
          <p:cNvPr id="17" name="Shape 15"/>
          <p:cNvSpPr/>
          <p:nvPr/>
        </p:nvSpPr>
        <p:spPr>
          <a:xfrm>
            <a:off x="4612538" y="4572000"/>
            <a:ext cx="1097280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2538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1.5초 이상 공백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12538" y="51937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말이 끊긴 구간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10677" y="2971800"/>
            <a:ext cx="29666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3</a:t>
            </a:r>
            <a:r>
              <a:rPr lang="en-US" sz="2600" b="1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>
            <a:off x="8310677" y="4572000"/>
            <a:ext cx="1097280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4791456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시선 이탈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10677" y="5193792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청중을 벗어난 시선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9436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연습 1회 분석 결과 예시 — 지표는 발화 구간 기준으로 집계합니다.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나는 관대하다.</a:t>
            </a:r>
            <a:endParaRPr lang="en-US" sz="5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스스로에게.</a:t>
            </a:r>
            <a:endParaRPr lang="en-US" sz="5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대학생의 발표 자기평가 점수는</a:t>
            </a:r>
            <a:endParaRPr lang="en-US" sz="4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4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대부분 교사의 평가보다 높았다.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914400" y="4114800"/>
            <a:ext cx="1463040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7083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F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 Grez, Valcke, &amp; Roozen (2012)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700016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Learning in Higher Education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혼자서는 스스로의 발표를</a:t>
            </a:r>
            <a:endParaRPr lang="en-US" sz="4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객관적으로 보기 어렵습니다.</a:t>
            </a:r>
            <a:endParaRPr lang="en-US" sz="4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놓치는 것은 세 겹입니다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14400" y="2606040"/>
            <a:ext cx="1051560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254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말하기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08960" y="2898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13D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말속도 · 필러 · 공백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291693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말했는지, 어디서 멈췄는지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57600"/>
            <a:ext cx="1051560" cy="27432"/>
          </a:xfrm>
          <a:prstGeom prst="rect">
            <a:avLst/>
          </a:prstGeom>
          <a:solidFill>
            <a:srgbClr val="928AF7"/>
          </a:solidFill>
          <a:ln w="12700">
            <a:solidFill>
              <a:srgbClr val="928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77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태도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108960" y="39502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13D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시선 · 자세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0" y="39684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청중을 보고 있었는지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526280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09160"/>
            <a:ext cx="1051560" cy="27432"/>
          </a:xfrm>
          <a:prstGeom prst="rect">
            <a:avLst/>
          </a:prstGeom>
          <a:solidFill>
            <a:srgbClr val="747987"/>
          </a:solidFill>
          <a:ln w="12700">
            <a:solidFill>
              <a:srgbClr val="7479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9286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내용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108960" y="5001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313D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핵심 내용 누락 · 설명 시간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0" y="502005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빠뜨렸는지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589788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겹이 동시에 일어나기 때문에, 하나의 연습에서 함께 확인해야 합니다.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지금까지의 연습 방법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296661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5292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거울 앞 연습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즉시 확인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8587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5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기록이 남지 않는다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2538" y="2651760"/>
            <a:ext cx="296661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2538" y="285292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스터디 피드백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612538" y="34015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타인의 시선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2538" y="38587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5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매번 사람을 모아야 한다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310677" y="2651760"/>
            <a:ext cx="2966618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0677" y="285292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기존 AI 면접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310677" y="340156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자동 분석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10677" y="385876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5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한 번 평가하고 끝난다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14400" y="51206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376672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필요한 것은 — 매번 혼자서, 기록으로 남고, 다음 연습으로 이어지는 방법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그래서, 만들었습니다.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850" dirty="0"/>
          </a:p>
        </p:txBody>
      </p:sp>
      <p:pic>
        <p:nvPicPr>
          <p:cNvPr id="9" name="Image 0" descr="C:\Users\SSAFY\Desktop\aivo\outputs\v2pitch\assets\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868680"/>
            <a:ext cx="8229600" cy="46268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9F5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말하기 연습을 위한 AI 코치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놓친 순간을 다시 보고,</a:t>
            </a:r>
            <a:endParaRPr lang="en-US" sz="4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다음 연습을 바꿉니다.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발표와 면접을 분석해 개선이 필요한 순간을 찾고, 맞춤형 피드백을 제공합니다.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AIVO의 접근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세 가지를 한 번에 봅니다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743200"/>
            <a:ext cx="2286000" cy="21946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자료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 슬라이드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703320"/>
            <a:ext cx="2286000" cy="21946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음성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· 말하기 습관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2286000" cy="21946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46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영상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· 자세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204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062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AIVO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42062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47987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통합 분석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5236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83880" y="2743200"/>
            <a:ext cx="3090672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9443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문제 구간과 근거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83880" y="3703320"/>
            <a:ext cx="3090672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90448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슬라이드별 피드백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83880" y="4663440"/>
            <a:ext cx="3090672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86460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이전 시도와 비교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85216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말하기 방식만 보는 것이 아니라, 준비한 자료와 실제 발화를 함께 대조합니다.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흐름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한 번의 연습이 다음 연습을 만듭니다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2076374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4670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준비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업로드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시간 설정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82214" y="3310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676574" y="2743200"/>
            <a:ext cx="2076374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6574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76574" y="334670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리허설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676574" y="393192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녹화 중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피드백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44388" y="3310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38748" y="2743200"/>
            <a:ext cx="2076374" cy="23774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8748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8748" y="334670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리포트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438748" y="393192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구간 재생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슬라이드별 분석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06561" y="33101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200921" y="2743200"/>
            <a:ext cx="2076374" cy="23774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0921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00921" y="3346704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다시 연습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9200921" y="393192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시도와</a:t>
            </a:r>
            <a:endParaRPr lang="en-US" sz="12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4400" y="53949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↺   기록이 쌓일수록 비교할 수 있는 것이 늘어납니다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차별점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자료와 실제 발화를</a:t>
            </a:r>
            <a:endParaRPr lang="en-US" sz="3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슬라이드 단위로 연결합니다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전환 시각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127248"/>
            <a:ext cx="3149498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9184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슬라이드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602736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0:00 – 1:12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1098" y="3127248"/>
            <a:ext cx="3149498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1098" y="329184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슬라이드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1098" y="3602736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1:12 – 2:40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7797" y="3127248"/>
            <a:ext cx="3149498" cy="21946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7797" y="329184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슬라이드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7797" y="3602736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2:40 – 3:55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ADB8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928A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 타임스탬프 (STT)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3149498" cy="21946"/>
          </a:xfrm>
          <a:prstGeom prst="rect">
            <a:avLst/>
          </a:prstGeom>
          <a:solidFill>
            <a:srgbClr val="928AF7"/>
          </a:solidFill>
          <a:ln w="12700">
            <a:solidFill>
              <a:srgbClr val="928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737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"저희 서비스는…"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21098" y="4709160"/>
            <a:ext cx="3149498" cy="21946"/>
          </a:xfrm>
          <a:prstGeom prst="rect">
            <a:avLst/>
          </a:prstGeom>
          <a:solidFill>
            <a:srgbClr val="928AF7"/>
          </a:solidFill>
          <a:ln w="12700">
            <a:solidFill>
              <a:srgbClr val="928A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1098" y="48737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 기능은 세 가지로…"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27797" y="4709160"/>
            <a:ext cx="3149498" cy="21946"/>
          </a:xfrm>
          <a:prstGeom prst="rect">
            <a:avLst/>
          </a:prstGeom>
          <a:solidFill>
            <a:srgbClr val="928AF7"/>
          </a:solidFill>
          <a:ln w="12700">
            <a:solidFill>
              <a:srgbClr val="928A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7797" y="48737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"마지막으로 성과는…"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544068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6692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= 어느 슬라이드에서 무슨 말을 했고, 무엇을 빠뜨렸는지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서비스 시연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· 면접 리허설을 직접 보여드립니다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8FA9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리허설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→ 실시간 분석 → 리포트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8FA9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면접 리허설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생성 → 답변 → 리포트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기능 소개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연습 중에 보이고, 끝나면 남습니다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한눈에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12개 기능, 세 갈래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2966618" cy="27432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529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331012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자막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7588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말속도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4164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습관어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· 자세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7316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슬라이드별 리포트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14400" y="507492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3892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구간 재생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544068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50468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청중 예상 질문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12538" y="2651760"/>
            <a:ext cx="2966618" cy="27432"/>
          </a:xfrm>
          <a:prstGeom prst="rect">
            <a:avLst/>
          </a:prstGeom>
          <a:solidFill>
            <a:srgbClr val="928AF7"/>
          </a:solidFill>
          <a:ln w="12700">
            <a:solidFill>
              <a:srgbClr val="928A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2538" y="28529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28AF7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면접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612538" y="331012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자동 생성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612538" y="361188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2538" y="367588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생각할 시간 5초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612538" y="397764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2538" y="404164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질문별 리포트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10677" y="2651760"/>
            <a:ext cx="2966618" cy="27432"/>
          </a:xfrm>
          <a:prstGeom prst="rect">
            <a:avLst/>
          </a:prstGeom>
          <a:solidFill>
            <a:srgbClr val="747987"/>
          </a:solidFill>
          <a:ln w="12700">
            <a:solidFill>
              <a:srgbClr val="7479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10677" y="285292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내 기록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310677" y="331012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시도마다 저장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310677" y="3611880"/>
            <a:ext cx="2966618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3675888"/>
            <a:ext cx="296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추이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14400" y="585216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이어지는 슬라이드에서 기능을 하나씩 보여드립니다.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1" grpId="0" animBg="1"/>
      <p:bldP spid="33" grpId="0" animBg="1"/>
      <p:bldP spid="35" grpId="0" animBg="1"/>
      <p:bldP spid="36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말한 그대로,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즉시 글자로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음성 인식으로 발화가 바로 자막이 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자막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 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424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지금 빠른지, 느린지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말속도를 실시간으로 표시합니다.</a:t>
            </a:r>
            <a:endParaRPr lang="en-US" sz="1300" dirty="0"/>
          </a:p>
        </p:txBody>
      </p:sp>
      <p:pic>
        <p:nvPicPr>
          <p:cNvPr id="12" name="Image 0" descr="C:\Users\SSAFY\Desktop\aivo\outputs\v2pitch\shots\c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175" y="2286000"/>
            <a:ext cx="8271344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"어", "음"이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몇 번인지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습관어를 발화 구간 기준으로 집계합니다.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습관어 카운트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청중을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보고 있는지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카메라로 시선 이탈과 자세 흐트러짐을 감지합니다.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· 자세 감지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 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424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어느 장에서 무슨 말을 했는지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슬라이드별로 발화를 나눠 보여줍니다.</a:t>
            </a:r>
            <a:endParaRPr lang="en-US" sz="1300" dirty="0"/>
          </a:p>
        </p:txBody>
      </p:sp>
      <p:pic>
        <p:nvPicPr>
          <p:cNvPr id="12" name="Image 0" descr="C:\Users\SSAFY\Desktop\aivo\outputs\v2pitch\shots\c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20" y="2286000"/>
            <a:ext cx="8500654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그 순간부터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다시 보기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구간을 클릭하면 녹화가 그 지점부터 재생됩니다.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구간 재생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발표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발표가 끝나면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질문이 옵니다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맥락을 바탕으로 청중 예상 질문을 만듭니다.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면접 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424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질문은 자동으로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이력서 · 자기소개서 · 포트폴리오를 바탕으로 예상 질문을 생성합니다.</a:t>
            </a:r>
            <a:endParaRPr lang="en-US" sz="1300" dirty="0"/>
          </a:p>
        </p:txBody>
      </p:sp>
      <p:pic>
        <p:nvPicPr>
          <p:cNvPr id="12" name="Image 0" descr="C:\Users\SSAFY\Desktop\aivo\outputs\v2pitch\shots\c_intervie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2" y="2286000"/>
            <a:ext cx="9613392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면접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생각할 시간은</a:t>
            </a:r>
            <a:endParaRPr lang="en-US" sz="33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5초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면접의 압박감까지 재현합니다.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5330952" cy="4389120"/>
          </a:xfrm>
          <a:prstGeom prst="roundRect">
            <a:avLst>
              <a:gd name="adj" fmla="val 208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234440"/>
            <a:ext cx="53309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 녹화 화면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면접 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424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질문별로 다시 듣기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답변을 질문 단위로 나눠 리포트에 남깁니다.</a:t>
            </a:r>
            <a:endParaRPr lang="en-US" sz="1300" dirty="0"/>
          </a:p>
        </p:txBody>
      </p:sp>
      <p:pic>
        <p:nvPicPr>
          <p:cNvPr id="12" name="Image 0" descr="C:\Users\SSAFY\Desktop\aivo\outputs\v2pitch\shots\c_int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282" y="2286000"/>
            <a:ext cx="7679131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아카이브 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42416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연습이 기록이 됩니다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17739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폴더에 시도마다 결과가 쌓입니다.</a:t>
            </a:r>
            <a:endParaRPr lang="en-US" sz="1300" dirty="0"/>
          </a:p>
        </p:txBody>
      </p:sp>
      <p:pic>
        <p:nvPicPr>
          <p:cNvPr id="12" name="Image 0" descr="C:\Users\SSAFY\Desktop\aivo\outputs\v2pitch\shots\c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688" y="2286000"/>
            <a:ext cx="6370320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· 아카이브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시도마다 점수가</a:t>
            </a:r>
            <a:endParaRPr lang="en-US" sz="3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그대로 남습니다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리포트의 실제 점수만 이어서 보여주기 때문에,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올랐는지 떨어졌는지를 그대로 확인할 수 있습니다.</a:t>
            </a:r>
            <a:endParaRPr lang="en-US" sz="1350" dirty="0"/>
          </a:p>
        </p:txBody>
      </p:sp>
      <p:pic>
        <p:nvPicPr>
          <p:cNvPr id="12" name="Image 0" descr="C:\Users\SSAFY\Desktop\aivo\outputs\v2pitch\shots\c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014361"/>
            <a:ext cx="5879592" cy="2829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05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 기술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뒤에는 기술이 있습니다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요청은 빠르게, 분석은 비동기로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97480"/>
            <a:ext cx="2165528" cy="25603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89504"/>
            <a:ext cx="216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프론트엔드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· 녹화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분석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16504" y="28529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46856" y="2697480"/>
            <a:ext cx="2165528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6856" y="2889504"/>
            <a:ext cx="216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46856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· 파일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관리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48960" y="28529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379312" y="2697480"/>
            <a:ext cx="2165528" cy="25603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9312" y="2889504"/>
            <a:ext cx="216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RabbitMQ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79312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작업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비동기 전달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81415" y="28529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111767" y="2697480"/>
            <a:ext cx="2165528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1767" y="2889504"/>
            <a:ext cx="216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FastAPI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11767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· AI 분석</a:t>
            </a:r>
            <a:endParaRPr lang="en-US" sz="11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4297680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4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846320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S3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14400" y="52303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녹화 파일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70168" y="4846320"/>
            <a:ext cx="490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370168" y="52303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분석 결과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4400" y="585216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 걸리는 STT · AI 분석을 큐로 분리해, 사용자 요청은 기다리지 않고 응답합니다.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판단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분석을 기다리게 하지 않기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97480"/>
            <a:ext cx="4769968" cy="25603"/>
          </a:xfrm>
          <a:prstGeom prst="rect">
            <a:avLst/>
          </a:prstGeom>
          <a:solidFill>
            <a:srgbClr val="D95757"/>
          </a:solidFill>
          <a:ln w="12700">
            <a:solidFill>
              <a:srgbClr val="D95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077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동기 처리라면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529584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업로드 후 분석이 끝날 때까지 대기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133088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긴 요청이 서버 자원을 점유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✕   실패하면 처음부터 다시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7328" y="2697480"/>
            <a:ext cx="4769968" cy="25603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907792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비동기 (RabbitMQ)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7328" y="3529584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업로드 즉시 응답, 분석은 백그라운드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7328" y="4133088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분석 서버를 따로 확장 가능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07328" y="4736592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   실패한 작업만 재처리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6704" y="2697480"/>
            <a:ext cx="10973" cy="2651760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62356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결과가 준비되면 Spring Boot가 받아 저장하고, 사용자는 완료된 리포트를 확인합니다.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파이프라인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발표 자료와 발화가 만나는 순서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505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45059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자료를 슬라이드 단위로 분리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889504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992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99923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텍스트 · 이미지를 멀티모달 모델로 분석해 핵심 내용 추출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438144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478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54787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녹화 음성을 STT로 변환 — 발화 내용과 문장별 시작 · 종료 시간 생성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986784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965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09651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정보와 슬라이드 전환 기록을 연결해 슬라이드별 실제 발화 구분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535424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45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64515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핵심 내용과 실제 발화를 비교 — 누락 · 반복 표현 · 발표 속도 분석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084064"/>
            <a:ext cx="10362895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19379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45920" y="519379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 시선 · 자세 정보를 결합해 최종 피드백 생성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 기술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97480"/>
            <a:ext cx="2110664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89504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401568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77056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Pinia · Vite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224528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5254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65144" y="2697480"/>
            <a:ext cx="2110664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5144" y="2889504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Backend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65144" y="3401568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65144" y="3749040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5144" y="3877056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65144" y="4224528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5144" y="435254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RabbitMQ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15888" y="2697480"/>
            <a:ext cx="2110664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5888" y="2889504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15888" y="3401568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15888" y="3749040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5888" y="3877056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STT 모델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15888" y="4224528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5888" y="435254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LLM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66631" y="2697480"/>
            <a:ext cx="2110664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6631" y="2889504"/>
            <a:ext cx="2110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FC4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Infra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66631" y="3401568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S3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166631" y="3749040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6631" y="3877056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· Nginx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166631" y="4224528"/>
            <a:ext cx="2110664" cy="12802"/>
          </a:xfrm>
          <a:prstGeom prst="rect">
            <a:avLst/>
          </a:prstGeom>
          <a:solidFill>
            <a:srgbClr val="ECEEF4"/>
          </a:solidFill>
          <a:ln w="12700">
            <a:solidFill>
              <a:srgbClr val="EC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6631" y="4352544"/>
            <a:ext cx="211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534924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피드백은 브라우저에서, 저장 · 분석 · 모니터링은 서버에서 역할을 나눠 맡습니다.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20" grpId="0" animBg="1"/>
      <p:bldP spid="21" grpId="0" animBg="1"/>
      <p:bldP spid="23" grpId="0" animBg="1"/>
      <p:bldP spid="25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5" grpId="0" animBg="1"/>
      <p:bldP spid="37" grpId="0" animBg="1"/>
      <p:bldP spid="39" grpId="0" animBg="1"/>
      <p:bldP spid="4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개선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시도를 거듭할수록 정교해진 탐지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914400" y="2048256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시도별 필러 · 침묵 탐지 성능 변화 그래프를 넣어 주세요 (실측값)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3B73EE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06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의의 · 향후 계획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6AD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평가가 아닌, 개선을 위한 서비스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소개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3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백구 </a:t>
            </a:r>
            <a:r>
              <a:rPr lang="en-US" altLang="ko-KR" sz="38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(B109)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914400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100" b="1" dirty="0" err="1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채승규</a:t>
            </a:r>
            <a:r>
              <a:rPr lang="en-US" altLang="ko-KR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	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705557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5557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박민규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496714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6714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서가은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287872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7872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100" b="1" dirty="0" err="1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윤성빈</a:t>
            </a:r>
            <a:r>
              <a:rPr lang="en-US" altLang="ko-KR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</a:rPr>
              <a:t>	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079029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9029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윤재용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70186" y="4376286"/>
            <a:ext cx="1407109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0186" y="4595742"/>
            <a:ext cx="1407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최현철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4400" y="568065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SSAFY 공통 프로젝트  ·  대전 1반  ·  B109</a:t>
            </a:r>
            <a:endParaRPr 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7853FA-C143-4574-879F-6AE533647D63}"/>
              </a:ext>
            </a:extLst>
          </p:cNvPr>
          <p:cNvSpPr txBox="1"/>
          <p:nvPr/>
        </p:nvSpPr>
        <p:spPr>
          <a:xfrm>
            <a:off x="855617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BE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C31CFE-D30A-4674-864D-024D77FE3FCB}"/>
              </a:ext>
            </a:extLst>
          </p:cNvPr>
          <p:cNvSpPr txBox="1"/>
          <p:nvPr/>
        </p:nvSpPr>
        <p:spPr>
          <a:xfrm>
            <a:off x="2690948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AI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0DA640-9DD4-44D1-B01D-4076D218D509}"/>
              </a:ext>
            </a:extLst>
          </p:cNvPr>
          <p:cNvSpPr txBox="1"/>
          <p:nvPr/>
        </p:nvSpPr>
        <p:spPr>
          <a:xfrm>
            <a:off x="4496714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FE</a:t>
            </a:r>
            <a:endParaRPr lang="ko-KR" alt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F2BF27-6FE4-4458-A85C-083598E95A29}"/>
              </a:ext>
            </a:extLst>
          </p:cNvPr>
          <p:cNvSpPr txBox="1"/>
          <p:nvPr/>
        </p:nvSpPr>
        <p:spPr>
          <a:xfrm>
            <a:off x="6287872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BE</a:t>
            </a:r>
            <a:endParaRPr lang="ko-KR" alt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25D837-C643-49BF-8FB8-47226BA2AA11}"/>
              </a:ext>
            </a:extLst>
          </p:cNvPr>
          <p:cNvSpPr txBox="1"/>
          <p:nvPr/>
        </p:nvSpPr>
        <p:spPr>
          <a:xfrm>
            <a:off x="8079029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Infra/FE</a:t>
            </a:r>
            <a:endParaRPr lang="ko-KR" alt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E28DF6-25DB-4E98-B68F-FAB01334D600}"/>
              </a:ext>
            </a:extLst>
          </p:cNvPr>
          <p:cNvSpPr txBox="1"/>
          <p:nvPr/>
        </p:nvSpPr>
        <p:spPr>
          <a:xfrm>
            <a:off x="9870186" y="4013156"/>
            <a:ext cx="1195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BE</a:t>
            </a:r>
            <a:endParaRPr lang="ko-KR" altLang="en-US" sz="16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697AC7E-75A0-433B-B4D4-8C8E6BABDABD}"/>
              </a:ext>
            </a:extLst>
          </p:cNvPr>
          <p:cNvSpPr/>
          <p:nvPr/>
        </p:nvSpPr>
        <p:spPr>
          <a:xfrm>
            <a:off x="908987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8109867-0F69-4141-AD4A-C4549BCF2652}"/>
              </a:ext>
            </a:extLst>
          </p:cNvPr>
          <p:cNvSpPr/>
          <p:nvPr/>
        </p:nvSpPr>
        <p:spPr>
          <a:xfrm>
            <a:off x="2701227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6CE65B-11AE-4152-868D-DFBB3E5617CD}"/>
              </a:ext>
            </a:extLst>
          </p:cNvPr>
          <p:cNvSpPr/>
          <p:nvPr/>
        </p:nvSpPr>
        <p:spPr>
          <a:xfrm>
            <a:off x="4493467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8322B37-2230-450C-A890-05C5F9128543}"/>
              </a:ext>
            </a:extLst>
          </p:cNvPr>
          <p:cNvSpPr/>
          <p:nvPr/>
        </p:nvSpPr>
        <p:spPr>
          <a:xfrm>
            <a:off x="6285707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EC774A2-7928-4E75-9845-703A2DC74562}"/>
              </a:ext>
            </a:extLst>
          </p:cNvPr>
          <p:cNvSpPr/>
          <p:nvPr/>
        </p:nvSpPr>
        <p:spPr>
          <a:xfrm>
            <a:off x="8077947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09934E3-6978-4341-8C77-8612FE926015}"/>
              </a:ext>
            </a:extLst>
          </p:cNvPr>
          <p:cNvSpPr/>
          <p:nvPr/>
        </p:nvSpPr>
        <p:spPr>
          <a:xfrm>
            <a:off x="9870186" y="2458902"/>
            <a:ext cx="1412522" cy="141252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의의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평가가 아닌,</a:t>
            </a:r>
            <a:endParaRPr lang="en-US" sz="5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개선을 위한 서비스</a:t>
            </a:r>
            <a:endParaRPr lang="en-US" sz="5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반복 연습 전후 비교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폴더의 시도끼리 변화를 이어서 비교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사용자별 기준 개인화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사람마다 다른 말하기 습관을 기준값에 반영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9D8FA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03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분석 데이터 기반 성능 개선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축적된 분석 데이터로 탐지 모델을 고도화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무대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말하기를 반복해야 하는 모든 순간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2966618" cy="25603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649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학교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" y="40416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수업 · 말하기 평가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2538" y="2743200"/>
            <a:ext cx="2966618" cy="25603"/>
          </a:xfrm>
          <a:prstGeom prst="rect">
            <a:avLst/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2538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2538" y="33649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부트캠프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12538" y="40416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발표 · 취업 대비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10677" y="2743200"/>
            <a:ext cx="2966618" cy="25603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0677" y="2962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10677" y="3364992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10677" y="4041648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발표 · 세일즈 피칭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34924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479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개인의 리허설에서, 조직의 말하기 인프라로 확장할 수 있습니다.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4E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말하기의 순간을</a:t>
            </a:r>
            <a:endParaRPr lang="en-US" sz="54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성장의 데이터로.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FA9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하는 연습에, 확신을 더하다.</a:t>
            </a:r>
            <a:endParaRPr lang="en-US" sz="1700" dirty="0"/>
          </a:p>
        </p:txBody>
      </p:sp>
      <p:pic>
        <p:nvPicPr>
          <p:cNvPr id="11" name="Image 0" descr="C:\Users\SSAFY\Desktop\aivo\outputs\v2pitch\assets\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68" y="4800600"/>
            <a:ext cx="3108960" cy="1746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56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예상 질문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·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음성 인식 정확도는 충분한가요?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9082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자막은 브라우저 STT를 사용합니다. 인식되지 않은 구간에서 필러 값을 임의로 만들지 않습니다.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·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녹화 영상의 프라이버시는 어떻게 지키나요?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9082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· 자세 분석은 브라우저 안에서 처리하고, 녹화 원본은 사용자가 저장을 선택한 경우에만 서버로 갑니다.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·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기존 AI 면접 서비스와 무엇이 다른가요?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9082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평가하고 끝나지 않습니다. 준비 → 문제 구간 재생 → 이전 시도 비교로 이어지는 반복 리허설 루프입니다.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· 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LLM 평가는 믿을 수 있나요?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9082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항상 실제 발화와 함께 보여 근거를 확인할 수 있게 했습니다.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3079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2543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295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36047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37799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9551" y="731520"/>
            <a:ext cx="237744" cy="50292"/>
          </a:xfrm>
          <a:prstGeom prst="roundRect">
            <a:avLst>
              <a:gd name="adj" fmla="val 49091"/>
            </a:avLst>
          </a:prstGeom>
          <a:solidFill>
            <a:srgbClr val="3B73EE"/>
          </a:solidFill>
          <a:ln w="12700">
            <a:solidFill>
              <a:srgbClr val="3B7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85855" y="6327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A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6675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3B7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 ·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31B"/>
                </a:solidFill>
                <a:latin typeface="Noto Sans KR Black" pitchFamily="34" charset="0"/>
                <a:ea typeface="Noto Sans KR Black" pitchFamily="34" charset="-122"/>
                <a:cs typeface="Noto Sans KR Black" pitchFamily="34" charset="-120"/>
              </a:rPr>
              <a:t>설치가 필요한가요?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10362895" cy="12802"/>
          </a:xfrm>
          <a:prstGeom prst="rect">
            <a:avLst/>
          </a:prstGeom>
          <a:solidFill>
            <a:srgbClr val="E4E6EE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01568"/>
            <a:ext cx="9082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2E3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브라우저만 있으면 됩니다. 설치도, 예약도 필요 없습니다.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/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1536</Words>
  <Application>Microsoft Office PowerPoint</Application>
  <PresentationFormat>와이드스크린</PresentationFormat>
  <Paragraphs>475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1" baseType="lpstr">
      <vt:lpstr>Noto Sans KR</vt:lpstr>
      <vt:lpstr>Noto Sans KR Black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SSAFY B109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AIVO — 발표와 면접 연습 영상을 분석해 맞춤형 피드백을 제공하는 AI 코칭 서비스</dc:title>
  <dc:subject>PptxGenJS Presentation</dc:subject>
  <dc:creator>Team 백구</dc:creator>
  <cp:lastModifiedBy>SSAFY</cp:lastModifiedBy>
  <cp:revision>4</cp:revision>
  <dcterms:created xsi:type="dcterms:W3CDTF">2026-08-04T14:18:49Z</dcterms:created>
  <dcterms:modified xsi:type="dcterms:W3CDTF">2026-08-04T14:33:57Z</dcterms:modified>
</cp:coreProperties>
</file>